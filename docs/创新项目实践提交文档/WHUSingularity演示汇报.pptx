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1.xml" ContentType="application/vnd.openxmlformats-officedocument.presentationml.tags+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15.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 id="2147483666" r:id="rId3"/>
  </p:sldMasterIdLst>
  <p:notesMasterIdLst>
    <p:notesMasterId r:id="rId29"/>
  </p:notesMasterIdLst>
  <p:handoutMasterIdLst>
    <p:handoutMasterId r:id="rId30"/>
  </p:handoutMasterIdLst>
  <p:sldIdLst>
    <p:sldId id="409" r:id="rId4"/>
    <p:sldId id="410" r:id="rId5"/>
    <p:sldId id="411" r:id="rId6"/>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416" r:id="rId20"/>
    <p:sldId id="419" r:id="rId21"/>
    <p:sldId id="420" r:id="rId22"/>
    <p:sldId id="417" r:id="rId23"/>
    <p:sldId id="421" r:id="rId24"/>
    <p:sldId id="438" r:id="rId25"/>
    <p:sldId id="427" r:id="rId26"/>
    <p:sldId id="436" r:id="rId27"/>
    <p:sldId id="435" r:id="rId2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40">
          <p15:clr>
            <a:srgbClr val="A4A3A4"/>
          </p15:clr>
        </p15:guide>
        <p15:guide id="2" pos="379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5BAF9"/>
    <a:srgbClr val="FFFFFF"/>
    <a:srgbClr val="FA90A7"/>
    <a:srgbClr val="DC8680"/>
    <a:srgbClr val="5272A7"/>
    <a:srgbClr val="FCCFDD"/>
    <a:srgbClr val="FAE0E6"/>
    <a:srgbClr val="DCDCDC"/>
    <a:srgbClr val="F0F0F0"/>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110" d="100"/>
          <a:sy n="110" d="100"/>
        </p:scale>
        <p:origin x="702" y="108"/>
      </p:cViewPr>
      <p:guideLst>
        <p:guide orient="horz" pos="2240"/>
        <p:guide pos="379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handoutMaster" Target="handoutMasters/handoutMaster1.xml"/><Relationship Id="rId8"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字魂58号-创中黑" panose="00000500000000000000" charset="-122"/>
              <a:ea typeface="字魂58号-创中黑" panose="00000500000000000000" charset="-122"/>
              <a:cs typeface="字魂58号-创中黑" panose="00000500000000000000"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cs typeface="字魂58号-创中黑" panose="00000500000000000000" charset="-122"/>
              </a:rPr>
              <a:t>2026/6/12</a:t>
            </a:fld>
            <a:endParaRPr lang="zh-CN" altLang="en-US">
              <a:cs typeface="字魂58号-创中黑" panose="00000500000000000000"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字魂58号-创中黑" panose="00000500000000000000" charset="-122"/>
              <a:ea typeface="字魂58号-创中黑" panose="00000500000000000000" charset="-122"/>
              <a:cs typeface="字魂58号-创中黑" panose="00000500000000000000"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cs typeface="字魂58号-创中黑" panose="00000500000000000000" charset="-122"/>
              </a:rPr>
              <a:t>‹#›</a:t>
            </a:fld>
            <a:endParaRPr lang="zh-CN" altLang="en-US">
              <a:cs typeface="字魂58号-创中黑" panose="00000500000000000000"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字魂58号-创中黑" panose="00000500000000000000" charset="-122"/>
                <a:ea typeface="字魂58号-创中黑" panose="00000500000000000000" charset="-122"/>
                <a:cs typeface="字魂58号-创中黑" panose="00000500000000000000"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字魂58号-创中黑" panose="00000500000000000000" charset="-122"/>
                <a:ea typeface="字魂58号-创中黑" panose="00000500000000000000" charset="-122"/>
                <a:cs typeface="字魂58号-创中黑" panose="00000500000000000000" charset="-122"/>
              </a:defRPr>
            </a:lvl1pPr>
          </a:lstStyle>
          <a:p>
            <a:fld id="{D2A48B96-639E-45A3-A0BA-2464DFDB1FAA}" type="datetimeFigureOut">
              <a:rPr lang="zh-CN" altLang="en-US" smtClean="0"/>
              <a:t>2026/6/12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字魂58号-创中黑" panose="00000500000000000000" charset="-122"/>
                <a:ea typeface="字魂58号-创中黑" panose="00000500000000000000" charset="-122"/>
                <a:cs typeface="字魂58号-创中黑" panose="00000500000000000000"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字魂58号-创中黑" panose="00000500000000000000" charset="-122"/>
                <a:ea typeface="字魂58号-创中黑" panose="00000500000000000000" charset="-122"/>
                <a:cs typeface="字魂58号-创中黑" panose="00000500000000000000" charset="-122"/>
              </a:defRPr>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字魂58号-创中黑" panose="00000500000000000000" charset="-122"/>
        <a:ea typeface="字魂58号-创中黑" panose="00000500000000000000" charset="-122"/>
        <a:cs typeface="字魂58号-创中黑" panose="00000500000000000000" charset="-122"/>
      </a:defRPr>
    </a:lvl1pPr>
    <a:lvl2pPr marL="457200" algn="l" defTabSz="914400" rtl="0" eaLnBrk="1" latinLnBrk="0" hangingPunct="1">
      <a:defRPr sz="1200" kern="1200">
        <a:solidFill>
          <a:schemeClr val="tx1"/>
        </a:solidFill>
        <a:latin typeface="字魂58号-创中黑" panose="00000500000000000000" charset="-122"/>
        <a:ea typeface="字魂58号-创中黑" panose="00000500000000000000" charset="-122"/>
        <a:cs typeface="字魂58号-创中黑" panose="00000500000000000000" charset="-122"/>
      </a:defRPr>
    </a:lvl2pPr>
    <a:lvl3pPr marL="914400" algn="l" defTabSz="914400" rtl="0" eaLnBrk="1" latinLnBrk="0" hangingPunct="1">
      <a:defRPr sz="1200" kern="1200">
        <a:solidFill>
          <a:schemeClr val="tx1"/>
        </a:solidFill>
        <a:latin typeface="字魂58号-创中黑" panose="00000500000000000000" charset="-122"/>
        <a:ea typeface="字魂58号-创中黑" panose="00000500000000000000" charset="-122"/>
        <a:cs typeface="字魂58号-创中黑" panose="00000500000000000000" charset="-122"/>
      </a:defRPr>
    </a:lvl3pPr>
    <a:lvl4pPr marL="1371600" algn="l" defTabSz="914400" rtl="0" eaLnBrk="1" latinLnBrk="0" hangingPunct="1">
      <a:defRPr sz="1200" kern="1200">
        <a:solidFill>
          <a:schemeClr val="tx1"/>
        </a:solidFill>
        <a:latin typeface="字魂58号-创中黑" panose="00000500000000000000" charset="-122"/>
        <a:ea typeface="字魂58号-创中黑" panose="00000500000000000000" charset="-122"/>
        <a:cs typeface="字魂58号-创中黑" panose="00000500000000000000" charset="-122"/>
      </a:defRPr>
    </a:lvl4pPr>
    <a:lvl5pPr marL="1828800" algn="l" defTabSz="914400" rtl="0" eaLnBrk="1" latinLnBrk="0" hangingPunct="1">
      <a:defRPr sz="1200" kern="1200">
        <a:solidFill>
          <a:schemeClr val="tx1"/>
        </a:solidFill>
        <a:latin typeface="字魂58号-创中黑" panose="00000500000000000000" charset="-122"/>
        <a:ea typeface="字魂58号-创中黑" panose="00000500000000000000" charset="-122"/>
        <a:cs typeface="字魂58号-创中黑" panose="00000500000000000000"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www.1ppt.com/hangye/"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0_自定义版式">
    <p:bg>
      <p:bgPr>
        <a:blipFill rotWithShape="1">
          <a:blip r:embed="rId2"/>
          <a:stretch>
            <a:fillRect t="-1000" b="-1000"/>
          </a:stretch>
        </a:blipFill>
        <a:effectLst/>
      </p:bgPr>
    </p:bg>
    <p:spTree>
      <p:nvGrpSpPr>
        <p:cNvPr id="1" name=""/>
        <p:cNvGrpSpPr/>
        <p:nvPr/>
      </p:nvGrpSpPr>
      <p:grpSpPr>
        <a:xfrm>
          <a:off x="0" y="0"/>
          <a:ext cx="0" cy="0"/>
          <a:chOff x="0" y="0"/>
          <a:chExt cx="0" cy="0"/>
        </a:xfrm>
      </p:grpSpPr>
    </p:spTree>
  </p:cSld>
  <p:clrMapOvr>
    <a:masterClrMapping/>
  </p:clrMapOvr>
  <p:transition advTm="2000">
    <p:wedg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transition advTm="2000">
    <p:wedg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transition advTm="2000">
    <p:wedg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cSld>
  <p:clrMapOvr>
    <a:masterClrMapping/>
  </p:clrMapOvr>
  <p:transition advTm="2000">
    <p:wedg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cSld>
  <p:clrMapOvr>
    <a:masterClrMapping/>
  </p:clrMapOvr>
  <p:transition advTm="2000">
    <p:wedg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cSld>
  <p:clrMapOvr>
    <a:masterClrMapping/>
  </p:clrMapOvr>
  <p:transition advTm="2000">
    <p:wedg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cSld>
  <p:clrMapOvr>
    <a:masterClrMapping/>
  </p:clrMapOvr>
  <p:transition advTm="2000">
    <p:wedg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cSld>
  <p:clrMapOvr>
    <a:masterClrMapping/>
  </p:clrMapOvr>
  <p:transition advTm="2000">
    <p:wedg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cSld>
  <p:clrMapOvr>
    <a:masterClrMapping/>
  </p:clrMapOvr>
  <p:transition advTm="2000">
    <p:wedg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4" name="TextBox 3"/>
          <p:cNvSpPr txBox="1"/>
          <p:nvPr userDrawn="1"/>
        </p:nvSpPr>
        <p:spPr>
          <a:xfrm>
            <a:off x="193204" y="6644964"/>
            <a:ext cx="1440159" cy="118430"/>
          </a:xfrm>
          <a:prstGeom prst="rect">
            <a:avLst/>
          </a:prstGeom>
          <a:noFill/>
        </p:spPr>
        <p:txBody>
          <a:bodyPr wrap="square" rtlCol="0">
            <a:spAutoFit/>
          </a:bodyPr>
          <a:lstStyle/>
          <a:p>
            <a:pPr marL="0" marR="0" lvl="0" indent="0" defTabSz="914400" eaLnBrk="1" fontAlgn="auto" latinLnBrk="0" hangingPunct="1">
              <a:lnSpc>
                <a:spcPct val="2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black"/>
                </a:solidFill>
                <a:effectLst/>
                <a:uLnTx/>
                <a:uFillTx/>
                <a:hlinkClick r:id="rId2"/>
              </a:rPr>
              <a:t>行业</a:t>
            </a:r>
            <a:r>
              <a:rPr kumimoji="0" lang="en-US" altLang="zh-CN" sz="100" b="0" i="0" u="none" strike="noStrike" kern="0" cap="none" spc="0" normalizeH="0" baseline="0" noProof="0" dirty="0">
                <a:ln>
                  <a:noFill/>
                </a:ln>
                <a:solidFill>
                  <a:prstClr val="black"/>
                </a:solidFill>
                <a:effectLst/>
                <a:uLnTx/>
                <a:uFillTx/>
                <a:hlinkClick r:id="rId2"/>
              </a:rPr>
              <a:t>PPT</a:t>
            </a:r>
            <a:r>
              <a:rPr kumimoji="0" lang="zh-CN" altLang="en-US" sz="100" b="0" i="0" u="none" strike="noStrike" kern="0" cap="none" spc="0" normalizeH="0" baseline="0" noProof="0" dirty="0">
                <a:ln>
                  <a:noFill/>
                </a:ln>
                <a:solidFill>
                  <a:prstClr val="black"/>
                </a:solidFill>
                <a:effectLst/>
                <a:uLnTx/>
                <a:uFillTx/>
                <a:hlinkClick r:id="rId2"/>
              </a:rPr>
              <a:t>模板</a:t>
            </a:r>
            <a:r>
              <a:rPr kumimoji="0" lang="en-US" altLang="zh-CN" sz="100" b="0" i="0" u="none" strike="noStrike" kern="0" cap="none" spc="0" normalizeH="0" baseline="0" noProof="0" dirty="0">
                <a:ln>
                  <a:noFill/>
                </a:ln>
                <a:solidFill>
                  <a:prstClr val="black"/>
                </a:solidFill>
                <a:effectLst/>
                <a:uLnTx/>
                <a:uFillTx/>
              </a:rPr>
              <a:t>http://www.1ppt.com/hangye/</a:t>
            </a:r>
          </a:p>
        </p:txBody>
      </p:sp>
    </p:spTree>
  </p:cSld>
  <p:clrMapOvr>
    <a:masterClrMapping/>
  </p:clrMapOvr>
  <p:transition advTm="2000">
    <p:wedg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cSld>
  <p:clrMapOvr>
    <a:masterClrMapping/>
  </p:clrMapOvr>
  <p:transition advTm="2000">
    <p:wedg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cSld>
  <p:clrMapOvr>
    <a:masterClrMapping/>
  </p:clrMapOvr>
  <p:transition advTm="2000">
    <p:wedg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t>2026/6/12</a:t>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t>‹#›</a:t>
            </a:fld>
            <a:endParaRPr lang="zh-CN" altLang="en-US"/>
          </a:p>
        </p:txBody>
      </p:sp>
    </p:spTree>
  </p:cSld>
  <p:clrMapOvr>
    <a:masterClrMapping/>
  </p:clrMapOvr>
  <p:transition advTm="2000">
    <p:wedg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3"/>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3"/>
            <a:ext cx="2844800" cy="365125"/>
          </a:xfrm>
          <a:prstGeom prst="rect">
            <a:avLst/>
          </a:prstGeom>
        </p:spPr>
        <p:txBody>
          <a:bodyPr/>
          <a:lstStyle/>
          <a:p>
            <a:fld id="{2E3AAC11-D570-4EA9-AFC0-30FB72BA45EB}" type="datetimeFigureOut">
              <a:rPr lang="zh-CN" altLang="en-US" smtClean="0">
                <a:solidFill>
                  <a:prstClr val="black"/>
                </a:solidFill>
              </a:rPr>
              <a:t>2026/6/12</a:t>
            </a:fld>
            <a:endParaRPr lang="zh-CN" altLang="en-US">
              <a:solidFill>
                <a:prstClr val="black"/>
              </a:solidFill>
            </a:endParaRPr>
          </a:p>
        </p:txBody>
      </p:sp>
      <p:sp>
        <p:nvSpPr>
          <p:cNvPr id="5" name="页脚占位符 4"/>
          <p:cNvSpPr>
            <a:spLocks noGrp="1"/>
          </p:cNvSpPr>
          <p:nvPr>
            <p:ph type="ftr" sz="quarter" idx="11"/>
          </p:nvPr>
        </p:nvSpPr>
        <p:spPr>
          <a:xfrm>
            <a:off x="4165600" y="6356353"/>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3"/>
            <a:ext cx="2844800" cy="365125"/>
          </a:xfrm>
          <a:prstGeom prst="rect">
            <a:avLst/>
          </a:prstGeom>
        </p:spPr>
        <p:txBody>
          <a:bodyPr/>
          <a:lstStyle/>
          <a:p>
            <a:fld id="{55ECCFAA-F4FB-487C-9F1E-C8836D0C3DC9}" type="slidenum">
              <a:rPr lang="zh-CN" altLang="en-US" smtClean="0">
                <a:solidFill>
                  <a:prstClr val="black"/>
                </a:solidFill>
              </a:rPr>
              <a:t>‹#›</a:t>
            </a:fld>
            <a:endParaRPr lang="zh-CN" altLang="en-US">
              <a:solidFill>
                <a:prstClr val="black"/>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1"/>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41"/>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3"/>
            <a:ext cx="2844800" cy="365125"/>
          </a:xfrm>
          <a:prstGeom prst="rect">
            <a:avLst/>
          </a:prstGeom>
        </p:spPr>
        <p:txBody>
          <a:bodyPr/>
          <a:lstStyle/>
          <a:p>
            <a:fld id="{2E3AAC11-D570-4EA9-AFC0-30FB72BA45EB}" type="datetimeFigureOut">
              <a:rPr lang="zh-CN" altLang="en-US" smtClean="0">
                <a:solidFill>
                  <a:prstClr val="black"/>
                </a:solidFill>
              </a:rPr>
              <a:t>2026/6/12</a:t>
            </a:fld>
            <a:endParaRPr lang="zh-CN" altLang="en-US">
              <a:solidFill>
                <a:prstClr val="black"/>
              </a:solidFill>
            </a:endParaRPr>
          </a:p>
        </p:txBody>
      </p:sp>
      <p:sp>
        <p:nvSpPr>
          <p:cNvPr id="5" name="页脚占位符 4"/>
          <p:cNvSpPr>
            <a:spLocks noGrp="1"/>
          </p:cNvSpPr>
          <p:nvPr>
            <p:ph type="ftr" sz="quarter" idx="11"/>
          </p:nvPr>
        </p:nvSpPr>
        <p:spPr>
          <a:xfrm>
            <a:off x="4165600" y="6356353"/>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3"/>
            <a:ext cx="2844800" cy="365125"/>
          </a:xfrm>
          <a:prstGeom prst="rect">
            <a:avLst/>
          </a:prstGeom>
        </p:spPr>
        <p:txBody>
          <a:bodyPr/>
          <a:lstStyle/>
          <a:p>
            <a:fld id="{55ECCFAA-F4FB-487C-9F1E-C8836D0C3DC9}" type="slidenum">
              <a:rPr lang="zh-CN" altLang="en-US" smtClean="0">
                <a:solidFill>
                  <a:prstClr val="black"/>
                </a:solidFill>
              </a:rPr>
              <a:t>‹#›</a:t>
            </a:fld>
            <a:endParaRPr lang="zh-CN" altLang="en-US">
              <a:solidFill>
                <a:prstClr val="black"/>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67542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slideLayout" Target="../slideLayouts/slideLayout15.xml"/><Relationship Id="rId1" Type="http://schemas.openxmlformats.org/officeDocument/2006/relationships/slideLayout" Target="../slideLayouts/slideLayout14.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ustDataLst>
      <p:tags r:id="rId15"/>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advTm="2000">
    <p:wedge/>
  </p:transition>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4320274"/>
      </p:ext>
    </p:extLst>
  </p:cSld>
  <p:clrMap bg1="lt1" tx1="dk1" bg2="lt2" tx2="dk2" accent1="accent1" accent2="accent2" accent3="accent3" accent4="accent4" accent5="accent5" accent6="accent6" hlink="hlink" folHlink="folHlink"/>
  <p:sldLayoutIdLst>
    <p:sldLayoutId id="2147483667" r:id="rId1"/>
  </p:sldLayoutIdLst>
  <p:hf sldNum="0" hdr="0" ftr="0" dt="0"/>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6.xml"/><Relationship Id="rId5" Type="http://schemas.openxmlformats.org/officeDocument/2006/relationships/image" Target="../media/image6.png"/><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9.xml"/><Relationship Id="rId1" Type="http://schemas.openxmlformats.org/officeDocument/2006/relationships/slideLayout" Target="../slideLayouts/slideLayout17.xml"/><Relationship Id="rId4" Type="http://schemas.openxmlformats.org/officeDocument/2006/relationships/image" Target="../media/image14.jpg"/></Relationships>
</file>

<file path=ppt/slides/_rels/slide1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3.xml"/><Relationship Id="rId1" Type="http://schemas.openxmlformats.org/officeDocument/2006/relationships/tags" Target="../tags/tag8.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9.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xml"/><Relationship Id="rId1" Type="http://schemas.openxmlformats.org/officeDocument/2006/relationships/tags" Target="../tags/tag10.xml"/><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slideLayout" Target="../slideLayouts/slideLayout2.xml"/><Relationship Id="rId1" Type="http://schemas.openxmlformats.org/officeDocument/2006/relationships/tags" Target="../tags/tag11.xml"/><Relationship Id="rId5" Type="http://schemas.openxmlformats.org/officeDocument/2006/relationships/image" Target="../media/image23.png"/><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3.xml"/><Relationship Id="rId1" Type="http://schemas.openxmlformats.org/officeDocument/2006/relationships/tags" Target="../tags/tag12.xml"/><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3.xml"/><Relationship Id="rId1" Type="http://schemas.openxmlformats.org/officeDocument/2006/relationships/tags" Target="../tags/tag13.xml"/><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4.xml"/></Relationships>
</file>

<file path=ppt/slides/_rels/slide25.xml.rels><?xml version="1.0" encoding="UTF-8" standalone="yes"?>
<Relationships xmlns="http://schemas.openxmlformats.org/package/2006/relationships"><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形" descr="5fafa202e696b"/>
          <p:cNvPicPr>
            <a:picLocks noChangeAspect="1"/>
          </p:cNvPicPr>
          <p:nvPr/>
        </p:nvPicPr>
        <p:blipFill>
          <a:blip r:embed="rId5" cstate="screen"/>
          <a:srcRect/>
          <a:stretch>
            <a:fillRect/>
          </a:stretch>
        </p:blipFill>
        <p:spPr>
          <a:xfrm>
            <a:off x="0" y="0"/>
            <a:ext cx="12223750" cy="6858000"/>
          </a:xfrm>
          <a:prstGeom prst="rect">
            <a:avLst/>
          </a:prstGeom>
        </p:spPr>
      </p:pic>
      <p:grpSp>
        <p:nvGrpSpPr>
          <p:cNvPr id="38" name="图形"/>
          <p:cNvGrpSpPr/>
          <p:nvPr/>
        </p:nvGrpSpPr>
        <p:grpSpPr>
          <a:xfrm>
            <a:off x="786130" y="1350010"/>
            <a:ext cx="10393680" cy="2557145"/>
            <a:chOff x="1238" y="2126"/>
            <a:chExt cx="16368" cy="4027"/>
          </a:xfrm>
        </p:grpSpPr>
        <p:pic>
          <p:nvPicPr>
            <p:cNvPr id="12" name="图形" descr="10.12光效合集2"/>
            <p:cNvPicPr>
              <a:picLocks noChangeAspect="1"/>
            </p:cNvPicPr>
            <p:nvPr/>
          </p:nvPicPr>
          <p:blipFill>
            <a:blip r:embed="rId6" cstate="screen"/>
            <a:srcRect/>
            <a:stretch>
              <a:fillRect/>
            </a:stretch>
          </p:blipFill>
          <p:spPr>
            <a:xfrm>
              <a:off x="1877" y="2294"/>
              <a:ext cx="10641" cy="3859"/>
            </a:xfrm>
            <a:prstGeom prst="rect">
              <a:avLst/>
            </a:prstGeom>
          </p:spPr>
        </p:pic>
        <p:sp>
          <p:nvSpPr>
            <p:cNvPr id="3" name="图形"/>
            <p:cNvSpPr txBox="1"/>
            <p:nvPr/>
          </p:nvSpPr>
          <p:spPr>
            <a:xfrm>
              <a:off x="1238" y="2126"/>
              <a:ext cx="7743" cy="3490"/>
            </a:xfrm>
            <a:prstGeom prst="rect">
              <a:avLst/>
            </a:prstGeom>
            <a:noFill/>
          </p:spPr>
          <p:txBody>
            <a:bodyPr wrap="none" rtlCol="0">
              <a:spAutoFit/>
            </a:bodyPr>
            <a:lstStyle/>
            <a:p>
              <a:r>
                <a:rPr lang="en-US" altLang="zh-CN" sz="13800" b="1" i="1" dirty="0">
                  <a:gradFill>
                    <a:gsLst>
                      <a:gs pos="51000">
                        <a:schemeClr val="bg1"/>
                      </a:gs>
                      <a:gs pos="75000">
                        <a:srgbClr val="81B3F8">
                          <a:alpha val="100000"/>
                        </a:srgbClr>
                      </a:gs>
                      <a:gs pos="100000">
                        <a:srgbClr val="31E2FE"/>
                      </a:gs>
                    </a:gsLst>
                    <a:lin ang="5400000" scaled="0"/>
                  </a:gradFill>
                  <a:effectLst/>
                  <a:cs typeface="+mn-ea"/>
                  <a:sym typeface="+mn-lt"/>
                </a:rPr>
                <a:t>WHU</a:t>
              </a:r>
            </a:p>
          </p:txBody>
        </p:sp>
        <p:sp>
          <p:nvSpPr>
            <p:cNvPr id="5" name="图形"/>
            <p:cNvSpPr txBox="1"/>
            <p:nvPr/>
          </p:nvSpPr>
          <p:spPr>
            <a:xfrm>
              <a:off x="9115" y="2707"/>
              <a:ext cx="7071" cy="1745"/>
            </a:xfrm>
            <a:prstGeom prst="rect">
              <a:avLst/>
            </a:prstGeom>
            <a:noFill/>
          </p:spPr>
          <p:txBody>
            <a:bodyPr wrap="none" rtlCol="0">
              <a:spAutoFit/>
            </a:bodyPr>
            <a:lstStyle/>
            <a:p>
              <a:r>
                <a:rPr lang="en-US" altLang="zh-CN" sz="6600" i="1" dirty="0">
                  <a:gradFill>
                    <a:gsLst>
                      <a:gs pos="51000">
                        <a:schemeClr val="bg1"/>
                      </a:gs>
                      <a:gs pos="75000">
                        <a:srgbClr val="81B3F8">
                          <a:alpha val="100000"/>
                        </a:srgbClr>
                      </a:gs>
                      <a:gs pos="100000">
                        <a:srgbClr val="31E2FE"/>
                      </a:gs>
                    </a:gsLst>
                    <a:lin ang="5400000" scaled="0"/>
                  </a:gradFill>
                  <a:effectLst/>
                  <a:cs typeface="+mn-ea"/>
                  <a:sym typeface="+mn-lt"/>
                </a:rPr>
                <a:t>Singularity</a:t>
              </a:r>
            </a:p>
          </p:txBody>
        </p:sp>
        <p:sp>
          <p:nvSpPr>
            <p:cNvPr id="6" name="图形"/>
            <p:cNvSpPr txBox="1"/>
            <p:nvPr/>
          </p:nvSpPr>
          <p:spPr>
            <a:xfrm>
              <a:off x="8751" y="4407"/>
              <a:ext cx="8855" cy="701"/>
            </a:xfrm>
            <a:prstGeom prst="rect">
              <a:avLst/>
            </a:prstGeom>
            <a:noFill/>
          </p:spPr>
          <p:txBody>
            <a:bodyPr wrap="square" rtlCol="0">
              <a:spAutoFit/>
            </a:bodyPr>
            <a:lstStyle/>
            <a:p>
              <a:pPr algn="l"/>
              <a:r>
                <a:rPr lang="zh-CN" altLang="en-US" sz="2300" i="1" dirty="0">
                  <a:gradFill>
                    <a:gsLst>
                      <a:gs pos="51000">
                        <a:schemeClr val="bg1"/>
                      </a:gs>
                      <a:gs pos="75000">
                        <a:srgbClr val="81B3F8">
                          <a:alpha val="100000"/>
                        </a:srgbClr>
                      </a:gs>
                      <a:gs pos="100000">
                        <a:srgbClr val="31E2FE"/>
                      </a:gs>
                    </a:gsLst>
                    <a:lin ang="5400000" scaled="0"/>
                  </a:gradFill>
                  <a:effectLst/>
                  <a:cs typeface="+mn-ea"/>
                  <a:sym typeface="+mn-lt"/>
                </a:rPr>
                <a:t>高并发抢单框架</a:t>
              </a:r>
            </a:p>
          </p:txBody>
        </p:sp>
      </p:grpSp>
      <p:grpSp>
        <p:nvGrpSpPr>
          <p:cNvPr id="39" name="图形"/>
          <p:cNvGrpSpPr/>
          <p:nvPr/>
        </p:nvGrpSpPr>
        <p:grpSpPr>
          <a:xfrm>
            <a:off x="947420" y="3126105"/>
            <a:ext cx="5384800" cy="1894205"/>
            <a:chOff x="1492" y="4923"/>
            <a:chExt cx="8480" cy="2983"/>
          </a:xfrm>
        </p:grpSpPr>
        <p:sp>
          <p:nvSpPr>
            <p:cNvPr id="11" name="图形"/>
            <p:cNvSpPr txBox="1"/>
            <p:nvPr/>
          </p:nvSpPr>
          <p:spPr>
            <a:xfrm>
              <a:off x="1868" y="4923"/>
              <a:ext cx="5138" cy="1115"/>
            </a:xfrm>
            <a:prstGeom prst="rect">
              <a:avLst/>
            </a:prstGeom>
            <a:noFill/>
          </p:spPr>
          <p:txBody>
            <a:bodyPr wrap="none" rtlCol="0">
              <a:spAutoFit/>
            </a:bodyPr>
            <a:lstStyle/>
            <a:p>
              <a:r>
                <a:rPr lang="zh-CN" altLang="en-US" sz="4000" b="1" dirty="0">
                  <a:gradFill>
                    <a:gsLst>
                      <a:gs pos="51000">
                        <a:schemeClr val="bg1"/>
                      </a:gs>
                      <a:gs pos="87000">
                        <a:srgbClr val="75BAF9"/>
                      </a:gs>
                    </a:gsLst>
                    <a:lin ang="5400000" scaled="0"/>
                  </a:gradFill>
                  <a:cs typeface="+mn-ea"/>
                  <a:sym typeface="+mn-lt"/>
                </a:rPr>
                <a:t>项目综合汇报</a:t>
              </a:r>
            </a:p>
          </p:txBody>
        </p:sp>
        <p:sp>
          <p:nvSpPr>
            <p:cNvPr id="30" name="图形"/>
            <p:cNvSpPr/>
            <p:nvPr/>
          </p:nvSpPr>
          <p:spPr>
            <a:xfrm>
              <a:off x="1524" y="5927"/>
              <a:ext cx="8448" cy="966"/>
            </a:xfrm>
            <a:prstGeom prst="rect">
              <a:avLst/>
            </a:prstGeom>
          </p:spPr>
          <p:txBody>
            <a:bodyPr wrap="square">
              <a:spAutoFit/>
            </a:bodyPr>
            <a:lstStyle/>
            <a:p>
              <a:pPr algn="l">
                <a:lnSpc>
                  <a:spcPct val="150000"/>
                </a:lnSpc>
              </a:pPr>
              <a:r>
                <a:rPr lang="zh-CN" altLang="en-US" sz="1200" dirty="0">
                  <a:gradFill>
                    <a:gsLst>
                      <a:gs pos="60000">
                        <a:schemeClr val="bg1"/>
                      </a:gs>
                      <a:gs pos="100000">
                        <a:srgbClr val="64DDF4"/>
                      </a:gs>
                    </a:gsLst>
                    <a:lin ang="5400000" scaled="0"/>
                  </a:gradFill>
                  <a:cs typeface="+mn-ea"/>
                  <a:sym typeface="+mn-lt"/>
                </a:rPr>
                <a:t>Add your text content here</a:t>
              </a:r>
              <a:r>
                <a:rPr lang="en-US" altLang="zh-CN" sz="1200" dirty="0">
                  <a:gradFill>
                    <a:gsLst>
                      <a:gs pos="60000">
                        <a:schemeClr val="bg1"/>
                      </a:gs>
                      <a:gs pos="100000">
                        <a:srgbClr val="64DDF4"/>
                      </a:gs>
                    </a:gsLst>
                    <a:lin ang="5400000" scaled="0"/>
                  </a:gradFill>
                  <a:cs typeface="+mn-ea"/>
                  <a:sym typeface="+mn-lt"/>
                </a:rPr>
                <a:t>.</a:t>
              </a:r>
              <a:r>
                <a:rPr lang="zh-CN" altLang="en-US" sz="1200" dirty="0">
                  <a:gradFill>
                    <a:gsLst>
                      <a:gs pos="60000">
                        <a:schemeClr val="bg1"/>
                      </a:gs>
                      <a:gs pos="100000">
                        <a:srgbClr val="64DDF4"/>
                      </a:gs>
                    </a:gsLst>
                    <a:lin ang="5400000" scaled="0"/>
                  </a:gradFill>
                  <a:cs typeface="+mn-ea"/>
                  <a:sym typeface="+mn-lt"/>
                </a:rPr>
                <a:t>Add your text content here</a:t>
              </a:r>
              <a:r>
                <a:rPr lang="en-US" altLang="zh-CN" sz="1200" dirty="0">
                  <a:gradFill>
                    <a:gsLst>
                      <a:gs pos="60000">
                        <a:schemeClr val="bg1"/>
                      </a:gs>
                      <a:gs pos="100000">
                        <a:srgbClr val="64DDF4"/>
                      </a:gs>
                    </a:gsLst>
                    <a:lin ang="5400000" scaled="0"/>
                  </a:gradFill>
                  <a:cs typeface="+mn-ea"/>
                  <a:sym typeface="+mn-lt"/>
                </a:rPr>
                <a:t>.</a:t>
              </a:r>
              <a:r>
                <a:rPr lang="zh-CN" altLang="en-US" sz="1200" dirty="0">
                  <a:gradFill>
                    <a:gsLst>
                      <a:gs pos="60000">
                        <a:schemeClr val="bg1"/>
                      </a:gs>
                      <a:gs pos="100000">
                        <a:srgbClr val="64DDF4"/>
                      </a:gs>
                    </a:gsLst>
                    <a:lin ang="5400000" scaled="0"/>
                  </a:gradFill>
                  <a:cs typeface="+mn-ea"/>
                  <a:sym typeface="+mn-lt"/>
                </a:rPr>
                <a:t>Add your</a:t>
              </a:r>
              <a:r>
                <a:rPr lang="en-US" altLang="zh-CN" sz="1200" dirty="0">
                  <a:gradFill>
                    <a:gsLst>
                      <a:gs pos="60000">
                        <a:schemeClr val="bg1"/>
                      </a:gs>
                      <a:gs pos="100000">
                        <a:srgbClr val="64DDF4"/>
                      </a:gs>
                    </a:gsLst>
                    <a:lin ang="5400000" scaled="0"/>
                  </a:gradFill>
                  <a:cs typeface="+mn-ea"/>
                  <a:sym typeface="+mn-lt"/>
                </a:rPr>
                <a:t> </a:t>
              </a:r>
              <a:r>
                <a:rPr lang="zh-CN" altLang="en-US" sz="1200" dirty="0">
                  <a:gradFill>
                    <a:gsLst>
                      <a:gs pos="60000">
                        <a:schemeClr val="bg1"/>
                      </a:gs>
                      <a:gs pos="100000">
                        <a:srgbClr val="64DDF4"/>
                      </a:gs>
                    </a:gsLst>
                    <a:lin ang="5400000" scaled="0"/>
                  </a:gradFill>
                  <a:cs typeface="+mn-ea"/>
                  <a:sym typeface="+mn-lt"/>
                </a:rPr>
                <a:t>content here</a:t>
              </a:r>
              <a:r>
                <a:rPr lang="en-US" altLang="zh-CN" sz="1200" dirty="0">
                  <a:gradFill>
                    <a:gsLst>
                      <a:gs pos="60000">
                        <a:schemeClr val="bg1"/>
                      </a:gs>
                      <a:gs pos="100000">
                        <a:srgbClr val="64DDF4"/>
                      </a:gs>
                    </a:gsLst>
                    <a:lin ang="5400000" scaled="0"/>
                  </a:gradFill>
                  <a:cs typeface="+mn-ea"/>
                  <a:sym typeface="+mn-lt"/>
                </a:rPr>
                <a:t>.</a:t>
              </a:r>
              <a:r>
                <a:rPr lang="zh-CN" altLang="en-US" sz="1200" dirty="0">
                  <a:gradFill>
                    <a:gsLst>
                      <a:gs pos="60000">
                        <a:schemeClr val="bg1"/>
                      </a:gs>
                      <a:gs pos="100000">
                        <a:srgbClr val="64DDF4"/>
                      </a:gs>
                    </a:gsLst>
                    <a:lin ang="5400000" scaled="0"/>
                  </a:gradFill>
                  <a:cs typeface="+mn-ea"/>
                  <a:sym typeface="+mn-lt"/>
                </a:rPr>
                <a:t>Add your text content</a:t>
              </a:r>
              <a:r>
                <a:rPr lang="en-US" altLang="zh-CN" sz="1200" dirty="0">
                  <a:gradFill>
                    <a:gsLst>
                      <a:gs pos="60000">
                        <a:schemeClr val="bg1"/>
                      </a:gs>
                      <a:gs pos="100000">
                        <a:srgbClr val="64DDF4"/>
                      </a:gs>
                    </a:gsLst>
                    <a:lin ang="5400000" scaled="0"/>
                  </a:gradFill>
                  <a:cs typeface="+mn-ea"/>
                  <a:sym typeface="+mn-lt"/>
                </a:rPr>
                <a:t>.</a:t>
              </a:r>
              <a:r>
                <a:rPr lang="zh-CN" altLang="en-US" sz="1200" dirty="0">
                  <a:gradFill>
                    <a:gsLst>
                      <a:gs pos="60000">
                        <a:schemeClr val="bg1"/>
                      </a:gs>
                      <a:gs pos="100000">
                        <a:srgbClr val="64DDF4"/>
                      </a:gs>
                    </a:gsLst>
                    <a:lin ang="5400000" scaled="0"/>
                  </a:gradFill>
                  <a:cs typeface="+mn-ea"/>
                  <a:sym typeface="+mn-lt"/>
                </a:rPr>
                <a:t>Add your text content</a:t>
              </a:r>
              <a:r>
                <a:rPr lang="en-US" altLang="zh-CN" sz="1200" dirty="0">
                  <a:gradFill>
                    <a:gsLst>
                      <a:gs pos="60000">
                        <a:schemeClr val="bg1"/>
                      </a:gs>
                      <a:gs pos="100000">
                        <a:srgbClr val="64DDF4"/>
                      </a:gs>
                    </a:gsLst>
                    <a:lin ang="5400000" scaled="0"/>
                  </a:gradFill>
                  <a:cs typeface="+mn-ea"/>
                  <a:sym typeface="+mn-lt"/>
                </a:rPr>
                <a:t>.</a:t>
              </a:r>
            </a:p>
          </p:txBody>
        </p:sp>
        <p:sp>
          <p:nvSpPr>
            <p:cNvPr id="24" name="图形"/>
            <p:cNvSpPr/>
            <p:nvPr>
              <p:custDataLst>
                <p:tags r:id="rId2"/>
              </p:custDataLst>
            </p:nvPr>
          </p:nvSpPr>
          <p:spPr>
            <a:xfrm>
              <a:off x="1492" y="7256"/>
              <a:ext cx="2528" cy="650"/>
            </a:xfrm>
            <a:prstGeom prst="parallelogram">
              <a:avLst/>
            </a:prstGeom>
            <a:gradFill flip="none" rotWithShape="1">
              <a:gsLst>
                <a:gs pos="28000">
                  <a:srgbClr val="0266F1"/>
                </a:gs>
                <a:gs pos="100000">
                  <a:srgbClr val="04EEFF"/>
                </a:gs>
              </a:gsLst>
              <a:lin ang="13500000" scaled="1"/>
              <a:tileRect/>
            </a:gradFill>
            <a:ln w="25400">
              <a:noFill/>
            </a:ln>
            <a:effectLst>
              <a:outerShdw blurRad="247650" dist="53492" dir="5400000" algn="ctr" rotWithShape="0">
                <a:srgbClr val="007E3F">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6286" tIns="48143" rIns="96286" bIns="48143"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95" b="0" i="0" u="none" strike="noStrike" kern="1200" cap="none" spc="0" normalizeH="0" baseline="0" noProof="0">
                <a:ln>
                  <a:noFill/>
                </a:ln>
                <a:solidFill>
                  <a:prstClr val="white"/>
                </a:solidFill>
                <a:effectLst/>
                <a:uLnTx/>
                <a:uFillTx/>
                <a:cs typeface="+mn-ea"/>
                <a:sym typeface="+mn-lt"/>
              </a:endParaRPr>
            </a:p>
          </p:txBody>
        </p:sp>
        <p:sp>
          <p:nvSpPr>
            <p:cNvPr id="13" name="图形"/>
            <p:cNvSpPr/>
            <p:nvPr>
              <p:custDataLst>
                <p:tags r:id="rId3"/>
              </p:custDataLst>
            </p:nvPr>
          </p:nvSpPr>
          <p:spPr>
            <a:xfrm>
              <a:off x="4404" y="7256"/>
              <a:ext cx="2528" cy="650"/>
            </a:xfrm>
            <a:prstGeom prst="parallelogram">
              <a:avLst/>
            </a:prstGeom>
            <a:noFill/>
            <a:ln w="25400">
              <a:solidFill>
                <a:schemeClr val="bg1"/>
              </a:solidFill>
            </a:ln>
            <a:effectLst>
              <a:outerShdw blurRad="247650" dist="53492" dir="5400000" algn="ctr" rotWithShape="0">
                <a:srgbClr val="007E3F">
                  <a:alpha val="20000"/>
                </a:srgbClr>
              </a:outerShdw>
            </a:effectLst>
            <a:extLst>
              <a:ext uri="{909E8E84-426E-40DD-AFC4-6F175D3DCCD1}">
                <a14:hiddenFill xmlns:a14="http://schemas.microsoft.com/office/drawing/2010/main">
                  <a:gradFill flip="none" rotWithShape="1">
                    <a:gsLst>
                      <a:gs pos="0">
                        <a:srgbClr val="0266F1"/>
                      </a:gs>
                      <a:gs pos="100000">
                        <a:srgbClr val="04EEFF"/>
                      </a:gs>
                    </a:gsLst>
                    <a:lin ang="13500000" scaled="1"/>
                    <a:tileRect/>
                  </a:gra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96286" tIns="48143" rIns="96286" bIns="48143"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95" b="0" i="0" u="none" strike="noStrike" kern="1200" cap="none" spc="0" normalizeH="0" baseline="0" noProof="0">
                <a:ln>
                  <a:noFill/>
                </a:ln>
                <a:solidFill>
                  <a:prstClr val="white"/>
                </a:solidFill>
                <a:effectLst/>
                <a:uLnTx/>
                <a:uFillTx/>
                <a:cs typeface="+mn-ea"/>
                <a:sym typeface="+mn-lt"/>
              </a:endParaRPr>
            </a:p>
          </p:txBody>
        </p:sp>
        <p:sp>
          <p:nvSpPr>
            <p:cNvPr id="14" name="图形"/>
            <p:cNvSpPr txBox="1"/>
            <p:nvPr/>
          </p:nvSpPr>
          <p:spPr>
            <a:xfrm>
              <a:off x="1588" y="7329"/>
              <a:ext cx="2320" cy="483"/>
            </a:xfrm>
            <a:prstGeom prst="rect">
              <a:avLst/>
            </a:prstGeom>
            <a:noFill/>
          </p:spPr>
          <p:txBody>
            <a:bodyPr wrap="square" rtlCol="0">
              <a:spAutoFit/>
            </a:bodyPr>
            <a:lstStyle/>
            <a:p>
              <a:pPr algn="ctr"/>
              <a:r>
                <a:rPr lang="zh-CN" altLang="en-US" sz="1400" dirty="0">
                  <a:solidFill>
                    <a:schemeClr val="bg1"/>
                  </a:solidFill>
                  <a:cs typeface="+mn-ea"/>
                  <a:sym typeface="+mn-lt"/>
                </a:rPr>
                <a:t>汇报小组</a:t>
              </a:r>
            </a:p>
          </p:txBody>
        </p:sp>
        <p:sp>
          <p:nvSpPr>
            <p:cNvPr id="16" name="图形"/>
            <p:cNvSpPr txBox="1"/>
            <p:nvPr/>
          </p:nvSpPr>
          <p:spPr>
            <a:xfrm>
              <a:off x="4508" y="7320"/>
              <a:ext cx="2320" cy="483"/>
            </a:xfrm>
            <a:prstGeom prst="rect">
              <a:avLst/>
            </a:prstGeom>
            <a:noFill/>
          </p:spPr>
          <p:txBody>
            <a:bodyPr wrap="square" rtlCol="0">
              <a:spAutoFit/>
            </a:bodyPr>
            <a:lstStyle/>
            <a:p>
              <a:pPr algn="ctr"/>
              <a:r>
                <a:rPr lang="zh-CN" altLang="en-US" sz="1400" dirty="0">
                  <a:gradFill>
                    <a:gsLst>
                      <a:gs pos="41000">
                        <a:schemeClr val="bg1"/>
                      </a:gs>
                      <a:gs pos="92000">
                        <a:srgbClr val="75BAF9"/>
                      </a:gs>
                    </a:gsLst>
                    <a:lin ang="5400000" scaled="0"/>
                  </a:gradFill>
                  <a:cs typeface="+mn-ea"/>
                  <a:sym typeface="+mn-lt"/>
                </a:rPr>
                <a:t>第四组</a:t>
              </a:r>
            </a:p>
          </p:txBody>
        </p:sp>
      </p:grpSp>
      <p:grpSp>
        <p:nvGrpSpPr>
          <p:cNvPr id="36" name="图形"/>
          <p:cNvGrpSpPr/>
          <p:nvPr/>
        </p:nvGrpSpPr>
        <p:grpSpPr>
          <a:xfrm>
            <a:off x="1008380" y="6420485"/>
            <a:ext cx="10398760" cy="78105"/>
            <a:chOff x="2151" y="9388"/>
            <a:chExt cx="15996" cy="120"/>
          </a:xfrm>
        </p:grpSpPr>
        <p:sp>
          <p:nvSpPr>
            <p:cNvPr id="17" name="图形"/>
            <p:cNvSpPr/>
            <p:nvPr/>
          </p:nvSpPr>
          <p:spPr>
            <a:xfrm flipH="1">
              <a:off x="6120"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18" name="图形"/>
            <p:cNvSpPr/>
            <p:nvPr/>
          </p:nvSpPr>
          <p:spPr>
            <a:xfrm flipH="1">
              <a:off x="7443"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19" name="图形"/>
            <p:cNvSpPr/>
            <p:nvPr/>
          </p:nvSpPr>
          <p:spPr>
            <a:xfrm flipH="1">
              <a:off x="8766"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20" name="图形"/>
            <p:cNvSpPr/>
            <p:nvPr/>
          </p:nvSpPr>
          <p:spPr>
            <a:xfrm flipH="1">
              <a:off x="10089"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21" name="图形"/>
            <p:cNvSpPr/>
            <p:nvPr/>
          </p:nvSpPr>
          <p:spPr>
            <a:xfrm flipH="1">
              <a:off x="11412"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7" name="图形"/>
            <p:cNvSpPr/>
            <p:nvPr/>
          </p:nvSpPr>
          <p:spPr>
            <a:xfrm flipH="1">
              <a:off x="12735"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8" name="图形"/>
            <p:cNvSpPr/>
            <p:nvPr/>
          </p:nvSpPr>
          <p:spPr>
            <a:xfrm flipH="1">
              <a:off x="14058"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9" name="图形"/>
            <p:cNvSpPr/>
            <p:nvPr/>
          </p:nvSpPr>
          <p:spPr>
            <a:xfrm flipH="1">
              <a:off x="15381"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15" name="图形"/>
            <p:cNvSpPr/>
            <p:nvPr/>
          </p:nvSpPr>
          <p:spPr>
            <a:xfrm flipH="1">
              <a:off x="16704"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26" name="图形"/>
            <p:cNvSpPr/>
            <p:nvPr/>
          </p:nvSpPr>
          <p:spPr>
            <a:xfrm flipH="1">
              <a:off x="18027"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27" name="图形"/>
            <p:cNvSpPr/>
            <p:nvPr/>
          </p:nvSpPr>
          <p:spPr>
            <a:xfrm flipH="1">
              <a:off x="2151"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34" name="图形"/>
            <p:cNvSpPr/>
            <p:nvPr/>
          </p:nvSpPr>
          <p:spPr>
            <a:xfrm flipH="1">
              <a:off x="3474"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35" name="图形"/>
            <p:cNvSpPr/>
            <p:nvPr/>
          </p:nvSpPr>
          <p:spPr>
            <a:xfrm flipH="1">
              <a:off x="4797"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grpSp>
      <p:grpSp>
        <p:nvGrpSpPr>
          <p:cNvPr id="100" name="图形"/>
          <p:cNvGrpSpPr/>
          <p:nvPr/>
        </p:nvGrpSpPr>
        <p:grpSpPr>
          <a:xfrm>
            <a:off x="9035415" y="1247140"/>
            <a:ext cx="103505" cy="702945"/>
            <a:chOff x="9993678" y="6703078"/>
            <a:chExt cx="81180" cy="553128"/>
          </a:xfrm>
        </p:grpSpPr>
        <p:cxnSp>
          <p:nvCxnSpPr>
            <p:cNvPr id="101" name="图形"/>
            <p:cNvCxnSpPr/>
            <p:nvPr/>
          </p:nvCxnSpPr>
          <p:spPr>
            <a:xfrm>
              <a:off x="10034268" y="6784258"/>
              <a:ext cx="0" cy="471948"/>
            </a:xfrm>
            <a:prstGeom prst="line">
              <a:avLst/>
            </a:prstGeom>
            <a:ln w="15875">
              <a:gradFill>
                <a:gsLst>
                  <a:gs pos="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02" name="图形"/>
            <p:cNvSpPr/>
            <p:nvPr/>
          </p:nvSpPr>
          <p:spPr>
            <a:xfrm>
              <a:off x="9993678" y="6703078"/>
              <a:ext cx="81180" cy="81180"/>
            </a:xfrm>
            <a:prstGeom prst="ellipse">
              <a:avLst/>
            </a:prstGeom>
            <a:solidFill>
              <a:srgbClr val="75BAF9"/>
            </a:solidFill>
            <a:ln>
              <a:noFill/>
            </a:ln>
            <a:effectLst>
              <a:glow rad="203200">
                <a:schemeClr val="accent1">
                  <a:alpha val="28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grpSp>
        <p:nvGrpSpPr>
          <p:cNvPr id="106" name="图形"/>
          <p:cNvGrpSpPr/>
          <p:nvPr/>
        </p:nvGrpSpPr>
        <p:grpSpPr>
          <a:xfrm>
            <a:off x="9863455" y="3782695"/>
            <a:ext cx="103505" cy="702945"/>
            <a:chOff x="9993678" y="6703078"/>
            <a:chExt cx="81180" cy="553128"/>
          </a:xfrm>
        </p:grpSpPr>
        <p:cxnSp>
          <p:nvCxnSpPr>
            <p:cNvPr id="107" name="图形"/>
            <p:cNvCxnSpPr/>
            <p:nvPr/>
          </p:nvCxnSpPr>
          <p:spPr>
            <a:xfrm>
              <a:off x="10034268" y="6784258"/>
              <a:ext cx="0" cy="471948"/>
            </a:xfrm>
            <a:prstGeom prst="line">
              <a:avLst/>
            </a:prstGeom>
            <a:ln w="15875">
              <a:gradFill>
                <a:gsLst>
                  <a:gs pos="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08" name="图形"/>
            <p:cNvSpPr/>
            <p:nvPr/>
          </p:nvSpPr>
          <p:spPr>
            <a:xfrm>
              <a:off x="9993678" y="6703078"/>
              <a:ext cx="81180" cy="81180"/>
            </a:xfrm>
            <a:prstGeom prst="ellipse">
              <a:avLst/>
            </a:prstGeom>
            <a:solidFill>
              <a:srgbClr val="75BAF9"/>
            </a:solidFill>
            <a:ln>
              <a:noFill/>
            </a:ln>
            <a:effectLst>
              <a:glow rad="203200">
                <a:schemeClr val="accent1">
                  <a:alpha val="28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spTree>
    <p:custDataLst>
      <p:tags r:id="rId1"/>
    </p:custDataLst>
  </p:cSld>
  <p:clrMapOvr>
    <a:masterClrMapping/>
  </p:clrMapOvr>
  <p:transition>
    <p:wedg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wipe(left)">
                                      <p:cBhvr>
                                        <p:cTn id="11" dur="500"/>
                                        <p:tgtEl>
                                          <p:spTgt spid="38"/>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39"/>
                                        </p:tgtEl>
                                        <p:attrNameLst>
                                          <p:attrName>style.visibility</p:attrName>
                                        </p:attrNameLst>
                                      </p:cBhvr>
                                      <p:to>
                                        <p:strVal val="visible"/>
                                      </p:to>
                                    </p:set>
                                    <p:animEffect transition="in" filter="wipe(left)">
                                      <p:cBhvr>
                                        <p:cTn id="15" dur="500"/>
                                        <p:tgtEl>
                                          <p:spTgt spid="39"/>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wipe(left)">
                                      <p:cBhvr>
                                        <p:cTn id="19" dur="500"/>
                                        <p:tgtEl>
                                          <p:spTgt spid="36"/>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100"/>
                                        </p:tgtEl>
                                        <p:attrNameLst>
                                          <p:attrName>style.visibility</p:attrName>
                                        </p:attrNameLst>
                                      </p:cBhvr>
                                      <p:to>
                                        <p:strVal val="visible"/>
                                      </p:to>
                                    </p:set>
                                    <p:animEffect transition="in" filter="wipe(left)">
                                      <p:cBhvr>
                                        <p:cTn id="23" dur="500"/>
                                        <p:tgtEl>
                                          <p:spTgt spid="100"/>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106"/>
                                        </p:tgtEl>
                                        <p:attrNameLst>
                                          <p:attrName>style.visibility</p:attrName>
                                        </p:attrNameLst>
                                      </p:cBhvr>
                                      <p:to>
                                        <p:strVal val="visible"/>
                                      </p:to>
                                    </p:set>
                                    <p:animEffect transition="in" filter="wipe(left)">
                                      <p:cBhvr>
                                        <p:cTn id="27" dur="500"/>
                                        <p:tgtEl>
                                          <p:spTgt spid="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形" descr="5fafa202e696b"/>
          <p:cNvPicPr>
            <a:picLocks noChangeAspect="1"/>
          </p:cNvPicPr>
          <p:nvPr/>
        </p:nvPicPr>
        <p:blipFill>
          <a:blip r:embed="rId3" cstate="screen"/>
          <a:srcRect t="-372" r="-417"/>
          <a:stretch>
            <a:fillRect/>
          </a:stretch>
        </p:blipFill>
        <p:spPr>
          <a:xfrm>
            <a:off x="0" y="0"/>
            <a:ext cx="12223750" cy="6858000"/>
          </a:xfrm>
          <a:prstGeom prst="rect">
            <a:avLst/>
          </a:prstGeom>
        </p:spPr>
      </p:pic>
      <p:sp>
        <p:nvSpPr>
          <p:cNvPr id="26" name="图形"/>
          <p:cNvSpPr/>
          <p:nvPr/>
        </p:nvSpPr>
        <p:spPr>
          <a:xfrm>
            <a:off x="-635" y="635"/>
            <a:ext cx="12192000" cy="6858000"/>
          </a:xfrm>
          <a:prstGeom prst="rect">
            <a:avLst/>
          </a:prstGeom>
          <a:gradFill>
            <a:gsLst>
              <a:gs pos="0">
                <a:srgbClr val="070588">
                  <a:alpha val="0"/>
                </a:srgbClr>
              </a:gs>
              <a:gs pos="100000">
                <a:srgbClr val="070588"/>
              </a:gs>
            </a:gsLst>
            <a:lin ang="162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2" name="图形"/>
          <p:cNvGrpSpPr/>
          <p:nvPr/>
        </p:nvGrpSpPr>
        <p:grpSpPr>
          <a:xfrm>
            <a:off x="4763770" y="660400"/>
            <a:ext cx="2690495" cy="4553585"/>
            <a:chOff x="4701233" y="204535"/>
            <a:chExt cx="2690554" cy="4247141"/>
          </a:xfrm>
        </p:grpSpPr>
        <p:sp>
          <p:nvSpPr>
            <p:cNvPr id="15" name="图形"/>
            <p:cNvSpPr/>
            <p:nvPr/>
          </p:nvSpPr>
          <p:spPr>
            <a:xfrm>
              <a:off x="6037249" y="204535"/>
              <a:ext cx="1354538" cy="4244217"/>
            </a:xfrm>
            <a:custGeom>
              <a:avLst/>
              <a:gdLst>
                <a:gd name="connsiteX0" fmla="*/ 2031375 w 2042951"/>
                <a:gd name="connsiteY0" fmla="*/ 17025 h 6401247"/>
                <a:gd name="connsiteX1" fmla="*/ 2028878 w 2042951"/>
                <a:gd name="connsiteY1" fmla="*/ 5216336 h 6401247"/>
                <a:gd name="connsiteX2" fmla="*/ 17025 w 2042951"/>
                <a:gd name="connsiteY2" fmla="*/ 6385358 h 6401247"/>
                <a:gd name="connsiteX3" fmla="*/ 19748 w 2042951"/>
                <a:gd name="connsiteY3" fmla="*/ 1186047 h 6401247"/>
              </a:gdLst>
              <a:ahLst/>
              <a:cxnLst>
                <a:cxn ang="0">
                  <a:pos x="connsiteX0" y="connsiteY0"/>
                </a:cxn>
                <a:cxn ang="0">
                  <a:pos x="connsiteX1" y="connsiteY1"/>
                </a:cxn>
                <a:cxn ang="0">
                  <a:pos x="connsiteX2" y="connsiteY2"/>
                </a:cxn>
                <a:cxn ang="0">
                  <a:pos x="connsiteX3" y="connsiteY3"/>
                </a:cxn>
              </a:cxnLst>
              <a:rect l="l" t="t" r="r" b="b"/>
              <a:pathLst>
                <a:path w="2042951" h="6401247">
                  <a:moveTo>
                    <a:pt x="2031375" y="17025"/>
                  </a:moveTo>
                  <a:lnTo>
                    <a:pt x="2028878" y="5216336"/>
                  </a:lnTo>
                  <a:lnTo>
                    <a:pt x="17025" y="6385358"/>
                  </a:lnTo>
                  <a:lnTo>
                    <a:pt x="19748" y="1186047"/>
                  </a:lnTo>
                  <a:close/>
                </a:path>
              </a:pathLst>
            </a:custGeom>
            <a:gradFill>
              <a:gsLst>
                <a:gs pos="18000">
                  <a:schemeClr val="accent1">
                    <a:alpha val="0"/>
                    <a:lumMod val="99000"/>
                  </a:schemeClr>
                </a:gs>
                <a:gs pos="100000">
                  <a:srgbClr val="00B0F0"/>
                </a:gs>
              </a:gsLst>
              <a:lin ang="5400000" scaled="1"/>
            </a:gradFill>
            <a:ln w="1270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21" name="图形"/>
            <p:cNvSpPr/>
            <p:nvPr/>
          </p:nvSpPr>
          <p:spPr>
            <a:xfrm>
              <a:off x="4701233" y="207459"/>
              <a:ext cx="1354538" cy="4244217"/>
            </a:xfrm>
            <a:custGeom>
              <a:avLst/>
              <a:gdLst>
                <a:gd name="connsiteX0" fmla="*/ 2044313 w 2042951"/>
                <a:gd name="connsiteY0" fmla="*/ 1186047 h 6401247"/>
                <a:gd name="connsiteX1" fmla="*/ 2041590 w 2042951"/>
                <a:gd name="connsiteY1" fmla="*/ 6385358 h 6401247"/>
                <a:gd name="connsiteX2" fmla="*/ 17025 w 2042951"/>
                <a:gd name="connsiteY2" fmla="*/ 5216336 h 6401247"/>
                <a:gd name="connsiteX3" fmla="*/ 19522 w 2042951"/>
                <a:gd name="connsiteY3" fmla="*/ 17025 h 6401247"/>
              </a:gdLst>
              <a:ahLst/>
              <a:cxnLst>
                <a:cxn ang="0">
                  <a:pos x="connsiteX0" y="connsiteY0"/>
                </a:cxn>
                <a:cxn ang="0">
                  <a:pos x="connsiteX1" y="connsiteY1"/>
                </a:cxn>
                <a:cxn ang="0">
                  <a:pos x="connsiteX2" y="connsiteY2"/>
                </a:cxn>
                <a:cxn ang="0">
                  <a:pos x="connsiteX3" y="connsiteY3"/>
                </a:cxn>
              </a:cxnLst>
              <a:rect l="l" t="t" r="r" b="b"/>
              <a:pathLst>
                <a:path w="2042951" h="6401247">
                  <a:moveTo>
                    <a:pt x="2044313" y="1186047"/>
                  </a:moveTo>
                  <a:lnTo>
                    <a:pt x="2041590" y="6385358"/>
                  </a:lnTo>
                  <a:lnTo>
                    <a:pt x="17025" y="5216336"/>
                  </a:lnTo>
                  <a:lnTo>
                    <a:pt x="19522" y="17025"/>
                  </a:lnTo>
                  <a:close/>
                </a:path>
              </a:pathLst>
            </a:custGeom>
            <a:gradFill>
              <a:gsLst>
                <a:gs pos="18000">
                  <a:schemeClr val="accent1">
                    <a:alpha val="0"/>
                    <a:lumMod val="99000"/>
                  </a:schemeClr>
                </a:gs>
                <a:gs pos="100000">
                  <a:srgbClr val="00B0F0"/>
                </a:gs>
              </a:gsLst>
              <a:lin ang="5400000" scaled="1"/>
            </a:gradFill>
            <a:ln w="1270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grpSp>
      <p:grpSp>
        <p:nvGrpSpPr>
          <p:cNvPr id="14" name="图形"/>
          <p:cNvGrpSpPr/>
          <p:nvPr/>
        </p:nvGrpSpPr>
        <p:grpSpPr>
          <a:xfrm>
            <a:off x="3863975" y="4309745"/>
            <a:ext cx="4467225" cy="1586865"/>
            <a:chOff x="5719" y="7098"/>
            <a:chExt cx="7695" cy="2733"/>
          </a:xfrm>
        </p:grpSpPr>
        <p:sp>
          <p:nvSpPr>
            <p:cNvPr id="24" name="图形"/>
            <p:cNvSpPr/>
            <p:nvPr/>
          </p:nvSpPr>
          <p:spPr>
            <a:xfrm>
              <a:off x="9570" y="7098"/>
              <a:ext cx="3845" cy="2733"/>
            </a:xfrm>
            <a:custGeom>
              <a:avLst/>
              <a:gdLst>
                <a:gd name="connsiteX0" fmla="*/ 2436971 w 2438400"/>
                <a:gd name="connsiteY0" fmla="*/ 7144 h 1733550"/>
                <a:gd name="connsiteX1" fmla="*/ 2433828 w 2438400"/>
                <a:gd name="connsiteY1" fmla="*/ 323469 h 1733550"/>
                <a:gd name="connsiteX2" fmla="*/ 7144 w 2438400"/>
                <a:gd name="connsiteY2" fmla="*/ 1733741 h 1733550"/>
                <a:gd name="connsiteX3" fmla="*/ 10287 w 2438400"/>
                <a:gd name="connsiteY3" fmla="*/ 1417415 h 1733550"/>
              </a:gdLst>
              <a:ahLst/>
              <a:cxnLst>
                <a:cxn ang="0">
                  <a:pos x="connsiteX0" y="connsiteY0"/>
                </a:cxn>
                <a:cxn ang="0">
                  <a:pos x="connsiteX1" y="connsiteY1"/>
                </a:cxn>
                <a:cxn ang="0">
                  <a:pos x="connsiteX2" y="connsiteY2"/>
                </a:cxn>
                <a:cxn ang="0">
                  <a:pos x="connsiteX3" y="connsiteY3"/>
                </a:cxn>
              </a:cxnLst>
              <a:rect l="l" t="t" r="r" b="b"/>
              <a:pathLst>
                <a:path w="2438400" h="1733550">
                  <a:moveTo>
                    <a:pt x="2436971" y="7144"/>
                  </a:moveTo>
                  <a:lnTo>
                    <a:pt x="2433828" y="323469"/>
                  </a:lnTo>
                  <a:lnTo>
                    <a:pt x="7144" y="1733741"/>
                  </a:lnTo>
                  <a:lnTo>
                    <a:pt x="10287" y="1417415"/>
                  </a:lnTo>
                  <a:close/>
                </a:path>
              </a:pathLst>
            </a:custGeom>
            <a:gradFill>
              <a:gsLst>
                <a:gs pos="37000">
                  <a:srgbClr val="75BAF9"/>
                </a:gs>
                <a:gs pos="100000">
                  <a:schemeClr val="accent2"/>
                </a:gs>
              </a:gsLst>
              <a:lin ang="5400000" scaled="1"/>
            </a:gradFill>
            <a:ln w="15875" cap="flat">
              <a:gradFill>
                <a:gsLst>
                  <a:gs pos="0">
                    <a:schemeClr val="accent1"/>
                  </a:gs>
                  <a:gs pos="64000">
                    <a:schemeClr val="accent1">
                      <a:alpha val="0"/>
                    </a:schemeClr>
                  </a:gs>
                </a:gsLst>
                <a:lin ang="3600000" scaled="0"/>
              </a:gra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25" name="图形"/>
            <p:cNvSpPr/>
            <p:nvPr/>
          </p:nvSpPr>
          <p:spPr>
            <a:xfrm>
              <a:off x="5719" y="7099"/>
              <a:ext cx="3875" cy="2733"/>
            </a:xfrm>
            <a:custGeom>
              <a:avLst/>
              <a:gdLst>
                <a:gd name="connsiteX0" fmla="*/ 2452688 w 2457450"/>
                <a:gd name="connsiteY0" fmla="*/ 1417225 h 1733550"/>
                <a:gd name="connsiteX1" fmla="*/ 2449545 w 2457450"/>
                <a:gd name="connsiteY1" fmla="*/ 1733550 h 1733550"/>
                <a:gd name="connsiteX2" fmla="*/ 7144 w 2457450"/>
                <a:gd name="connsiteY2" fmla="*/ 323374 h 1733550"/>
                <a:gd name="connsiteX3" fmla="*/ 10287 w 2457450"/>
                <a:gd name="connsiteY3" fmla="*/ 7144 h 1733550"/>
              </a:gdLst>
              <a:ahLst/>
              <a:cxnLst>
                <a:cxn ang="0">
                  <a:pos x="connsiteX0" y="connsiteY0"/>
                </a:cxn>
                <a:cxn ang="0">
                  <a:pos x="connsiteX1" y="connsiteY1"/>
                </a:cxn>
                <a:cxn ang="0">
                  <a:pos x="connsiteX2" y="connsiteY2"/>
                </a:cxn>
                <a:cxn ang="0">
                  <a:pos x="connsiteX3" y="connsiteY3"/>
                </a:cxn>
              </a:cxnLst>
              <a:rect l="l" t="t" r="r" b="b"/>
              <a:pathLst>
                <a:path w="2457450" h="1733550">
                  <a:moveTo>
                    <a:pt x="2452688" y="1417225"/>
                  </a:moveTo>
                  <a:lnTo>
                    <a:pt x="2449545" y="1733550"/>
                  </a:lnTo>
                  <a:lnTo>
                    <a:pt x="7144" y="323374"/>
                  </a:lnTo>
                  <a:lnTo>
                    <a:pt x="10287" y="7144"/>
                  </a:lnTo>
                  <a:close/>
                </a:path>
              </a:pathLst>
            </a:custGeom>
            <a:gradFill>
              <a:gsLst>
                <a:gs pos="37000">
                  <a:srgbClr val="75BAF9"/>
                </a:gs>
                <a:gs pos="100000">
                  <a:schemeClr val="accent2"/>
                </a:gs>
              </a:gsLst>
              <a:lin ang="5400000" scaled="1"/>
            </a:gradFill>
            <a:ln w="15875" cap="flat">
              <a:gradFill>
                <a:gsLst>
                  <a:gs pos="0">
                    <a:schemeClr val="accent1"/>
                  </a:gs>
                  <a:gs pos="64000">
                    <a:schemeClr val="accent1">
                      <a:alpha val="0"/>
                    </a:schemeClr>
                  </a:gs>
                </a:gsLst>
                <a:lin ang="7200000" scaled="0"/>
              </a:gra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grpSp>
      <p:sp>
        <p:nvSpPr>
          <p:cNvPr id="460" name="图形"/>
          <p:cNvSpPr/>
          <p:nvPr/>
        </p:nvSpPr>
        <p:spPr>
          <a:xfrm>
            <a:off x="3962400" y="2982595"/>
            <a:ext cx="4302760" cy="2503170"/>
          </a:xfrm>
          <a:prstGeom prst="diamond">
            <a:avLst/>
          </a:prstGeom>
          <a:noFill/>
          <a:ln w="31750" cap="rnd">
            <a:gradFill flip="none" rotWithShape="1">
              <a:gsLst>
                <a:gs pos="0">
                  <a:schemeClr val="accent1"/>
                </a:gs>
                <a:gs pos="77000">
                  <a:schemeClr val="accent1">
                    <a:alpha val="0"/>
                  </a:schemeClr>
                </a:gs>
              </a:gsLst>
              <a:lin ang="16200000" scaled="1"/>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7" name="组合 6"/>
          <p:cNvGrpSpPr/>
          <p:nvPr/>
        </p:nvGrpSpPr>
        <p:grpSpPr>
          <a:xfrm>
            <a:off x="850265" y="1906905"/>
            <a:ext cx="3926205" cy="2395220"/>
            <a:chOff x="1339" y="3003"/>
            <a:chExt cx="6183" cy="3772"/>
          </a:xfrm>
        </p:grpSpPr>
        <p:grpSp>
          <p:nvGrpSpPr>
            <p:cNvPr id="32" name="图形"/>
            <p:cNvGrpSpPr/>
            <p:nvPr/>
          </p:nvGrpSpPr>
          <p:grpSpPr>
            <a:xfrm flipH="1">
              <a:off x="1339" y="3248"/>
              <a:ext cx="4188" cy="3367"/>
              <a:chOff x="14107" y="3448"/>
              <a:chExt cx="4188" cy="3367"/>
            </a:xfrm>
          </p:grpSpPr>
          <p:sp>
            <p:nvSpPr>
              <p:cNvPr id="30" name="图形"/>
              <p:cNvSpPr/>
              <p:nvPr/>
            </p:nvSpPr>
            <p:spPr>
              <a:xfrm rot="16200000">
                <a:off x="15725" y="1830"/>
                <a:ext cx="953" cy="4188"/>
              </a:xfrm>
              <a:custGeom>
                <a:avLst/>
                <a:gdLst>
                  <a:gd name="connsiteX0" fmla="*/ 2031375 w 2042951"/>
                  <a:gd name="connsiteY0" fmla="*/ 17025 h 6401247"/>
                  <a:gd name="connsiteX1" fmla="*/ 2028878 w 2042951"/>
                  <a:gd name="connsiteY1" fmla="*/ 5216336 h 6401247"/>
                  <a:gd name="connsiteX2" fmla="*/ 17025 w 2042951"/>
                  <a:gd name="connsiteY2" fmla="*/ 6385358 h 6401247"/>
                  <a:gd name="connsiteX3" fmla="*/ 19748 w 2042951"/>
                  <a:gd name="connsiteY3" fmla="*/ 1186047 h 6401247"/>
                </a:gdLst>
                <a:ahLst/>
                <a:cxnLst>
                  <a:cxn ang="0">
                    <a:pos x="connsiteX0" y="connsiteY0"/>
                  </a:cxn>
                  <a:cxn ang="0">
                    <a:pos x="connsiteX1" y="connsiteY1"/>
                  </a:cxn>
                  <a:cxn ang="0">
                    <a:pos x="connsiteX2" y="connsiteY2"/>
                  </a:cxn>
                  <a:cxn ang="0">
                    <a:pos x="connsiteX3" y="connsiteY3"/>
                  </a:cxn>
                </a:cxnLst>
                <a:rect l="l" t="t" r="r" b="b"/>
                <a:pathLst>
                  <a:path w="2042951" h="6401247">
                    <a:moveTo>
                      <a:pt x="2031375" y="17025"/>
                    </a:moveTo>
                    <a:lnTo>
                      <a:pt x="2028878" y="5216336"/>
                    </a:lnTo>
                    <a:lnTo>
                      <a:pt x="17025" y="6385358"/>
                    </a:lnTo>
                    <a:lnTo>
                      <a:pt x="19748" y="1186047"/>
                    </a:lnTo>
                    <a:close/>
                  </a:path>
                </a:pathLst>
              </a:custGeom>
              <a:gradFill>
                <a:gsLst>
                  <a:gs pos="18000">
                    <a:schemeClr val="accent1">
                      <a:alpha val="0"/>
                      <a:lumMod val="99000"/>
                    </a:schemeClr>
                  </a:gs>
                  <a:gs pos="100000">
                    <a:srgbClr val="00B0F0"/>
                  </a:gs>
                </a:gsLst>
                <a:lin ang="5400000" scaled="1"/>
              </a:gradFill>
              <a:ln w="12700" cap="flat">
                <a:gradFill>
                  <a:gsLst>
                    <a:gs pos="0">
                      <a:schemeClr val="accent1">
                        <a:alpha val="0"/>
                      </a:schemeClr>
                    </a:gs>
                    <a:gs pos="100000">
                      <a:schemeClr val="accent1"/>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31" name="图形"/>
              <p:cNvSpPr/>
              <p:nvPr/>
            </p:nvSpPr>
            <p:spPr>
              <a:xfrm rot="16200000">
                <a:off x="15725" y="4245"/>
                <a:ext cx="953" cy="4188"/>
              </a:xfrm>
              <a:custGeom>
                <a:avLst/>
                <a:gdLst>
                  <a:gd name="connsiteX0" fmla="*/ 2031375 w 2042951"/>
                  <a:gd name="connsiteY0" fmla="*/ 17025 h 6401247"/>
                  <a:gd name="connsiteX1" fmla="*/ 2028878 w 2042951"/>
                  <a:gd name="connsiteY1" fmla="*/ 5216336 h 6401247"/>
                  <a:gd name="connsiteX2" fmla="*/ 17025 w 2042951"/>
                  <a:gd name="connsiteY2" fmla="*/ 6385358 h 6401247"/>
                  <a:gd name="connsiteX3" fmla="*/ 19748 w 2042951"/>
                  <a:gd name="connsiteY3" fmla="*/ 1186047 h 6401247"/>
                </a:gdLst>
                <a:ahLst/>
                <a:cxnLst>
                  <a:cxn ang="0">
                    <a:pos x="connsiteX0" y="connsiteY0"/>
                  </a:cxn>
                  <a:cxn ang="0">
                    <a:pos x="connsiteX1" y="connsiteY1"/>
                  </a:cxn>
                  <a:cxn ang="0">
                    <a:pos x="connsiteX2" y="connsiteY2"/>
                  </a:cxn>
                  <a:cxn ang="0">
                    <a:pos x="connsiteX3" y="connsiteY3"/>
                  </a:cxn>
                </a:cxnLst>
                <a:rect l="l" t="t" r="r" b="b"/>
                <a:pathLst>
                  <a:path w="2042951" h="6401247">
                    <a:moveTo>
                      <a:pt x="2031375" y="17025"/>
                    </a:moveTo>
                    <a:lnTo>
                      <a:pt x="2028878" y="5216336"/>
                    </a:lnTo>
                    <a:lnTo>
                      <a:pt x="17025" y="6385358"/>
                    </a:lnTo>
                    <a:lnTo>
                      <a:pt x="19748" y="1186047"/>
                    </a:lnTo>
                    <a:close/>
                  </a:path>
                </a:pathLst>
              </a:custGeom>
              <a:gradFill>
                <a:gsLst>
                  <a:gs pos="18000">
                    <a:schemeClr val="accent1">
                      <a:alpha val="0"/>
                      <a:lumMod val="99000"/>
                    </a:schemeClr>
                  </a:gs>
                  <a:gs pos="100000">
                    <a:srgbClr val="00B0F0"/>
                  </a:gs>
                </a:gsLst>
                <a:lin ang="5400000" scaled="1"/>
              </a:gradFill>
              <a:ln w="12700" cap="flat">
                <a:gradFill>
                  <a:gsLst>
                    <a:gs pos="0">
                      <a:schemeClr val="accent1">
                        <a:alpha val="0"/>
                      </a:schemeClr>
                    </a:gs>
                    <a:gs pos="100000">
                      <a:schemeClr val="accent1"/>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sp>
          <p:nvSpPr>
            <p:cNvPr id="54" name="图形"/>
            <p:cNvSpPr txBox="1"/>
            <p:nvPr/>
          </p:nvSpPr>
          <p:spPr>
            <a:xfrm>
              <a:off x="1848" y="3413"/>
              <a:ext cx="3926" cy="630"/>
            </a:xfrm>
            <a:prstGeom prst="rect">
              <a:avLst/>
            </a:prstGeom>
            <a:noFill/>
          </p:spPr>
          <p:txBody>
            <a:bodyPr wrap="none" rtlCol="0">
              <a:spAutoFit/>
            </a:bodyPr>
            <a:lstStyle/>
            <a:p>
              <a:pPr algn="l"/>
              <a:r>
                <a:rPr lang="zh-CN" altLang="en-US" sz="2000" noProof="0" dirty="0">
                  <a:ln>
                    <a:noFill/>
                  </a:ln>
                  <a:solidFill>
                    <a:schemeClr val="bg1"/>
                  </a:solidFill>
                  <a:effectLst/>
                  <a:uLnTx/>
                  <a:uFillTx/>
                  <a:cs typeface="+mn-ea"/>
                  <a:sym typeface="+mn-lt"/>
                </a:rPr>
                <a:t>选题动机与技术方案</a:t>
              </a:r>
            </a:p>
          </p:txBody>
        </p:sp>
        <p:sp>
          <p:nvSpPr>
            <p:cNvPr id="55" name="图形"/>
            <p:cNvSpPr txBox="1"/>
            <p:nvPr/>
          </p:nvSpPr>
          <p:spPr>
            <a:xfrm>
              <a:off x="1896" y="5654"/>
              <a:ext cx="2876" cy="921"/>
            </a:xfrm>
            <a:prstGeom prst="rect">
              <a:avLst/>
            </a:prstGeom>
            <a:noFill/>
          </p:spPr>
          <p:txBody>
            <a:bodyPr wrap="none" rtlCol="0">
              <a:spAutoFit/>
            </a:bodyPr>
            <a:lstStyle/>
            <a:p>
              <a:r>
                <a:rPr lang="zh-CN" altLang="en-US" sz="3200" noProof="0" dirty="0">
                  <a:ln>
                    <a:noFill/>
                  </a:ln>
                  <a:solidFill>
                    <a:schemeClr val="bg1"/>
                  </a:solidFill>
                  <a:effectLst/>
                  <a:uLnTx/>
                  <a:uFillTx/>
                  <a:cs typeface="+mn-ea"/>
                  <a:sym typeface="+mn-lt"/>
                </a:rPr>
                <a:t>核心优势</a:t>
              </a:r>
            </a:p>
          </p:txBody>
        </p:sp>
        <p:sp>
          <p:nvSpPr>
            <p:cNvPr id="63" name="图形"/>
            <p:cNvSpPr txBox="1"/>
            <p:nvPr/>
          </p:nvSpPr>
          <p:spPr>
            <a:xfrm>
              <a:off x="5954" y="3003"/>
              <a:ext cx="1568" cy="1454"/>
            </a:xfrm>
            <a:prstGeom prst="rect">
              <a:avLst/>
            </a:prstGeom>
            <a:noFill/>
          </p:spPr>
          <p:txBody>
            <a:bodyPr wrap="none" rtlCol="0">
              <a:spAutoFit/>
            </a:bodyPr>
            <a:lstStyle/>
            <a:p>
              <a:r>
                <a:rPr lang="en-US" altLang="zh-CN" sz="5400">
                  <a:gradFill>
                    <a:gsLst>
                      <a:gs pos="55000">
                        <a:srgbClr val="37CEFF"/>
                      </a:gs>
                      <a:gs pos="85000">
                        <a:srgbClr val="161553">
                          <a:alpha val="0"/>
                        </a:srgbClr>
                      </a:gs>
                    </a:gsLst>
                    <a:lin ang="5400000" scaled="0"/>
                  </a:gradFill>
                  <a:cs typeface="+mn-ea"/>
                  <a:sym typeface="+mn-lt"/>
                </a:rPr>
                <a:t>01</a:t>
              </a:r>
            </a:p>
          </p:txBody>
        </p:sp>
        <p:sp>
          <p:nvSpPr>
            <p:cNvPr id="64" name="图形"/>
            <p:cNvSpPr txBox="1"/>
            <p:nvPr/>
          </p:nvSpPr>
          <p:spPr>
            <a:xfrm>
              <a:off x="5810" y="5321"/>
              <a:ext cx="1568" cy="1454"/>
            </a:xfrm>
            <a:prstGeom prst="rect">
              <a:avLst/>
            </a:prstGeom>
            <a:noFill/>
          </p:spPr>
          <p:txBody>
            <a:bodyPr wrap="none" rtlCol="0">
              <a:spAutoFit/>
            </a:bodyPr>
            <a:lstStyle/>
            <a:p>
              <a:r>
                <a:rPr lang="en-US" altLang="zh-CN" sz="5400">
                  <a:gradFill>
                    <a:gsLst>
                      <a:gs pos="55000">
                        <a:srgbClr val="37CEFF"/>
                      </a:gs>
                      <a:gs pos="85000">
                        <a:srgbClr val="161553">
                          <a:alpha val="0"/>
                        </a:srgbClr>
                      </a:gs>
                    </a:gsLst>
                    <a:lin ang="5400000" scaled="0"/>
                  </a:gradFill>
                  <a:cs typeface="+mn-ea"/>
                  <a:sym typeface="+mn-lt"/>
                </a:rPr>
                <a:t>03</a:t>
              </a:r>
            </a:p>
          </p:txBody>
        </p:sp>
      </p:grpSp>
      <p:grpSp>
        <p:nvGrpSpPr>
          <p:cNvPr id="9" name="组合 8"/>
          <p:cNvGrpSpPr/>
          <p:nvPr/>
        </p:nvGrpSpPr>
        <p:grpSpPr>
          <a:xfrm>
            <a:off x="7449820" y="1912620"/>
            <a:ext cx="3968115" cy="2395220"/>
            <a:chOff x="11732" y="3012"/>
            <a:chExt cx="6249" cy="3772"/>
          </a:xfrm>
        </p:grpSpPr>
        <p:sp>
          <p:nvSpPr>
            <p:cNvPr id="28" name="图形"/>
            <p:cNvSpPr/>
            <p:nvPr/>
          </p:nvSpPr>
          <p:spPr>
            <a:xfrm rot="16200000">
              <a:off x="15410" y="1630"/>
              <a:ext cx="953" cy="4188"/>
            </a:xfrm>
            <a:custGeom>
              <a:avLst/>
              <a:gdLst>
                <a:gd name="connsiteX0" fmla="*/ 2031375 w 2042951"/>
                <a:gd name="connsiteY0" fmla="*/ 17025 h 6401247"/>
                <a:gd name="connsiteX1" fmla="*/ 2028878 w 2042951"/>
                <a:gd name="connsiteY1" fmla="*/ 5216336 h 6401247"/>
                <a:gd name="connsiteX2" fmla="*/ 17025 w 2042951"/>
                <a:gd name="connsiteY2" fmla="*/ 6385358 h 6401247"/>
                <a:gd name="connsiteX3" fmla="*/ 19748 w 2042951"/>
                <a:gd name="connsiteY3" fmla="*/ 1186047 h 6401247"/>
              </a:gdLst>
              <a:ahLst/>
              <a:cxnLst>
                <a:cxn ang="0">
                  <a:pos x="connsiteX0" y="connsiteY0"/>
                </a:cxn>
                <a:cxn ang="0">
                  <a:pos x="connsiteX1" y="connsiteY1"/>
                </a:cxn>
                <a:cxn ang="0">
                  <a:pos x="connsiteX2" y="connsiteY2"/>
                </a:cxn>
                <a:cxn ang="0">
                  <a:pos x="connsiteX3" y="connsiteY3"/>
                </a:cxn>
              </a:cxnLst>
              <a:rect l="l" t="t" r="r" b="b"/>
              <a:pathLst>
                <a:path w="2042951" h="6401247">
                  <a:moveTo>
                    <a:pt x="2031375" y="17025"/>
                  </a:moveTo>
                  <a:lnTo>
                    <a:pt x="2028878" y="5216336"/>
                  </a:lnTo>
                  <a:lnTo>
                    <a:pt x="17025" y="6385358"/>
                  </a:lnTo>
                  <a:lnTo>
                    <a:pt x="19748" y="1186047"/>
                  </a:lnTo>
                  <a:close/>
                </a:path>
              </a:pathLst>
            </a:custGeom>
            <a:gradFill>
              <a:gsLst>
                <a:gs pos="18000">
                  <a:schemeClr val="accent1">
                    <a:alpha val="0"/>
                    <a:lumMod val="99000"/>
                  </a:schemeClr>
                </a:gs>
                <a:gs pos="100000">
                  <a:srgbClr val="00B0F0"/>
                </a:gs>
              </a:gsLst>
              <a:lin ang="5400000" scaled="1"/>
            </a:gradFill>
            <a:ln w="12700" cap="flat">
              <a:gradFill>
                <a:gsLst>
                  <a:gs pos="0">
                    <a:schemeClr val="accent1">
                      <a:alpha val="0"/>
                    </a:schemeClr>
                  </a:gs>
                  <a:gs pos="100000">
                    <a:schemeClr val="accent1"/>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29" name="图形"/>
            <p:cNvSpPr/>
            <p:nvPr/>
          </p:nvSpPr>
          <p:spPr>
            <a:xfrm rot="16200000">
              <a:off x="15410" y="4002"/>
              <a:ext cx="953" cy="4188"/>
            </a:xfrm>
            <a:custGeom>
              <a:avLst/>
              <a:gdLst>
                <a:gd name="connsiteX0" fmla="*/ 2031375 w 2042951"/>
                <a:gd name="connsiteY0" fmla="*/ 17025 h 6401247"/>
                <a:gd name="connsiteX1" fmla="*/ 2028878 w 2042951"/>
                <a:gd name="connsiteY1" fmla="*/ 5216336 h 6401247"/>
                <a:gd name="connsiteX2" fmla="*/ 17025 w 2042951"/>
                <a:gd name="connsiteY2" fmla="*/ 6385358 h 6401247"/>
                <a:gd name="connsiteX3" fmla="*/ 19748 w 2042951"/>
                <a:gd name="connsiteY3" fmla="*/ 1186047 h 6401247"/>
              </a:gdLst>
              <a:ahLst/>
              <a:cxnLst>
                <a:cxn ang="0">
                  <a:pos x="connsiteX0" y="connsiteY0"/>
                </a:cxn>
                <a:cxn ang="0">
                  <a:pos x="connsiteX1" y="connsiteY1"/>
                </a:cxn>
                <a:cxn ang="0">
                  <a:pos x="connsiteX2" y="connsiteY2"/>
                </a:cxn>
                <a:cxn ang="0">
                  <a:pos x="connsiteX3" y="connsiteY3"/>
                </a:cxn>
              </a:cxnLst>
              <a:rect l="l" t="t" r="r" b="b"/>
              <a:pathLst>
                <a:path w="2042951" h="6401247">
                  <a:moveTo>
                    <a:pt x="2031375" y="17025"/>
                  </a:moveTo>
                  <a:lnTo>
                    <a:pt x="2028878" y="5216336"/>
                  </a:lnTo>
                  <a:lnTo>
                    <a:pt x="17025" y="6385358"/>
                  </a:lnTo>
                  <a:lnTo>
                    <a:pt x="19748" y="1186047"/>
                  </a:lnTo>
                  <a:close/>
                </a:path>
              </a:pathLst>
            </a:custGeom>
            <a:gradFill>
              <a:gsLst>
                <a:gs pos="18000">
                  <a:schemeClr val="accent1">
                    <a:alpha val="0"/>
                    <a:lumMod val="99000"/>
                  </a:schemeClr>
                </a:gs>
                <a:gs pos="100000">
                  <a:srgbClr val="00B0F0"/>
                </a:gs>
              </a:gsLst>
              <a:lin ang="5400000" scaled="1"/>
            </a:gradFill>
            <a:ln w="12700" cap="flat">
              <a:gradFill>
                <a:gsLst>
                  <a:gs pos="0">
                    <a:schemeClr val="accent1">
                      <a:alpha val="0"/>
                    </a:schemeClr>
                  </a:gs>
                  <a:gs pos="100000">
                    <a:schemeClr val="accent1"/>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56" name="图形"/>
            <p:cNvSpPr txBox="1"/>
            <p:nvPr/>
          </p:nvSpPr>
          <p:spPr>
            <a:xfrm>
              <a:off x="13276" y="3152"/>
              <a:ext cx="4168" cy="921"/>
            </a:xfrm>
            <a:prstGeom prst="rect">
              <a:avLst/>
            </a:prstGeom>
            <a:noFill/>
          </p:spPr>
          <p:txBody>
            <a:bodyPr wrap="none" rtlCol="0">
              <a:spAutoFit/>
            </a:bodyPr>
            <a:lstStyle/>
            <a:p>
              <a:r>
                <a:rPr lang="zh-CN" altLang="en-US" sz="3200" noProof="0" dirty="0">
                  <a:ln>
                    <a:noFill/>
                  </a:ln>
                  <a:solidFill>
                    <a:schemeClr val="bg1"/>
                  </a:solidFill>
                  <a:effectLst/>
                  <a:uLnTx/>
                  <a:uFillTx/>
                  <a:cs typeface="+mn-ea"/>
                  <a:sym typeface="+mn-lt"/>
                </a:rPr>
                <a:t>软件功能展示</a:t>
              </a:r>
            </a:p>
          </p:txBody>
        </p:sp>
        <p:sp>
          <p:nvSpPr>
            <p:cNvPr id="57" name="图形"/>
            <p:cNvSpPr txBox="1"/>
            <p:nvPr/>
          </p:nvSpPr>
          <p:spPr>
            <a:xfrm>
              <a:off x="13276" y="5584"/>
              <a:ext cx="2876" cy="921"/>
            </a:xfrm>
            <a:prstGeom prst="rect">
              <a:avLst/>
            </a:prstGeom>
            <a:noFill/>
          </p:spPr>
          <p:txBody>
            <a:bodyPr wrap="none" rtlCol="0">
              <a:spAutoFit/>
            </a:bodyPr>
            <a:lstStyle/>
            <a:p>
              <a:r>
                <a:rPr lang="zh-CN" altLang="en-US" sz="3200" noProof="0" dirty="0">
                  <a:ln>
                    <a:noFill/>
                  </a:ln>
                  <a:solidFill>
                    <a:schemeClr val="bg1"/>
                  </a:solidFill>
                  <a:effectLst/>
                  <a:uLnTx/>
                  <a:uFillTx/>
                  <a:cs typeface="+mn-ea"/>
                  <a:sym typeface="+mn-lt"/>
                </a:rPr>
                <a:t>过程管理</a:t>
              </a:r>
            </a:p>
          </p:txBody>
        </p:sp>
        <p:sp>
          <p:nvSpPr>
            <p:cNvPr id="65" name="图形"/>
            <p:cNvSpPr txBox="1"/>
            <p:nvPr/>
          </p:nvSpPr>
          <p:spPr>
            <a:xfrm>
              <a:off x="11876" y="3012"/>
              <a:ext cx="1568" cy="1454"/>
            </a:xfrm>
            <a:prstGeom prst="rect">
              <a:avLst/>
            </a:prstGeom>
            <a:noFill/>
          </p:spPr>
          <p:txBody>
            <a:bodyPr wrap="none" rtlCol="0">
              <a:spAutoFit/>
            </a:bodyPr>
            <a:lstStyle/>
            <a:p>
              <a:r>
                <a:rPr lang="en-US" altLang="zh-CN" sz="5400">
                  <a:gradFill>
                    <a:gsLst>
                      <a:gs pos="55000">
                        <a:srgbClr val="37CEFF"/>
                      </a:gs>
                      <a:gs pos="85000">
                        <a:srgbClr val="161553">
                          <a:alpha val="0"/>
                        </a:srgbClr>
                      </a:gs>
                    </a:gsLst>
                    <a:lin ang="5400000" scaled="0"/>
                  </a:gradFill>
                  <a:cs typeface="+mn-ea"/>
                  <a:sym typeface="+mn-lt"/>
                </a:rPr>
                <a:t>02</a:t>
              </a:r>
            </a:p>
          </p:txBody>
        </p:sp>
        <p:sp>
          <p:nvSpPr>
            <p:cNvPr id="66" name="图形"/>
            <p:cNvSpPr txBox="1"/>
            <p:nvPr/>
          </p:nvSpPr>
          <p:spPr>
            <a:xfrm>
              <a:off x="11732" y="5330"/>
              <a:ext cx="1568" cy="1454"/>
            </a:xfrm>
            <a:prstGeom prst="rect">
              <a:avLst/>
            </a:prstGeom>
            <a:noFill/>
          </p:spPr>
          <p:txBody>
            <a:bodyPr wrap="none" rtlCol="0">
              <a:spAutoFit/>
            </a:bodyPr>
            <a:lstStyle/>
            <a:p>
              <a:r>
                <a:rPr lang="en-US" altLang="zh-CN" sz="5400">
                  <a:gradFill>
                    <a:gsLst>
                      <a:gs pos="55000">
                        <a:srgbClr val="37CEFF"/>
                      </a:gs>
                      <a:gs pos="85000">
                        <a:srgbClr val="161553">
                          <a:alpha val="0"/>
                        </a:srgbClr>
                      </a:gs>
                    </a:gsLst>
                    <a:lin ang="5400000" scaled="0"/>
                  </a:gradFill>
                  <a:cs typeface="+mn-ea"/>
                  <a:sym typeface="+mn-lt"/>
                </a:rPr>
                <a:t>04</a:t>
              </a:r>
            </a:p>
          </p:txBody>
        </p:sp>
      </p:grpSp>
      <p:grpSp>
        <p:nvGrpSpPr>
          <p:cNvPr id="4" name="组合 3"/>
          <p:cNvGrpSpPr/>
          <p:nvPr/>
        </p:nvGrpSpPr>
        <p:grpSpPr>
          <a:xfrm>
            <a:off x="4923155" y="2313305"/>
            <a:ext cx="2389505" cy="2067560"/>
            <a:chOff x="7753" y="3643"/>
            <a:chExt cx="3763" cy="3256"/>
          </a:xfrm>
        </p:grpSpPr>
        <p:grpSp>
          <p:nvGrpSpPr>
            <p:cNvPr id="2" name="组合 1"/>
            <p:cNvGrpSpPr/>
            <p:nvPr/>
          </p:nvGrpSpPr>
          <p:grpSpPr>
            <a:xfrm>
              <a:off x="7753" y="3643"/>
              <a:ext cx="3763" cy="1984"/>
              <a:chOff x="7753" y="3643"/>
              <a:chExt cx="3763" cy="1984"/>
            </a:xfrm>
          </p:grpSpPr>
          <p:sp>
            <p:nvSpPr>
              <p:cNvPr id="61" name="图形"/>
              <p:cNvSpPr txBox="1"/>
              <p:nvPr/>
            </p:nvSpPr>
            <p:spPr>
              <a:xfrm>
                <a:off x="7890" y="3643"/>
                <a:ext cx="3524" cy="1743"/>
              </a:xfrm>
              <a:prstGeom prst="rect">
                <a:avLst/>
              </a:prstGeom>
              <a:noFill/>
            </p:spPr>
            <p:txBody>
              <a:bodyPr wrap="square" rtlCol="0" anchor="t">
                <a:spAutoFit/>
              </a:bodyPr>
              <a:lstStyle/>
              <a:p>
                <a:pPr algn="dist"/>
                <a:r>
                  <a:rPr lang="zh-CN" altLang="en-US" sz="6600">
                    <a:gradFill>
                      <a:gsLst>
                        <a:gs pos="55000">
                          <a:srgbClr val="37CEFF"/>
                        </a:gs>
                        <a:gs pos="100000">
                          <a:srgbClr val="161553">
                            <a:alpha val="0"/>
                          </a:srgbClr>
                        </a:gs>
                      </a:gsLst>
                      <a:lin ang="5400000" scaled="0"/>
                    </a:gradFill>
                    <a:cs typeface="+mn-ea"/>
                    <a:sym typeface="+mn-lt"/>
                  </a:rPr>
                  <a:t>目录</a:t>
                </a:r>
              </a:p>
            </p:txBody>
          </p:sp>
          <p:sp>
            <p:nvSpPr>
              <p:cNvPr id="62" name="图形"/>
              <p:cNvSpPr txBox="1"/>
              <p:nvPr/>
            </p:nvSpPr>
            <p:spPr>
              <a:xfrm>
                <a:off x="7753" y="4706"/>
                <a:ext cx="3763" cy="921"/>
              </a:xfrm>
              <a:prstGeom prst="rect">
                <a:avLst/>
              </a:prstGeom>
              <a:noFill/>
            </p:spPr>
            <p:txBody>
              <a:bodyPr wrap="none" rtlCol="0" anchor="t">
                <a:spAutoFit/>
              </a:bodyPr>
              <a:lstStyle/>
              <a:p>
                <a:pPr algn="dist"/>
                <a:r>
                  <a:rPr lang="en-US" altLang="zh-CN" sz="3200">
                    <a:solidFill>
                      <a:schemeClr val="bg1"/>
                    </a:solidFill>
                    <a:cs typeface="+mn-ea"/>
                    <a:sym typeface="+mn-lt"/>
                  </a:rPr>
                  <a:t>CONTENTS</a:t>
                </a:r>
              </a:p>
            </p:txBody>
          </p:sp>
        </p:grpSp>
        <p:sp>
          <p:nvSpPr>
            <p:cNvPr id="67" name="图形"/>
            <p:cNvSpPr/>
            <p:nvPr/>
          </p:nvSpPr>
          <p:spPr>
            <a:xfrm flipV="1">
              <a:off x="8814" y="5811"/>
              <a:ext cx="1672" cy="1088"/>
            </a:xfrm>
            <a:prstGeom prst="triangle">
              <a:avLst/>
            </a:prstGeom>
            <a:gradFill>
              <a:gsLst>
                <a:gs pos="18000">
                  <a:schemeClr val="accent1">
                    <a:lumMod val="99000"/>
                    <a:alpha val="0"/>
                  </a:schemeClr>
                </a:gs>
                <a:gs pos="72000">
                  <a:srgbClr val="DBF7FF"/>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36" name="图形"/>
          <p:cNvGrpSpPr/>
          <p:nvPr/>
        </p:nvGrpSpPr>
        <p:grpSpPr>
          <a:xfrm>
            <a:off x="1008380" y="6420485"/>
            <a:ext cx="10398760" cy="78105"/>
            <a:chOff x="2151" y="9388"/>
            <a:chExt cx="15996" cy="120"/>
          </a:xfrm>
        </p:grpSpPr>
        <p:sp>
          <p:nvSpPr>
            <p:cNvPr id="17" name="图形"/>
            <p:cNvSpPr/>
            <p:nvPr/>
          </p:nvSpPr>
          <p:spPr>
            <a:xfrm flipH="1">
              <a:off x="6120"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18" name="图形"/>
            <p:cNvSpPr/>
            <p:nvPr/>
          </p:nvSpPr>
          <p:spPr>
            <a:xfrm flipH="1">
              <a:off x="7443"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19" name="图形"/>
            <p:cNvSpPr/>
            <p:nvPr/>
          </p:nvSpPr>
          <p:spPr>
            <a:xfrm flipH="1">
              <a:off x="8766"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20" name="图形"/>
            <p:cNvSpPr/>
            <p:nvPr/>
          </p:nvSpPr>
          <p:spPr>
            <a:xfrm flipH="1">
              <a:off x="10089"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5" name="图形"/>
            <p:cNvSpPr/>
            <p:nvPr/>
          </p:nvSpPr>
          <p:spPr>
            <a:xfrm flipH="1">
              <a:off x="11412"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6" name="图形"/>
            <p:cNvSpPr/>
            <p:nvPr/>
          </p:nvSpPr>
          <p:spPr>
            <a:xfrm flipH="1">
              <a:off x="12735"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8" name="图形"/>
            <p:cNvSpPr/>
            <p:nvPr/>
          </p:nvSpPr>
          <p:spPr>
            <a:xfrm flipH="1">
              <a:off x="14058"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10" name="图形"/>
            <p:cNvSpPr/>
            <p:nvPr/>
          </p:nvSpPr>
          <p:spPr>
            <a:xfrm flipH="1">
              <a:off x="15381"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11" name="图形"/>
            <p:cNvSpPr/>
            <p:nvPr/>
          </p:nvSpPr>
          <p:spPr>
            <a:xfrm flipH="1">
              <a:off x="16704"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13" name="图形"/>
            <p:cNvSpPr/>
            <p:nvPr/>
          </p:nvSpPr>
          <p:spPr>
            <a:xfrm flipH="1">
              <a:off x="18027"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27" name="图形"/>
            <p:cNvSpPr/>
            <p:nvPr/>
          </p:nvSpPr>
          <p:spPr>
            <a:xfrm flipH="1">
              <a:off x="2151"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34" name="图形"/>
            <p:cNvSpPr/>
            <p:nvPr/>
          </p:nvSpPr>
          <p:spPr>
            <a:xfrm flipH="1">
              <a:off x="3474"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35" name="图形"/>
            <p:cNvSpPr/>
            <p:nvPr/>
          </p:nvSpPr>
          <p:spPr>
            <a:xfrm flipH="1">
              <a:off x="4797"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grpSp>
      <p:grpSp>
        <p:nvGrpSpPr>
          <p:cNvPr id="22" name="图形"/>
          <p:cNvGrpSpPr/>
          <p:nvPr/>
        </p:nvGrpSpPr>
        <p:grpSpPr>
          <a:xfrm>
            <a:off x="1020445" y="692150"/>
            <a:ext cx="233680" cy="116840"/>
            <a:chOff x="7542330" y="1176595"/>
            <a:chExt cx="180020" cy="90010"/>
          </a:xfrm>
        </p:grpSpPr>
        <p:cxnSp>
          <p:nvCxnSpPr>
            <p:cNvPr id="23" name="图形"/>
            <p:cNvCxnSpPr/>
            <p:nvPr/>
          </p:nvCxnSpPr>
          <p:spPr>
            <a:xfrm>
              <a:off x="7542330" y="1176595"/>
              <a:ext cx="1800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图形"/>
            <p:cNvCxnSpPr/>
            <p:nvPr/>
          </p:nvCxnSpPr>
          <p:spPr>
            <a:xfrm>
              <a:off x="7542330" y="1221600"/>
              <a:ext cx="1800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图形"/>
            <p:cNvCxnSpPr/>
            <p:nvPr/>
          </p:nvCxnSpPr>
          <p:spPr>
            <a:xfrm>
              <a:off x="7542330" y="1266605"/>
              <a:ext cx="1800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43" name="图形"/>
          <p:cNvGrpSpPr/>
          <p:nvPr/>
        </p:nvGrpSpPr>
        <p:grpSpPr>
          <a:xfrm>
            <a:off x="6075680" y="2167255"/>
            <a:ext cx="103505" cy="702945"/>
            <a:chOff x="9993678" y="6703078"/>
            <a:chExt cx="81180" cy="553128"/>
          </a:xfrm>
        </p:grpSpPr>
        <p:cxnSp>
          <p:nvCxnSpPr>
            <p:cNvPr id="47" name="图形"/>
            <p:cNvCxnSpPr/>
            <p:nvPr/>
          </p:nvCxnSpPr>
          <p:spPr>
            <a:xfrm>
              <a:off x="10034268" y="6784258"/>
              <a:ext cx="0" cy="471948"/>
            </a:xfrm>
            <a:prstGeom prst="line">
              <a:avLst/>
            </a:prstGeom>
            <a:ln w="15875">
              <a:gradFill>
                <a:gsLst>
                  <a:gs pos="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8" name="图形"/>
            <p:cNvSpPr/>
            <p:nvPr/>
          </p:nvSpPr>
          <p:spPr>
            <a:xfrm>
              <a:off x="9993678" y="6703078"/>
              <a:ext cx="81180" cy="81180"/>
            </a:xfrm>
            <a:prstGeom prst="ellipse">
              <a:avLst/>
            </a:prstGeom>
            <a:solidFill>
              <a:srgbClr val="75BAF9"/>
            </a:solidFill>
            <a:ln>
              <a:noFill/>
            </a:ln>
            <a:effectLst>
              <a:glow rad="203200">
                <a:schemeClr val="accent1">
                  <a:alpha val="28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grpSp>
        <p:nvGrpSpPr>
          <p:cNvPr id="53" name="图形"/>
          <p:cNvGrpSpPr/>
          <p:nvPr/>
        </p:nvGrpSpPr>
        <p:grpSpPr>
          <a:xfrm>
            <a:off x="5334635" y="3830955"/>
            <a:ext cx="103505" cy="702945"/>
            <a:chOff x="9993678" y="6703078"/>
            <a:chExt cx="81180" cy="553128"/>
          </a:xfrm>
        </p:grpSpPr>
        <p:cxnSp>
          <p:nvCxnSpPr>
            <p:cNvPr id="58" name="图形"/>
            <p:cNvCxnSpPr/>
            <p:nvPr/>
          </p:nvCxnSpPr>
          <p:spPr>
            <a:xfrm>
              <a:off x="10034268" y="6784258"/>
              <a:ext cx="0" cy="471948"/>
            </a:xfrm>
            <a:prstGeom prst="line">
              <a:avLst/>
            </a:prstGeom>
            <a:ln w="15875">
              <a:gradFill>
                <a:gsLst>
                  <a:gs pos="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59" name="图形"/>
            <p:cNvSpPr/>
            <p:nvPr/>
          </p:nvSpPr>
          <p:spPr>
            <a:xfrm>
              <a:off x="9993678" y="6703078"/>
              <a:ext cx="81180" cy="81180"/>
            </a:xfrm>
            <a:prstGeom prst="ellipse">
              <a:avLst/>
            </a:prstGeom>
            <a:solidFill>
              <a:srgbClr val="75BAF9"/>
            </a:solidFill>
            <a:ln>
              <a:noFill/>
            </a:ln>
            <a:effectLst>
              <a:glow rad="203200">
                <a:schemeClr val="accent1">
                  <a:alpha val="28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grpSp>
        <p:nvGrpSpPr>
          <p:cNvPr id="60" name="图形"/>
          <p:cNvGrpSpPr/>
          <p:nvPr/>
        </p:nvGrpSpPr>
        <p:grpSpPr>
          <a:xfrm>
            <a:off x="6820535" y="3830955"/>
            <a:ext cx="103505" cy="702945"/>
            <a:chOff x="9993678" y="6703078"/>
            <a:chExt cx="81180" cy="553128"/>
          </a:xfrm>
        </p:grpSpPr>
        <p:cxnSp>
          <p:nvCxnSpPr>
            <p:cNvPr id="71" name="图形"/>
            <p:cNvCxnSpPr/>
            <p:nvPr/>
          </p:nvCxnSpPr>
          <p:spPr>
            <a:xfrm>
              <a:off x="10034268" y="6784258"/>
              <a:ext cx="0" cy="471948"/>
            </a:xfrm>
            <a:prstGeom prst="line">
              <a:avLst/>
            </a:prstGeom>
            <a:ln w="15875">
              <a:gradFill>
                <a:gsLst>
                  <a:gs pos="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72" name="图形"/>
            <p:cNvSpPr/>
            <p:nvPr/>
          </p:nvSpPr>
          <p:spPr>
            <a:xfrm>
              <a:off x="9993678" y="6703078"/>
              <a:ext cx="81180" cy="81180"/>
            </a:xfrm>
            <a:prstGeom prst="ellipse">
              <a:avLst/>
            </a:prstGeom>
            <a:solidFill>
              <a:srgbClr val="75BAF9"/>
            </a:solidFill>
            <a:ln>
              <a:noFill/>
            </a:ln>
            <a:effectLst>
              <a:glow rad="203200">
                <a:schemeClr val="accent1">
                  <a:alpha val="28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spTree>
    <p:custDataLst>
      <p:tags r:id="rId1"/>
    </p:custDataLst>
  </p:cSld>
  <p:clrMapOvr>
    <a:masterClrMapping/>
  </p:clrMapOvr>
  <p:transition>
    <p:wheel spokes="2"/>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形" descr="E:\006包图网\素材\商务渐变\60215ca3e2090.jpg60215ca3e2090"/>
          <p:cNvPicPr>
            <a:picLocks noChangeAspect="1"/>
          </p:cNvPicPr>
          <p:nvPr/>
        </p:nvPicPr>
        <p:blipFill>
          <a:blip r:embed="rId4" cstate="screen"/>
          <a:srcRect/>
          <a:stretch>
            <a:fillRect/>
          </a:stretch>
        </p:blipFill>
        <p:spPr>
          <a:xfrm flipH="1">
            <a:off x="-97790" y="635"/>
            <a:ext cx="12343765" cy="6857365"/>
          </a:xfrm>
          <a:prstGeom prst="rect">
            <a:avLst/>
          </a:prstGeom>
        </p:spPr>
      </p:pic>
      <p:sp>
        <p:nvSpPr>
          <p:cNvPr id="26" name="图形"/>
          <p:cNvSpPr/>
          <p:nvPr/>
        </p:nvSpPr>
        <p:spPr>
          <a:xfrm>
            <a:off x="-97155" y="635"/>
            <a:ext cx="12342495" cy="6858000"/>
          </a:xfrm>
          <a:prstGeom prst="rect">
            <a:avLst/>
          </a:prstGeom>
          <a:gradFill>
            <a:gsLst>
              <a:gs pos="15000">
                <a:srgbClr val="070588">
                  <a:alpha val="0"/>
                </a:srgbClr>
              </a:gs>
              <a:gs pos="41000">
                <a:srgbClr val="070588">
                  <a:alpha val="100000"/>
                </a:srgbClr>
              </a:gs>
              <a:gs pos="67000">
                <a:srgbClr val="070588">
                  <a:alpha val="37000"/>
                </a:srgbClr>
              </a:gs>
            </a:gsLst>
            <a:lin ang="162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7" name="图形"/>
          <p:cNvGrpSpPr/>
          <p:nvPr/>
        </p:nvGrpSpPr>
        <p:grpSpPr>
          <a:xfrm>
            <a:off x="2072640" y="1228725"/>
            <a:ext cx="8841740" cy="3616960"/>
            <a:chOff x="3264" y="1935"/>
            <a:chExt cx="13924" cy="5696"/>
          </a:xfrm>
        </p:grpSpPr>
        <p:sp>
          <p:nvSpPr>
            <p:cNvPr id="6" name="图形"/>
            <p:cNvSpPr txBox="1"/>
            <p:nvPr/>
          </p:nvSpPr>
          <p:spPr>
            <a:xfrm>
              <a:off x="3264" y="4179"/>
              <a:ext cx="13924" cy="1890"/>
            </a:xfrm>
            <a:prstGeom prst="rect">
              <a:avLst/>
            </a:prstGeom>
            <a:noFill/>
          </p:spPr>
          <p:txBody>
            <a:bodyPr wrap="square" rtlCol="0">
              <a:spAutoFit/>
            </a:bodyPr>
            <a:lstStyle/>
            <a:p>
              <a:pPr algn="ctr"/>
              <a:r>
                <a:rPr lang="zh-CN" altLang="en-US" sz="7200" b="1" noProof="0" dirty="0">
                  <a:ln>
                    <a:noFill/>
                  </a:ln>
                  <a:solidFill>
                    <a:schemeClr val="bg1"/>
                  </a:solidFill>
                  <a:effectLst/>
                  <a:uLnTx/>
                  <a:uFillTx/>
                  <a:cs typeface="+mn-ea"/>
                  <a:sym typeface="+mn-lt"/>
                </a:rPr>
                <a:t>选题动机与技术方案</a:t>
              </a:r>
            </a:p>
          </p:txBody>
        </p:sp>
        <p:sp>
          <p:nvSpPr>
            <p:cNvPr id="7" name="图形"/>
            <p:cNvSpPr txBox="1"/>
            <p:nvPr/>
          </p:nvSpPr>
          <p:spPr>
            <a:xfrm>
              <a:off x="5044" y="5910"/>
              <a:ext cx="9531" cy="530"/>
            </a:xfrm>
            <a:prstGeom prst="rect">
              <a:avLst/>
            </a:prstGeom>
            <a:noFill/>
          </p:spPr>
          <p:txBody>
            <a:bodyPr wrap="square" rtlCol="0">
              <a:spAutoFit/>
            </a:bodyPr>
            <a:lstStyle/>
            <a:p>
              <a:pPr marL="0" marR="0" lvl="0" indent="0" algn="ctr" defTabSz="913765" rtl="0" eaLnBrk="1" fontAlgn="auto" latinLnBrk="0" hangingPunct="1">
                <a:lnSpc>
                  <a:spcPct val="150000"/>
                </a:lnSpc>
                <a:spcBef>
                  <a:spcPts val="0"/>
                </a:spcBef>
                <a:spcAft>
                  <a:spcPts val="0"/>
                </a:spcAft>
                <a:buClrTx/>
                <a:buSzPct val="25000"/>
                <a:buFontTx/>
                <a:buNone/>
                <a:defRPr/>
              </a:pPr>
              <a:r>
                <a:rPr lang="zh-CN" altLang="en-US" sz="1200" kern="0" dirty="0">
                  <a:solidFill>
                    <a:schemeClr val="bg1">
                      <a:alpha val="83000"/>
                    </a:schemeClr>
                  </a:solidFill>
                  <a:uFillTx/>
                  <a:cs typeface="+mn-ea"/>
                  <a:sym typeface="+mn-lt"/>
                </a:rPr>
                <a:t>我们要解决什么</a:t>
              </a:r>
              <a:endParaRPr lang="en-US" altLang="zh-CN" sz="1200" kern="0" dirty="0">
                <a:solidFill>
                  <a:schemeClr val="bg1">
                    <a:alpha val="83000"/>
                  </a:schemeClr>
                </a:solidFill>
                <a:uFillTx/>
                <a:cs typeface="+mn-ea"/>
                <a:sym typeface="+mn-lt"/>
              </a:endParaRPr>
            </a:p>
          </p:txBody>
        </p:sp>
        <p:sp>
          <p:nvSpPr>
            <p:cNvPr id="9" name="图形"/>
            <p:cNvSpPr txBox="1"/>
            <p:nvPr/>
          </p:nvSpPr>
          <p:spPr>
            <a:xfrm>
              <a:off x="7838" y="1935"/>
              <a:ext cx="4224" cy="4168"/>
            </a:xfrm>
            <a:prstGeom prst="rect">
              <a:avLst/>
            </a:prstGeom>
            <a:noFill/>
          </p:spPr>
          <p:txBody>
            <a:bodyPr wrap="none" rtlCol="0">
              <a:spAutoFit/>
            </a:bodyPr>
            <a:lstStyle/>
            <a:p>
              <a:r>
                <a:rPr lang="zh-CN" altLang="en-US" sz="16600" dirty="0">
                  <a:gradFill>
                    <a:gsLst>
                      <a:gs pos="39000">
                        <a:srgbClr val="37CEFF"/>
                      </a:gs>
                      <a:gs pos="74000">
                        <a:srgbClr val="161553">
                          <a:alpha val="0"/>
                        </a:srgbClr>
                      </a:gs>
                    </a:gsLst>
                    <a:lin ang="5400000" scaled="0"/>
                  </a:gradFill>
                  <a:cs typeface="+mn-ea"/>
                  <a:sym typeface="+mn-lt"/>
                </a:rPr>
                <a:t>01</a:t>
              </a:r>
            </a:p>
          </p:txBody>
        </p:sp>
        <p:grpSp>
          <p:nvGrpSpPr>
            <p:cNvPr id="3" name="组合 2"/>
            <p:cNvGrpSpPr/>
            <p:nvPr/>
          </p:nvGrpSpPr>
          <p:grpSpPr>
            <a:xfrm rot="10800000">
              <a:off x="9439" y="7404"/>
              <a:ext cx="996" cy="227"/>
              <a:chOff x="9270" y="2823"/>
              <a:chExt cx="799" cy="182"/>
            </a:xfrm>
            <a:solidFill>
              <a:schemeClr val="bg1"/>
            </a:solidFill>
          </p:grpSpPr>
          <p:sp>
            <p:nvSpPr>
              <p:cNvPr id="71" name="图形"/>
              <p:cNvSpPr/>
              <p:nvPr/>
            </p:nvSpPr>
            <p:spPr>
              <a:xfrm>
                <a:off x="9270" y="2823"/>
                <a:ext cx="183" cy="183"/>
              </a:xfrm>
              <a:prstGeom prst="ellipse">
                <a:avLst/>
              </a:prstGeom>
              <a:solidFill>
                <a:srgbClr val="75BAF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lumMod val="100000"/>
                    </a:prstClr>
                  </a:solidFill>
                  <a:effectLst/>
                  <a:uLnTx/>
                  <a:uFillTx/>
                  <a:cs typeface="+mn-ea"/>
                  <a:sym typeface="+mn-lt"/>
                </a:endParaRPr>
              </a:p>
            </p:txBody>
          </p:sp>
          <p:sp>
            <p:nvSpPr>
              <p:cNvPr id="72" name="图形"/>
              <p:cNvSpPr/>
              <p:nvPr/>
            </p:nvSpPr>
            <p:spPr>
              <a:xfrm>
                <a:off x="9578" y="2823"/>
                <a:ext cx="183" cy="183"/>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lumMod val="100000"/>
                    </a:prstClr>
                  </a:solidFill>
                  <a:effectLst/>
                  <a:uLnTx/>
                  <a:uFillTx/>
                  <a:cs typeface="+mn-ea"/>
                  <a:sym typeface="+mn-lt"/>
                </a:endParaRPr>
              </a:p>
            </p:txBody>
          </p:sp>
          <p:sp>
            <p:nvSpPr>
              <p:cNvPr id="65" name="图形"/>
              <p:cNvSpPr/>
              <p:nvPr/>
            </p:nvSpPr>
            <p:spPr>
              <a:xfrm>
                <a:off x="9887" y="2823"/>
                <a:ext cx="183" cy="183"/>
              </a:xfrm>
              <a:prstGeom prst="ellipse">
                <a:avLst/>
              </a:prstGeom>
              <a:solidFill>
                <a:srgbClr val="75BA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grpSp>
      <p:grpSp>
        <p:nvGrpSpPr>
          <p:cNvPr id="32" name="图形"/>
          <p:cNvGrpSpPr/>
          <p:nvPr/>
        </p:nvGrpSpPr>
        <p:grpSpPr>
          <a:xfrm>
            <a:off x="1020445" y="692150"/>
            <a:ext cx="10289540" cy="300990"/>
            <a:chOff x="1607" y="1090"/>
            <a:chExt cx="16204" cy="474"/>
          </a:xfrm>
        </p:grpSpPr>
        <p:grpSp>
          <p:nvGrpSpPr>
            <p:cNvPr id="22" name="图形"/>
            <p:cNvGrpSpPr/>
            <p:nvPr/>
          </p:nvGrpSpPr>
          <p:grpSpPr>
            <a:xfrm>
              <a:off x="1607" y="1090"/>
              <a:ext cx="368" cy="184"/>
              <a:chOff x="7542330" y="1176595"/>
              <a:chExt cx="180020" cy="90010"/>
            </a:xfrm>
          </p:grpSpPr>
          <p:cxnSp>
            <p:nvCxnSpPr>
              <p:cNvPr id="23" name="图形"/>
              <p:cNvCxnSpPr/>
              <p:nvPr/>
            </p:nvCxnSpPr>
            <p:spPr>
              <a:xfrm>
                <a:off x="7542330" y="1176595"/>
                <a:ext cx="1800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 name="图形"/>
              <p:cNvCxnSpPr/>
              <p:nvPr/>
            </p:nvCxnSpPr>
            <p:spPr>
              <a:xfrm>
                <a:off x="7542330" y="1221600"/>
                <a:ext cx="1800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图形"/>
              <p:cNvCxnSpPr/>
              <p:nvPr/>
            </p:nvCxnSpPr>
            <p:spPr>
              <a:xfrm>
                <a:off x="7542330" y="1266605"/>
                <a:ext cx="1800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4" name="图形"/>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7188" y="1182"/>
              <a:ext cx="623" cy="382"/>
            </a:xfrm>
            <a:prstGeom prst="rect">
              <a:avLst/>
            </a:prstGeom>
          </p:spPr>
        </p:pic>
      </p:grpSp>
      <p:grpSp>
        <p:nvGrpSpPr>
          <p:cNvPr id="36" name="图形"/>
          <p:cNvGrpSpPr/>
          <p:nvPr/>
        </p:nvGrpSpPr>
        <p:grpSpPr>
          <a:xfrm flipV="1">
            <a:off x="2750185" y="6318250"/>
            <a:ext cx="8757920" cy="76200"/>
            <a:chOff x="2151" y="9388"/>
            <a:chExt cx="15996" cy="120"/>
          </a:xfrm>
        </p:grpSpPr>
        <p:sp>
          <p:nvSpPr>
            <p:cNvPr id="17" name="图形"/>
            <p:cNvSpPr/>
            <p:nvPr/>
          </p:nvSpPr>
          <p:spPr>
            <a:xfrm flipH="1">
              <a:off x="6120"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18" name="图形"/>
            <p:cNvSpPr/>
            <p:nvPr/>
          </p:nvSpPr>
          <p:spPr>
            <a:xfrm flipH="1">
              <a:off x="7443"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19" name="图形"/>
            <p:cNvSpPr/>
            <p:nvPr/>
          </p:nvSpPr>
          <p:spPr>
            <a:xfrm flipH="1">
              <a:off x="8766"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20" name="图形"/>
            <p:cNvSpPr/>
            <p:nvPr/>
          </p:nvSpPr>
          <p:spPr>
            <a:xfrm flipH="1">
              <a:off x="10089"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21" name="图形"/>
            <p:cNvSpPr/>
            <p:nvPr/>
          </p:nvSpPr>
          <p:spPr>
            <a:xfrm flipH="1">
              <a:off x="11412"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5" name="图形"/>
            <p:cNvSpPr/>
            <p:nvPr/>
          </p:nvSpPr>
          <p:spPr>
            <a:xfrm flipH="1">
              <a:off x="12735"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8" name="图形"/>
            <p:cNvSpPr/>
            <p:nvPr/>
          </p:nvSpPr>
          <p:spPr>
            <a:xfrm flipH="1">
              <a:off x="14058"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10" name="图形"/>
            <p:cNvSpPr/>
            <p:nvPr/>
          </p:nvSpPr>
          <p:spPr>
            <a:xfrm flipH="1">
              <a:off x="15381"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15" name="图形"/>
            <p:cNvSpPr/>
            <p:nvPr/>
          </p:nvSpPr>
          <p:spPr>
            <a:xfrm flipH="1">
              <a:off x="16704"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11" name="图形"/>
            <p:cNvSpPr/>
            <p:nvPr/>
          </p:nvSpPr>
          <p:spPr>
            <a:xfrm flipH="1">
              <a:off x="18027"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27" name="图形"/>
            <p:cNvSpPr/>
            <p:nvPr/>
          </p:nvSpPr>
          <p:spPr>
            <a:xfrm flipH="1">
              <a:off x="2151"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34" name="图形"/>
            <p:cNvSpPr/>
            <p:nvPr/>
          </p:nvSpPr>
          <p:spPr>
            <a:xfrm flipH="1">
              <a:off x="3474"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35" name="图形"/>
            <p:cNvSpPr/>
            <p:nvPr/>
          </p:nvSpPr>
          <p:spPr>
            <a:xfrm flipH="1">
              <a:off x="4797"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grpSp>
      <p:grpSp>
        <p:nvGrpSpPr>
          <p:cNvPr id="33" name="图形"/>
          <p:cNvGrpSpPr/>
          <p:nvPr/>
        </p:nvGrpSpPr>
        <p:grpSpPr>
          <a:xfrm>
            <a:off x="1493520" y="1847850"/>
            <a:ext cx="9018270" cy="1553210"/>
            <a:chOff x="2352" y="2910"/>
            <a:chExt cx="14202" cy="2446"/>
          </a:xfrm>
        </p:grpSpPr>
        <p:grpSp>
          <p:nvGrpSpPr>
            <p:cNvPr id="100" name="图形"/>
            <p:cNvGrpSpPr/>
            <p:nvPr/>
          </p:nvGrpSpPr>
          <p:grpSpPr>
            <a:xfrm>
              <a:off x="14829" y="3072"/>
              <a:ext cx="163" cy="1107"/>
              <a:chOff x="9993678" y="6703078"/>
              <a:chExt cx="81180" cy="553128"/>
            </a:xfrm>
          </p:grpSpPr>
          <p:cxnSp>
            <p:nvCxnSpPr>
              <p:cNvPr id="101" name="图形"/>
              <p:cNvCxnSpPr/>
              <p:nvPr/>
            </p:nvCxnSpPr>
            <p:spPr>
              <a:xfrm>
                <a:off x="10034268" y="6784258"/>
                <a:ext cx="0" cy="471948"/>
              </a:xfrm>
              <a:prstGeom prst="line">
                <a:avLst/>
              </a:prstGeom>
              <a:ln w="15875">
                <a:gradFill>
                  <a:gsLst>
                    <a:gs pos="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02" name="图形"/>
              <p:cNvSpPr/>
              <p:nvPr/>
            </p:nvSpPr>
            <p:spPr>
              <a:xfrm>
                <a:off x="9993678" y="6703078"/>
                <a:ext cx="81180" cy="81180"/>
              </a:xfrm>
              <a:prstGeom prst="ellipse">
                <a:avLst/>
              </a:prstGeom>
              <a:solidFill>
                <a:srgbClr val="75BAF9"/>
              </a:solidFill>
              <a:ln>
                <a:noFill/>
              </a:ln>
              <a:effectLst>
                <a:glow rad="203200">
                  <a:schemeClr val="accent1">
                    <a:alpha val="28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grpSp>
          <p:nvGrpSpPr>
            <p:cNvPr id="12" name="图形"/>
            <p:cNvGrpSpPr/>
            <p:nvPr/>
          </p:nvGrpSpPr>
          <p:grpSpPr>
            <a:xfrm>
              <a:off x="4352" y="2910"/>
              <a:ext cx="163" cy="1107"/>
              <a:chOff x="9993678" y="6703078"/>
              <a:chExt cx="81180" cy="553128"/>
            </a:xfrm>
          </p:grpSpPr>
          <p:cxnSp>
            <p:nvCxnSpPr>
              <p:cNvPr id="13" name="图形"/>
              <p:cNvCxnSpPr/>
              <p:nvPr/>
            </p:nvCxnSpPr>
            <p:spPr>
              <a:xfrm>
                <a:off x="10034268" y="6784258"/>
                <a:ext cx="0" cy="471948"/>
              </a:xfrm>
              <a:prstGeom prst="line">
                <a:avLst/>
              </a:prstGeom>
              <a:ln w="15875">
                <a:gradFill>
                  <a:gsLst>
                    <a:gs pos="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4" name="图形"/>
              <p:cNvSpPr/>
              <p:nvPr/>
            </p:nvSpPr>
            <p:spPr>
              <a:xfrm>
                <a:off x="9993678" y="6703078"/>
                <a:ext cx="81180" cy="81180"/>
              </a:xfrm>
              <a:prstGeom prst="ellipse">
                <a:avLst/>
              </a:prstGeom>
              <a:solidFill>
                <a:srgbClr val="75BAF9"/>
              </a:solidFill>
              <a:ln>
                <a:noFill/>
              </a:ln>
              <a:effectLst>
                <a:glow rad="203200">
                  <a:schemeClr val="accent1">
                    <a:alpha val="28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grpSp>
          <p:nvGrpSpPr>
            <p:cNvPr id="16" name="图形"/>
            <p:cNvGrpSpPr/>
            <p:nvPr/>
          </p:nvGrpSpPr>
          <p:grpSpPr>
            <a:xfrm>
              <a:off x="2352" y="4250"/>
              <a:ext cx="163" cy="1107"/>
              <a:chOff x="9993678" y="6703078"/>
              <a:chExt cx="81180" cy="553128"/>
            </a:xfrm>
          </p:grpSpPr>
          <p:cxnSp>
            <p:nvCxnSpPr>
              <p:cNvPr id="24" name="图形"/>
              <p:cNvCxnSpPr/>
              <p:nvPr/>
            </p:nvCxnSpPr>
            <p:spPr>
              <a:xfrm>
                <a:off x="10034268" y="6784258"/>
                <a:ext cx="0" cy="471948"/>
              </a:xfrm>
              <a:prstGeom prst="line">
                <a:avLst/>
              </a:prstGeom>
              <a:ln w="15875">
                <a:gradFill>
                  <a:gsLst>
                    <a:gs pos="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8" name="图形"/>
              <p:cNvSpPr/>
              <p:nvPr/>
            </p:nvSpPr>
            <p:spPr>
              <a:xfrm>
                <a:off x="9993678" y="6703078"/>
                <a:ext cx="81180" cy="81180"/>
              </a:xfrm>
              <a:prstGeom prst="ellipse">
                <a:avLst/>
              </a:prstGeom>
              <a:solidFill>
                <a:srgbClr val="75BAF9"/>
              </a:solidFill>
              <a:ln>
                <a:noFill/>
              </a:ln>
              <a:effectLst>
                <a:glow rad="203200">
                  <a:schemeClr val="accent1">
                    <a:alpha val="28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grpSp>
          <p:nvGrpSpPr>
            <p:cNvPr id="29" name="图形"/>
            <p:cNvGrpSpPr/>
            <p:nvPr/>
          </p:nvGrpSpPr>
          <p:grpSpPr>
            <a:xfrm>
              <a:off x="16392" y="4250"/>
              <a:ext cx="163" cy="1107"/>
              <a:chOff x="9993678" y="6703078"/>
              <a:chExt cx="81180" cy="553128"/>
            </a:xfrm>
          </p:grpSpPr>
          <p:cxnSp>
            <p:nvCxnSpPr>
              <p:cNvPr id="30" name="图形"/>
              <p:cNvCxnSpPr/>
              <p:nvPr/>
            </p:nvCxnSpPr>
            <p:spPr>
              <a:xfrm>
                <a:off x="10034268" y="6784258"/>
                <a:ext cx="0" cy="471948"/>
              </a:xfrm>
              <a:prstGeom prst="line">
                <a:avLst/>
              </a:prstGeom>
              <a:ln w="15875">
                <a:gradFill>
                  <a:gsLst>
                    <a:gs pos="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31" name="图形"/>
              <p:cNvSpPr/>
              <p:nvPr/>
            </p:nvSpPr>
            <p:spPr>
              <a:xfrm>
                <a:off x="9993678" y="6703078"/>
                <a:ext cx="81180" cy="81180"/>
              </a:xfrm>
              <a:prstGeom prst="ellipse">
                <a:avLst/>
              </a:prstGeom>
              <a:solidFill>
                <a:srgbClr val="75BAF9"/>
              </a:solidFill>
              <a:ln>
                <a:noFill/>
              </a:ln>
              <a:effectLst>
                <a:glow rad="203200">
                  <a:schemeClr val="accent1">
                    <a:alpha val="28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grpSp>
    </p:spTree>
    <p:custDataLst>
      <p:tags r:id="rId1"/>
    </p:custData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000" fill="hold">
                                          <p:stCondLst>
                                            <p:cond delay="0"/>
                                          </p:stCondLst>
                                        </p:cTn>
                                        <p:tgtEl>
                                          <p:spTgt spid="32"/>
                                        </p:tgtEl>
                                        <p:attrNameLst>
                                          <p:attrName>style.visibility</p:attrName>
                                        </p:attrNameLst>
                                      </p:cBhvr>
                                      <p:to>
                                        <p:strVal val="visible"/>
                                      </p:to>
                                    </p:set>
                                    <p:animEffect transition="in" filter="barn(inVertical)">
                                      <p:cBhvr>
                                        <p:cTn id="7" dur="1000"/>
                                        <p:tgtEl>
                                          <p:spTgt spid="32"/>
                                        </p:tgtEl>
                                      </p:cBhvr>
                                    </p:animEffect>
                                  </p:childTnLst>
                                </p:cTn>
                              </p:par>
                            </p:childTnLst>
                          </p:cTn>
                        </p:par>
                        <p:par>
                          <p:cTn id="8" fill="hold">
                            <p:stCondLst>
                              <p:cond delay="1000"/>
                            </p:stCondLst>
                            <p:childTnLst>
                              <p:par>
                                <p:cTn id="9" presetID="13" presetClass="entr" presetSubtype="16" fill="hold" nodeType="afterEffect">
                                  <p:stCondLst>
                                    <p:cond delay="0"/>
                                  </p:stCondLst>
                                  <p:childTnLst>
                                    <p:set>
                                      <p:cBhvr>
                                        <p:cTn id="10" dur="500" fill="hold">
                                          <p:stCondLst>
                                            <p:cond delay="0"/>
                                          </p:stCondLst>
                                        </p:cTn>
                                        <p:tgtEl>
                                          <p:spTgt spid="37"/>
                                        </p:tgtEl>
                                        <p:attrNameLst>
                                          <p:attrName>style.visibility</p:attrName>
                                        </p:attrNameLst>
                                      </p:cBhvr>
                                      <p:to>
                                        <p:strVal val="visible"/>
                                      </p:to>
                                    </p:set>
                                    <p:animEffect transition="in" filter="plus(in)">
                                      <p:cBhvr>
                                        <p:cTn id="11" dur="500"/>
                                        <p:tgtEl>
                                          <p:spTgt spid="37"/>
                                        </p:tgtEl>
                                      </p:cBhvr>
                                    </p:animEffect>
                                  </p:childTnLst>
                                </p:cTn>
                              </p:par>
                            </p:childTnLst>
                          </p:cTn>
                        </p:par>
                        <p:par>
                          <p:cTn id="12" fill="hold">
                            <p:stCondLst>
                              <p:cond delay="1500"/>
                            </p:stCondLst>
                            <p:childTnLst>
                              <p:par>
                                <p:cTn id="13" presetID="3" presetClass="entr" presetSubtype="10" fill="hold" nodeType="afterEffect">
                                  <p:stCondLst>
                                    <p:cond delay="0"/>
                                  </p:stCondLst>
                                  <p:childTnLst>
                                    <p:set>
                                      <p:cBhvr>
                                        <p:cTn id="14" dur="1" fill="hold">
                                          <p:stCondLst>
                                            <p:cond delay="0"/>
                                          </p:stCondLst>
                                        </p:cTn>
                                        <p:tgtEl>
                                          <p:spTgt spid="36"/>
                                        </p:tgtEl>
                                        <p:attrNameLst>
                                          <p:attrName>style.visibility</p:attrName>
                                        </p:attrNameLst>
                                      </p:cBhvr>
                                      <p:to>
                                        <p:strVal val="visible"/>
                                      </p:to>
                                    </p:set>
                                    <p:animEffect transition="in" filter="blinds(horizontal)">
                                      <p:cBhvr>
                                        <p:cTn id="15" dur="500"/>
                                        <p:tgtEl>
                                          <p:spTgt spid="36"/>
                                        </p:tgtEl>
                                      </p:cBhvr>
                                    </p:animEffect>
                                  </p:childTnLst>
                                </p:cTn>
                              </p:par>
                            </p:childTnLst>
                          </p:cTn>
                        </p:par>
                        <p:par>
                          <p:cTn id="16" fill="hold">
                            <p:stCondLst>
                              <p:cond delay="2000"/>
                            </p:stCondLst>
                            <p:childTnLst>
                              <p:par>
                                <p:cTn id="17" presetID="3" presetClass="entr" presetSubtype="10" fill="hold" nodeType="after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blinds(horizontal)">
                                      <p:cBhvr>
                                        <p:cTn id="19"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71500" y="381000"/>
            <a:ext cx="11049000" cy="381000"/>
          </a:xfrm>
          <a:prstGeom prst="rect">
            <a:avLst/>
          </a:prstGeom>
          <a:noFill/>
          <a:ln/>
        </p:spPr>
        <p:txBody>
          <a:bodyPr wrap="none" lIns="0" tIns="0" rIns="0" bIns="0" rtlCol="0" anchor="t"/>
          <a:lstStyle/>
          <a:p>
            <a:pPr defTabSz="685800">
              <a:lnSpc>
                <a:spcPct val="130000"/>
              </a:lnSpc>
            </a:pPr>
            <a:r>
              <a:rPr lang="en-US" sz="2100" b="1" dirty="0">
                <a:solidFill>
                  <a:srgbClr val="3B82F6"/>
                </a:solidFill>
                <a:latin typeface="Liter" pitchFamily="34" charset="0"/>
                <a:ea typeface="Liter" pitchFamily="34" charset="-122"/>
                <a:cs typeface="Liter" pitchFamily="34" charset="-120"/>
              </a:rPr>
              <a:t>Q1：秒杀系统的痛点是什么？</a:t>
            </a:r>
            <a:endParaRPr lang="en-US" sz="2100" dirty="0">
              <a:solidFill>
                <a:srgbClr val="000000"/>
              </a:solidFill>
              <a:latin typeface="Calibri" panose="020F0502020204030204"/>
            </a:endParaRPr>
          </a:p>
        </p:txBody>
      </p:sp>
      <p:sp>
        <p:nvSpPr>
          <p:cNvPr id="3" name="Shape 1"/>
          <p:cNvSpPr/>
          <p:nvPr/>
        </p:nvSpPr>
        <p:spPr>
          <a:xfrm>
            <a:off x="571500" y="809625"/>
            <a:ext cx="571500" cy="38100"/>
          </a:xfrm>
          <a:prstGeom prst="rect">
            <a:avLst/>
          </a:prstGeom>
          <a:solidFill>
            <a:srgbClr val="3B82F6"/>
          </a:solidFill>
          <a:ln/>
        </p:spPr>
        <p:txBody>
          <a:bodyPr/>
          <a:lstStyle/>
          <a:p>
            <a:pPr defTabSz="685800"/>
            <a:endParaRPr lang="zh-CN" altLang="en-US" sz="1350">
              <a:solidFill>
                <a:srgbClr val="000000"/>
              </a:solidFill>
              <a:latin typeface="Calibri" panose="020F0502020204030204"/>
              <a:ea typeface="等线" panose="02010600030101010101" pitchFamily="2" charset="-122"/>
            </a:endParaRPr>
          </a:p>
        </p:txBody>
      </p:sp>
      <p:sp>
        <p:nvSpPr>
          <p:cNvPr id="4" name="Text 2"/>
          <p:cNvSpPr/>
          <p:nvPr/>
        </p:nvSpPr>
        <p:spPr>
          <a:xfrm>
            <a:off x="571500" y="1333500"/>
            <a:ext cx="4572000" cy="3238500"/>
          </a:xfrm>
          <a:prstGeom prst="rect">
            <a:avLst/>
          </a:prstGeom>
          <a:noFill/>
          <a:ln/>
        </p:spPr>
        <p:txBody>
          <a:bodyPr wrap="square" lIns="0" tIns="0" rIns="0" bIns="0" rtlCol="0" anchor="t"/>
          <a:lstStyle/>
          <a:p>
            <a:pPr defTabSz="685800">
              <a:lnSpc>
                <a:spcPct val="160000"/>
              </a:lnSpc>
            </a:pPr>
            <a:r>
              <a:rPr lang="en-US" sz="1350" dirty="0">
                <a:solidFill>
                  <a:srgbClr val="1F2937"/>
                </a:solidFill>
                <a:latin typeface="Liter" pitchFamily="34" charset="0"/>
                <a:ea typeface="Liter" pitchFamily="34" charset="-122"/>
                <a:cs typeface="Liter" pitchFamily="34" charset="-120"/>
              </a:rPr>
              <a:t>秒杀开启瞬间，请求量远超服务器处理能力</a:t>
            </a:r>
            <a:endParaRPr lang="en-US" sz="1350" dirty="0">
              <a:solidFill>
                <a:srgbClr val="000000"/>
              </a:solidFill>
              <a:latin typeface="Calibri" panose="020F0502020204030204"/>
            </a:endParaRPr>
          </a:p>
          <a:p>
            <a:pPr defTabSz="685800">
              <a:lnSpc>
                <a:spcPct val="160000"/>
              </a:lnSpc>
              <a:spcBef>
                <a:spcPts val="1800"/>
              </a:spcBef>
            </a:pPr>
            <a:r>
              <a:rPr lang="en-US" sz="1350" dirty="0">
                <a:solidFill>
                  <a:srgbClr val="1F2937"/>
                </a:solidFill>
                <a:latin typeface="Liter" pitchFamily="34" charset="0"/>
                <a:ea typeface="Liter" pitchFamily="34" charset="-122"/>
                <a:cs typeface="Liter" pitchFamily="34" charset="-120"/>
              </a:rPr>
              <a:t>数据库锁争抢、库存超卖、系统崩溃</a:t>
            </a:r>
            <a:endParaRPr lang="en-US" sz="1350" dirty="0">
              <a:solidFill>
                <a:srgbClr val="000000"/>
              </a:solidFill>
              <a:latin typeface="Calibri" panose="020F0502020204030204"/>
            </a:endParaRPr>
          </a:p>
          <a:p>
            <a:pPr defTabSz="685800">
              <a:lnSpc>
                <a:spcPct val="160000"/>
              </a:lnSpc>
              <a:spcBef>
                <a:spcPts val="1800"/>
              </a:spcBef>
            </a:pPr>
            <a:r>
              <a:rPr lang="en-US" sz="1350" dirty="0">
                <a:solidFill>
                  <a:srgbClr val="1F2937"/>
                </a:solidFill>
                <a:latin typeface="Liter" pitchFamily="34" charset="0"/>
                <a:ea typeface="Liter" pitchFamily="34" charset="-122"/>
                <a:cs typeface="Liter" pitchFamily="34" charset="-120"/>
              </a:rPr>
              <a:t>本质是</a:t>
            </a:r>
            <a:r>
              <a:rPr lang="en-US" sz="1350" b="1" dirty="0">
                <a:solidFill>
                  <a:srgbClr val="EF4444"/>
                </a:solidFill>
                <a:latin typeface="Liter" pitchFamily="34" charset="0"/>
                <a:ea typeface="Liter" pitchFamily="34" charset="-122"/>
                <a:cs typeface="Liter" pitchFamily="34" charset="-120"/>
              </a:rPr>
              <a:t>资源稀缺</a:t>
            </a:r>
            <a:r>
              <a:rPr lang="en-US" sz="1350" dirty="0">
                <a:solidFill>
                  <a:srgbClr val="1F2937"/>
                </a:solidFill>
                <a:latin typeface="Liter" pitchFamily="34" charset="0"/>
                <a:ea typeface="Liter" pitchFamily="34" charset="-122"/>
                <a:cs typeface="Liter" pitchFamily="34" charset="-120"/>
              </a:rPr>
              <a:t>加</a:t>
            </a:r>
            <a:r>
              <a:rPr lang="en-US" sz="1350" b="1" dirty="0">
                <a:solidFill>
                  <a:srgbClr val="EF4444"/>
                </a:solidFill>
                <a:latin typeface="Liter" pitchFamily="34" charset="0"/>
                <a:ea typeface="Liter" pitchFamily="34" charset="-122"/>
                <a:cs typeface="Liter" pitchFamily="34" charset="-120"/>
              </a:rPr>
              <a:t>高并发竞争</a:t>
            </a:r>
            <a:endParaRPr lang="en-US" sz="1350" dirty="0">
              <a:solidFill>
                <a:srgbClr val="000000"/>
              </a:solidFill>
              <a:latin typeface="Calibri" panose="020F0502020204030204"/>
            </a:endParaRPr>
          </a:p>
        </p:txBody>
      </p:sp>
      <p:pic>
        <p:nvPicPr>
          <p:cNvPr id="5" name="Image 0" descr="https://kimi-img.moonshot.cn/pub/slides/okc/c26ulxynikn5k/mnt/agents/output/tech-highlights/images/%E6%B5%81%E9%87%8F%E8%84%89%E5%86%B2%20vs%20%E5%A4%84%E7%90%86%E8%83%BD%E5%8A%9B%E9%9D%A2%E7%A7%AF%E5%9B%BE.jpg"/>
          <p:cNvPicPr>
            <a:picLocks noChangeAspect="1"/>
          </p:cNvPicPr>
          <p:nvPr/>
        </p:nvPicPr>
        <p:blipFill>
          <a:blip r:embed="rId3"/>
          <a:srcRect/>
          <a:stretch/>
        </p:blipFill>
        <p:spPr>
          <a:xfrm>
            <a:off x="5524500" y="1143000"/>
            <a:ext cx="6096000" cy="4572000"/>
          </a:xfrm>
          <a:prstGeom prst="roundRect">
            <a:avLst>
              <a:gd name="adj" fmla="val 8000"/>
            </a:avLst>
          </a:prstGeom>
        </p:spPr>
      </p:pic>
      <p:sp>
        <p:nvSpPr>
          <p:cNvPr id="6" name="Shape 3"/>
          <p:cNvSpPr/>
          <p:nvPr/>
        </p:nvSpPr>
        <p:spPr>
          <a:xfrm>
            <a:off x="5524500" y="1143000"/>
            <a:ext cx="6096000" cy="4572000"/>
          </a:xfrm>
          <a:prstGeom prst="roundRect">
            <a:avLst>
              <a:gd name="adj" fmla="val 8000"/>
            </a:avLst>
          </a:prstGeom>
          <a:solidFill>
            <a:srgbClr val="FFFFFF">
              <a:alpha val="0"/>
            </a:srgbClr>
          </a:solidFill>
          <a:ln w="12700">
            <a:solidFill>
              <a:srgbClr val="E2E8F0"/>
            </a:solidFill>
            <a:prstDash val="solid"/>
          </a:ln>
        </p:spPr>
        <p:txBody>
          <a:bodyPr/>
          <a:lstStyle/>
          <a:p>
            <a:pPr defTabSz="685800"/>
            <a:endParaRPr lang="zh-CN" altLang="en-US" sz="1350">
              <a:solidFill>
                <a:srgbClr val="000000"/>
              </a:solidFill>
              <a:latin typeface="Calibri" panose="020F0502020204030204"/>
              <a:ea typeface="等线" panose="02010600030101010101" pitchFamily="2" charset="-122"/>
            </a:endParaRP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71500" y="381000"/>
            <a:ext cx="11049000" cy="381000"/>
          </a:xfrm>
          <a:prstGeom prst="rect">
            <a:avLst/>
          </a:prstGeom>
          <a:noFill/>
          <a:ln/>
        </p:spPr>
        <p:txBody>
          <a:bodyPr wrap="none" lIns="0" tIns="0" rIns="0" bIns="0" rtlCol="0" anchor="t"/>
          <a:lstStyle/>
          <a:p>
            <a:pPr defTabSz="685800">
              <a:lnSpc>
                <a:spcPct val="130000"/>
              </a:lnSpc>
            </a:pPr>
            <a:r>
              <a:rPr lang="en-US" sz="2100" b="1" dirty="0">
                <a:solidFill>
                  <a:srgbClr val="3B82F6"/>
                </a:solidFill>
                <a:latin typeface="Liter" pitchFamily="34" charset="0"/>
                <a:ea typeface="Liter" pitchFamily="34" charset="-122"/>
                <a:cs typeface="Liter" pitchFamily="34" charset="-120"/>
              </a:rPr>
              <a:t>Q2：加机器就能解决吗？</a:t>
            </a:r>
            <a:endParaRPr lang="en-US" sz="2100" dirty="0">
              <a:solidFill>
                <a:srgbClr val="000000"/>
              </a:solidFill>
              <a:latin typeface="Calibri" panose="020F0502020204030204"/>
            </a:endParaRPr>
          </a:p>
        </p:txBody>
      </p:sp>
      <p:sp>
        <p:nvSpPr>
          <p:cNvPr id="3" name="Shape 1"/>
          <p:cNvSpPr/>
          <p:nvPr/>
        </p:nvSpPr>
        <p:spPr>
          <a:xfrm>
            <a:off x="571500" y="809625"/>
            <a:ext cx="571500" cy="38100"/>
          </a:xfrm>
          <a:prstGeom prst="rect">
            <a:avLst/>
          </a:prstGeom>
          <a:solidFill>
            <a:srgbClr val="3B82F6"/>
          </a:solidFill>
          <a:ln/>
        </p:spPr>
        <p:txBody>
          <a:bodyPr/>
          <a:lstStyle/>
          <a:p>
            <a:pPr defTabSz="685800"/>
            <a:endParaRPr lang="zh-CN" altLang="en-US" sz="1350">
              <a:solidFill>
                <a:srgbClr val="000000"/>
              </a:solidFill>
              <a:latin typeface="Calibri" panose="020F0502020204030204"/>
              <a:ea typeface="等线" panose="02010600030101010101" pitchFamily="2" charset="-122"/>
            </a:endParaRPr>
          </a:p>
        </p:txBody>
      </p:sp>
      <p:pic>
        <p:nvPicPr>
          <p:cNvPr id="4" name="Image 0" descr="https://kimi-img.moonshot.cn/pub/slides/okc/c26ulxynikn5k/mnt/agents/output/tech-highlights/images/%E5%8D%95%E6%9C%BA%20%E2%86%92%20%E5%A4%9A%E6%9C%BA%E6%BC%94%E8%BF%9B%E7%A4%BA%E6%84%8F.jpg"/>
          <p:cNvPicPr>
            <a:picLocks noChangeAspect="1"/>
          </p:cNvPicPr>
          <p:nvPr/>
        </p:nvPicPr>
        <p:blipFill>
          <a:blip r:embed="rId3"/>
          <a:srcRect/>
          <a:stretch/>
        </p:blipFill>
        <p:spPr>
          <a:xfrm>
            <a:off x="571500" y="1143000"/>
            <a:ext cx="6096000" cy="4572000"/>
          </a:xfrm>
          <a:prstGeom prst="roundRect">
            <a:avLst>
              <a:gd name="adj" fmla="val 8000"/>
            </a:avLst>
          </a:prstGeom>
        </p:spPr>
      </p:pic>
      <p:sp>
        <p:nvSpPr>
          <p:cNvPr id="5" name="Shape 2"/>
          <p:cNvSpPr/>
          <p:nvPr/>
        </p:nvSpPr>
        <p:spPr>
          <a:xfrm>
            <a:off x="571500" y="1143000"/>
            <a:ext cx="6096000" cy="4572000"/>
          </a:xfrm>
          <a:prstGeom prst="roundRect">
            <a:avLst>
              <a:gd name="adj" fmla="val 8000"/>
            </a:avLst>
          </a:prstGeom>
          <a:solidFill>
            <a:srgbClr val="FFFFFF">
              <a:alpha val="0"/>
            </a:srgbClr>
          </a:solidFill>
          <a:ln w="12700">
            <a:solidFill>
              <a:srgbClr val="E2E8F0"/>
            </a:solidFill>
            <a:prstDash val="solid"/>
          </a:ln>
        </p:spPr>
        <p:txBody>
          <a:bodyPr/>
          <a:lstStyle/>
          <a:p>
            <a:pPr defTabSz="685800"/>
            <a:endParaRPr lang="zh-CN" altLang="en-US" sz="1350">
              <a:solidFill>
                <a:srgbClr val="000000"/>
              </a:solidFill>
              <a:latin typeface="Calibri" panose="020F0502020204030204"/>
              <a:ea typeface="等线" panose="02010600030101010101" pitchFamily="2" charset="-122"/>
            </a:endParaRPr>
          </a:p>
        </p:txBody>
      </p:sp>
      <p:sp>
        <p:nvSpPr>
          <p:cNvPr id="6" name="Text 3"/>
          <p:cNvSpPr/>
          <p:nvPr/>
        </p:nvSpPr>
        <p:spPr>
          <a:xfrm>
            <a:off x="7048500" y="1524000"/>
            <a:ext cx="4572000" cy="3238500"/>
          </a:xfrm>
          <a:prstGeom prst="rect">
            <a:avLst/>
          </a:prstGeom>
          <a:noFill/>
          <a:ln/>
        </p:spPr>
        <p:txBody>
          <a:bodyPr wrap="square" lIns="0" tIns="0" rIns="0" bIns="0" rtlCol="0" anchor="t"/>
          <a:lstStyle/>
          <a:p>
            <a:pPr defTabSz="685800">
              <a:lnSpc>
                <a:spcPct val="160000"/>
              </a:lnSpc>
            </a:pPr>
            <a:r>
              <a:rPr lang="en-US" sz="1350" dirty="0">
                <a:solidFill>
                  <a:srgbClr val="1F2937"/>
                </a:solidFill>
                <a:latin typeface="Liter" pitchFamily="34" charset="0"/>
                <a:ea typeface="Liter" pitchFamily="34" charset="-122"/>
                <a:cs typeface="Liter" pitchFamily="34" charset="-120"/>
              </a:rPr>
              <a:t>加机器是对的，也就是</a:t>
            </a:r>
            <a:r>
              <a:rPr lang="en-US" sz="1350" b="1" dirty="0">
                <a:solidFill>
                  <a:srgbClr val="22C55E"/>
                </a:solidFill>
                <a:latin typeface="Liter" pitchFamily="34" charset="0"/>
                <a:ea typeface="Liter" pitchFamily="34" charset="-122"/>
                <a:cs typeface="Liter" pitchFamily="34" charset="-120"/>
              </a:rPr>
              <a:t>横向扩展</a:t>
            </a:r>
            <a:r>
              <a:rPr lang="en-US" sz="1350" dirty="0">
                <a:solidFill>
                  <a:srgbClr val="1F2937"/>
                </a:solidFill>
                <a:latin typeface="Liter" pitchFamily="34" charset="0"/>
                <a:ea typeface="Liter" pitchFamily="34" charset="-122"/>
                <a:cs typeface="Liter" pitchFamily="34" charset="-120"/>
              </a:rPr>
              <a:t>（Scale Out）</a:t>
            </a:r>
            <a:endParaRPr lang="en-US" sz="1350" dirty="0">
              <a:solidFill>
                <a:srgbClr val="000000"/>
              </a:solidFill>
              <a:latin typeface="Calibri" panose="020F0502020204030204"/>
            </a:endParaRPr>
          </a:p>
          <a:p>
            <a:pPr defTabSz="685800">
              <a:lnSpc>
                <a:spcPct val="160000"/>
              </a:lnSpc>
              <a:spcBef>
                <a:spcPts val="1800"/>
              </a:spcBef>
            </a:pPr>
            <a:r>
              <a:rPr lang="en-US" sz="1350" dirty="0">
                <a:solidFill>
                  <a:srgbClr val="1F2937"/>
                </a:solidFill>
                <a:latin typeface="Liter" pitchFamily="34" charset="0"/>
                <a:ea typeface="Liter" pitchFamily="34" charset="-122"/>
                <a:cs typeface="Liter" pitchFamily="34" charset="-120"/>
              </a:rPr>
              <a:t>但多台机器带来了新问题：</a:t>
            </a:r>
            <a:endParaRPr lang="en-US" sz="1350" dirty="0">
              <a:solidFill>
                <a:srgbClr val="000000"/>
              </a:solidFill>
              <a:latin typeface="Calibri" panose="020F0502020204030204"/>
            </a:endParaRPr>
          </a:p>
          <a:p>
            <a:pPr defTabSz="685800">
              <a:lnSpc>
                <a:spcPct val="160000"/>
              </a:lnSpc>
              <a:spcBef>
                <a:spcPts val="900"/>
              </a:spcBef>
            </a:pPr>
            <a:r>
              <a:rPr lang="en-US" sz="1350" dirty="0">
                <a:solidFill>
                  <a:srgbClr val="1F2937"/>
                </a:solidFill>
                <a:latin typeface="Liter" pitchFamily="34" charset="0"/>
                <a:ea typeface="Liter" pitchFamily="34" charset="-122"/>
                <a:cs typeface="Liter" pitchFamily="34" charset="-120"/>
              </a:rPr>
              <a:t>• 怎么协作？</a:t>
            </a:r>
            <a:endParaRPr lang="en-US" sz="1350" dirty="0">
              <a:solidFill>
                <a:srgbClr val="000000"/>
              </a:solidFill>
              <a:latin typeface="Calibri" panose="020F0502020204030204"/>
            </a:endParaRPr>
          </a:p>
          <a:p>
            <a:pPr defTabSz="685800">
              <a:lnSpc>
                <a:spcPct val="160000"/>
              </a:lnSpc>
              <a:spcBef>
                <a:spcPts val="600"/>
              </a:spcBef>
            </a:pPr>
            <a:r>
              <a:rPr lang="en-US" sz="1350" dirty="0">
                <a:solidFill>
                  <a:srgbClr val="1F2937"/>
                </a:solidFill>
                <a:latin typeface="Liter" pitchFamily="34" charset="0"/>
                <a:ea typeface="Liter" pitchFamily="34" charset="-122"/>
                <a:cs typeface="Liter" pitchFamily="34" charset="-120"/>
              </a:rPr>
              <a:t>• 状态放哪？</a:t>
            </a:r>
            <a:endParaRPr lang="en-US" sz="1350" dirty="0">
              <a:solidFill>
                <a:srgbClr val="000000"/>
              </a:solidFill>
              <a:latin typeface="Calibri" panose="020F0502020204030204"/>
            </a:endParaRPr>
          </a:p>
          <a:p>
            <a:pPr defTabSz="685800">
              <a:lnSpc>
                <a:spcPct val="160000"/>
              </a:lnSpc>
              <a:spcBef>
                <a:spcPts val="600"/>
              </a:spcBef>
            </a:pPr>
            <a:r>
              <a:rPr lang="en-US" sz="1350" dirty="0">
                <a:solidFill>
                  <a:srgbClr val="1F2937"/>
                </a:solidFill>
                <a:latin typeface="Liter" pitchFamily="34" charset="0"/>
                <a:ea typeface="Liter" pitchFamily="34" charset="-122"/>
                <a:cs typeface="Liter" pitchFamily="34" charset="-120"/>
              </a:rPr>
              <a:t>• 谁来调度？</a:t>
            </a:r>
            <a:endParaRPr lang="en-US" sz="1350" dirty="0">
              <a:solidFill>
                <a:srgbClr val="000000"/>
              </a:solidFill>
              <a:latin typeface="Calibri" panose="020F0502020204030204"/>
            </a:endParaRPr>
          </a:p>
          <a:p>
            <a:pPr defTabSz="685800">
              <a:lnSpc>
                <a:spcPct val="160000"/>
              </a:lnSpc>
              <a:spcBef>
                <a:spcPts val="1800"/>
              </a:spcBef>
            </a:pPr>
            <a:r>
              <a:rPr lang="en-US" sz="1350" dirty="0">
                <a:solidFill>
                  <a:srgbClr val="1F2937"/>
                </a:solidFill>
                <a:latin typeface="Liter" pitchFamily="34" charset="0"/>
                <a:ea typeface="Liter" pitchFamily="34" charset="-122"/>
                <a:cs typeface="Liter" pitchFamily="34" charset="-120"/>
              </a:rPr>
              <a:t>这才是我们项目真正要解决的事</a:t>
            </a:r>
            <a:endParaRPr lang="en-US" sz="1350" dirty="0">
              <a:solidFill>
                <a:srgbClr val="000000"/>
              </a:solidFill>
              <a:latin typeface="Calibri" panose="020F0502020204030204"/>
            </a:endParaRP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71500" y="381000"/>
            <a:ext cx="11049000" cy="381000"/>
          </a:xfrm>
          <a:prstGeom prst="rect">
            <a:avLst/>
          </a:prstGeom>
          <a:noFill/>
          <a:ln/>
        </p:spPr>
        <p:txBody>
          <a:bodyPr wrap="none" lIns="0" tIns="0" rIns="0" bIns="0" rtlCol="0" anchor="t"/>
          <a:lstStyle/>
          <a:p>
            <a:pPr defTabSz="685800">
              <a:lnSpc>
                <a:spcPct val="130000"/>
              </a:lnSpc>
            </a:pPr>
            <a:r>
              <a:rPr lang="en-US" sz="2100" b="1" dirty="0">
                <a:solidFill>
                  <a:srgbClr val="3B82F6"/>
                </a:solidFill>
                <a:latin typeface="Liter" pitchFamily="34" charset="0"/>
                <a:ea typeface="Liter" pitchFamily="34" charset="-122"/>
                <a:cs typeface="Liter" pitchFamily="34" charset="-120"/>
              </a:rPr>
              <a:t>Q3a：现有方案能直接用吗？（竞品定位）</a:t>
            </a:r>
            <a:endParaRPr lang="en-US" sz="2100" dirty="0">
              <a:solidFill>
                <a:srgbClr val="000000"/>
              </a:solidFill>
              <a:latin typeface="Calibri" panose="020F0502020204030204"/>
            </a:endParaRPr>
          </a:p>
        </p:txBody>
      </p:sp>
      <p:sp>
        <p:nvSpPr>
          <p:cNvPr id="3" name="Shape 1"/>
          <p:cNvSpPr/>
          <p:nvPr/>
        </p:nvSpPr>
        <p:spPr>
          <a:xfrm>
            <a:off x="571500" y="809625"/>
            <a:ext cx="571500" cy="38100"/>
          </a:xfrm>
          <a:prstGeom prst="rect">
            <a:avLst/>
          </a:prstGeom>
          <a:solidFill>
            <a:srgbClr val="3B82F6"/>
          </a:solidFill>
          <a:ln/>
        </p:spPr>
        <p:txBody>
          <a:bodyPr/>
          <a:lstStyle/>
          <a:p>
            <a:pPr defTabSz="685800"/>
            <a:endParaRPr lang="zh-CN" altLang="en-US" sz="1350">
              <a:solidFill>
                <a:srgbClr val="000000"/>
              </a:solidFill>
              <a:latin typeface="Calibri" panose="020F0502020204030204"/>
              <a:ea typeface="等线" panose="02010600030101010101" pitchFamily="2" charset="-122"/>
            </a:endParaRPr>
          </a:p>
        </p:txBody>
      </p:sp>
      <p:graphicFrame>
        <p:nvGraphicFramePr>
          <p:cNvPr id="4" name="Table 0"/>
          <p:cNvGraphicFramePr>
            <a:graphicFrameLocks noGrp="1"/>
          </p:cNvGraphicFramePr>
          <p:nvPr/>
        </p:nvGraphicFramePr>
        <p:xfrm>
          <a:off x="571500" y="1000125"/>
          <a:ext cx="11049000" cy="2190750"/>
        </p:xfrm>
        <a:graphic>
          <a:graphicData uri="http://schemas.openxmlformats.org/drawingml/2006/table">
            <a:tbl>
              <a:tblPr/>
              <a:tblGrid>
                <a:gridCol w="3093720">
                  <a:extLst>
                    <a:ext uri="{9D8B030D-6E8A-4147-A177-3AD203B41FA5}">
                      <a16:colId xmlns:a16="http://schemas.microsoft.com/office/drawing/2014/main" val="20000"/>
                    </a:ext>
                  </a:extLst>
                </a:gridCol>
                <a:gridCol w="1988820">
                  <a:extLst>
                    <a:ext uri="{9D8B030D-6E8A-4147-A177-3AD203B41FA5}">
                      <a16:colId xmlns:a16="http://schemas.microsoft.com/office/drawing/2014/main" val="20001"/>
                    </a:ext>
                  </a:extLst>
                </a:gridCol>
                <a:gridCol w="2983230">
                  <a:extLst>
                    <a:ext uri="{9D8B030D-6E8A-4147-A177-3AD203B41FA5}">
                      <a16:colId xmlns:a16="http://schemas.microsoft.com/office/drawing/2014/main" val="20002"/>
                    </a:ext>
                  </a:extLst>
                </a:gridCol>
                <a:gridCol w="2983230">
                  <a:extLst>
                    <a:ext uri="{9D8B030D-6E8A-4147-A177-3AD203B41FA5}">
                      <a16:colId xmlns:a16="http://schemas.microsoft.com/office/drawing/2014/main" val="20003"/>
                    </a:ext>
                  </a:extLst>
                </a:gridCol>
              </a:tblGrid>
              <a:tr h="438150">
                <a:tc>
                  <a:txBody>
                    <a:bodyPr/>
                    <a:lstStyle/>
                    <a:p>
                      <a:pPr algn="ctr"/>
                      <a:r>
                        <a:rPr lang="en-US" sz="1100" b="1" dirty="0">
                          <a:solidFill>
                            <a:srgbClr val="FFFFFF"/>
                          </a:solidFill>
                          <a:latin typeface="Liter" pitchFamily="34" charset="0"/>
                          <a:ea typeface="Liter" pitchFamily="34" charset="-122"/>
                          <a:cs typeface="Liter" pitchFamily="34" charset="-120"/>
                        </a:rPr>
                        <a:t>方案</a:t>
                      </a:r>
                      <a:endParaRPr lang="en-US" sz="1100" dirty="0">
                        <a:latin typeface="Liter" charset="0"/>
                        <a:ea typeface="Liter" charset="0"/>
                        <a:cs typeface="Liter" charset="0"/>
                      </a:endParaRPr>
                    </a:p>
                  </a:txBody>
                  <a:tcPr marL="41148" marR="41148"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3B82F6"/>
                    </a:solidFill>
                  </a:tcPr>
                </a:tc>
                <a:tc>
                  <a:txBody>
                    <a:bodyPr/>
                    <a:lstStyle/>
                    <a:p>
                      <a:pPr algn="ctr"/>
                      <a:r>
                        <a:rPr lang="en-US" sz="1100" b="1" dirty="0">
                          <a:solidFill>
                            <a:srgbClr val="FFFFFF"/>
                          </a:solidFill>
                          <a:latin typeface="Liter" pitchFamily="34" charset="0"/>
                          <a:ea typeface="Liter" pitchFamily="34" charset="-122"/>
                          <a:cs typeface="Liter" pitchFamily="34" charset="-120"/>
                        </a:rPr>
                        <a:t>部署复杂度</a:t>
                      </a:r>
                      <a:endParaRPr lang="en-US" sz="1100" dirty="0">
                        <a:latin typeface="Liter" charset="0"/>
                        <a:ea typeface="Liter" charset="0"/>
                        <a:cs typeface="Liter" charset="0"/>
                      </a:endParaRPr>
                    </a:p>
                  </a:txBody>
                  <a:tcPr marL="41148" marR="41148"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3B82F6"/>
                    </a:solidFill>
                  </a:tcPr>
                </a:tc>
                <a:tc>
                  <a:txBody>
                    <a:bodyPr/>
                    <a:lstStyle/>
                    <a:p>
                      <a:pPr algn="ctr"/>
                      <a:r>
                        <a:rPr lang="en-US" sz="1100" b="1" dirty="0">
                          <a:solidFill>
                            <a:srgbClr val="FFFFFF"/>
                          </a:solidFill>
                          <a:latin typeface="Liter" pitchFamily="34" charset="0"/>
                          <a:ea typeface="Liter" pitchFamily="34" charset="-122"/>
                          <a:cs typeface="Liter" pitchFamily="34" charset="-120"/>
                        </a:rPr>
                        <a:t>资源分配抽象</a:t>
                      </a:r>
                      <a:endParaRPr lang="en-US" sz="1100" dirty="0">
                        <a:latin typeface="Liter" charset="0"/>
                        <a:ea typeface="Liter" charset="0"/>
                        <a:cs typeface="Liter" charset="0"/>
                      </a:endParaRPr>
                    </a:p>
                  </a:txBody>
                  <a:tcPr marL="41148" marR="41148"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3B82F6"/>
                    </a:solidFill>
                  </a:tcPr>
                </a:tc>
                <a:tc>
                  <a:txBody>
                    <a:bodyPr/>
                    <a:lstStyle/>
                    <a:p>
                      <a:pPr algn="ctr"/>
                      <a:r>
                        <a:rPr lang="en-US" sz="1100" b="1" dirty="0">
                          <a:solidFill>
                            <a:srgbClr val="FFFFFF"/>
                          </a:solidFill>
                          <a:latin typeface="Liter" pitchFamily="34" charset="0"/>
                          <a:ea typeface="Liter" pitchFamily="34" charset="-122"/>
                          <a:cs typeface="Liter" pitchFamily="34" charset="-120"/>
                        </a:rPr>
                        <a:t>自治伸缩</a:t>
                      </a:r>
                      <a:endParaRPr lang="en-US" sz="1100" dirty="0">
                        <a:latin typeface="Liter" charset="0"/>
                        <a:ea typeface="Liter" charset="0"/>
                        <a:cs typeface="Liter" charset="0"/>
                      </a:endParaRPr>
                    </a:p>
                  </a:txBody>
                  <a:tcPr marL="41148" marR="41148"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3B82F6"/>
                    </a:solidFill>
                  </a:tcPr>
                </a:tc>
                <a:extLst>
                  <a:ext uri="{0D108BD9-81ED-4DB2-BD59-A6C34878D82A}">
                    <a16:rowId xmlns:a16="http://schemas.microsoft.com/office/drawing/2014/main" val="10000"/>
                  </a:ext>
                </a:extLst>
              </a:tr>
              <a:tr h="438150">
                <a:tc>
                  <a:txBody>
                    <a:bodyPr/>
                    <a:lstStyle/>
                    <a:p>
                      <a:pPr algn="ctr"/>
                      <a:r>
                        <a:rPr lang="en-US" sz="1100" dirty="0">
                          <a:solidFill>
                            <a:srgbClr val="1F2937"/>
                          </a:solidFill>
                          <a:latin typeface="Liter" pitchFamily="34" charset="0"/>
                          <a:ea typeface="Liter" pitchFamily="34" charset="-122"/>
                          <a:cs typeface="Liter" pitchFamily="34" charset="-120"/>
                        </a:rPr>
                        <a:t>K8s + HPA</a:t>
                      </a:r>
                      <a:endParaRPr lang="en-US" sz="1100" dirty="0">
                        <a:latin typeface="Liter" charset="0"/>
                        <a:ea typeface="Liter" charset="0"/>
                        <a:cs typeface="Liter" charset="0"/>
                      </a:endParaRPr>
                    </a:p>
                  </a:txBody>
                  <a:tcPr marL="41148" marR="41148"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100" dirty="0">
                          <a:solidFill>
                            <a:srgbClr val="1F2937"/>
                          </a:solidFill>
                          <a:latin typeface="Liter" pitchFamily="34" charset="0"/>
                          <a:ea typeface="Liter" pitchFamily="34" charset="-122"/>
                          <a:cs typeface="Liter" pitchFamily="34" charset="-120"/>
                        </a:rPr>
                        <a:t>重型</a:t>
                      </a:r>
                      <a:endParaRPr lang="en-US" sz="1100" dirty="0">
                        <a:latin typeface="Liter" charset="0"/>
                        <a:ea typeface="Liter" charset="0"/>
                        <a:cs typeface="Liter" charset="0"/>
                      </a:endParaRPr>
                    </a:p>
                  </a:txBody>
                  <a:tcPr marL="41148" marR="41148"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100" dirty="0">
                          <a:solidFill>
                            <a:srgbClr val="1F2937"/>
                          </a:solidFill>
                          <a:latin typeface="Liter" pitchFamily="34" charset="0"/>
                          <a:ea typeface="Liter" pitchFamily="34" charset="-122"/>
                          <a:cs typeface="Liter" pitchFamily="34" charset="-120"/>
                        </a:rPr>
                        <a:t>无（实例级调度）</a:t>
                      </a:r>
                      <a:endParaRPr lang="en-US" sz="1100" dirty="0">
                        <a:latin typeface="Liter" charset="0"/>
                        <a:ea typeface="Liter" charset="0"/>
                        <a:cs typeface="Liter" charset="0"/>
                      </a:endParaRPr>
                    </a:p>
                  </a:txBody>
                  <a:tcPr marL="41148" marR="41148"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100" dirty="0">
                          <a:solidFill>
                            <a:srgbClr val="1F2937"/>
                          </a:solidFill>
                          <a:latin typeface="Liter" pitchFamily="34" charset="0"/>
                          <a:ea typeface="Liter" pitchFamily="34" charset="-122"/>
                          <a:cs typeface="Liter" pitchFamily="34" charset="-120"/>
                        </a:rPr>
                        <a:t>有</a:t>
                      </a:r>
                      <a:endParaRPr lang="en-US" sz="1100" dirty="0">
                        <a:latin typeface="Liter" charset="0"/>
                        <a:ea typeface="Liter" charset="0"/>
                        <a:cs typeface="Liter" charset="0"/>
                      </a:endParaRPr>
                    </a:p>
                  </a:txBody>
                  <a:tcPr marL="41148" marR="41148"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150">
                <a:tc>
                  <a:txBody>
                    <a:bodyPr/>
                    <a:lstStyle/>
                    <a:p>
                      <a:pPr algn="ctr"/>
                      <a:r>
                        <a:rPr lang="en-US" sz="1100" dirty="0">
                          <a:solidFill>
                            <a:srgbClr val="1F2937"/>
                          </a:solidFill>
                          <a:latin typeface="Liter" pitchFamily="34" charset="0"/>
                          <a:ea typeface="Liter" pitchFamily="34" charset="-122"/>
                          <a:cs typeface="Liter" pitchFamily="34" charset="-120"/>
                        </a:rPr>
                        <a:t>Sentinel / Resilience4j</a:t>
                      </a:r>
                      <a:endParaRPr lang="en-US" sz="1100" dirty="0">
                        <a:latin typeface="Liter" charset="0"/>
                        <a:ea typeface="Liter" charset="0"/>
                        <a:cs typeface="Liter" charset="0"/>
                      </a:endParaRPr>
                    </a:p>
                  </a:txBody>
                  <a:tcPr marL="41148" marR="41148"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c>
                  <a:txBody>
                    <a:bodyPr/>
                    <a:lstStyle/>
                    <a:p>
                      <a:pPr algn="ctr"/>
                      <a:r>
                        <a:rPr lang="en-US" sz="1100" dirty="0">
                          <a:solidFill>
                            <a:srgbClr val="1F2937"/>
                          </a:solidFill>
                          <a:latin typeface="Liter" pitchFamily="34" charset="0"/>
                          <a:ea typeface="Liter" pitchFamily="34" charset="-122"/>
                          <a:cs typeface="Liter" pitchFamily="34" charset="-120"/>
                        </a:rPr>
                        <a:t>轻量</a:t>
                      </a:r>
                      <a:endParaRPr lang="en-US" sz="1100" dirty="0">
                        <a:latin typeface="Liter" charset="0"/>
                        <a:ea typeface="Liter" charset="0"/>
                        <a:cs typeface="Liter" charset="0"/>
                      </a:endParaRPr>
                    </a:p>
                  </a:txBody>
                  <a:tcPr marL="41148" marR="41148"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c>
                  <a:txBody>
                    <a:bodyPr/>
                    <a:lstStyle/>
                    <a:p>
                      <a:pPr algn="ctr"/>
                      <a:r>
                        <a:rPr lang="en-US" sz="1100" dirty="0">
                          <a:solidFill>
                            <a:srgbClr val="1F2937"/>
                          </a:solidFill>
                          <a:latin typeface="Liter" pitchFamily="34" charset="0"/>
                          <a:ea typeface="Liter" pitchFamily="34" charset="-122"/>
                          <a:cs typeface="Liter" pitchFamily="34" charset="-120"/>
                        </a:rPr>
                        <a:t>无（仅流量控制）</a:t>
                      </a:r>
                      <a:endParaRPr lang="en-US" sz="1100" dirty="0">
                        <a:latin typeface="Liter" charset="0"/>
                        <a:ea typeface="Liter" charset="0"/>
                        <a:cs typeface="Liter" charset="0"/>
                      </a:endParaRPr>
                    </a:p>
                  </a:txBody>
                  <a:tcPr marL="41148" marR="41148"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c>
                  <a:txBody>
                    <a:bodyPr/>
                    <a:lstStyle/>
                    <a:p>
                      <a:pPr algn="ctr"/>
                      <a:r>
                        <a:rPr lang="en-US" sz="1100" dirty="0">
                          <a:solidFill>
                            <a:srgbClr val="EF4444"/>
                          </a:solidFill>
                          <a:latin typeface="Liter" pitchFamily="34" charset="0"/>
                          <a:ea typeface="Liter" pitchFamily="34" charset="-122"/>
                          <a:cs typeface="Liter" pitchFamily="34" charset="-120"/>
                        </a:rPr>
                        <a:t>无</a:t>
                      </a:r>
                      <a:endParaRPr lang="en-US" sz="1100" dirty="0">
                        <a:latin typeface="Liter" charset="0"/>
                        <a:ea typeface="Liter" charset="0"/>
                        <a:cs typeface="Liter" charset="0"/>
                      </a:endParaRPr>
                    </a:p>
                  </a:txBody>
                  <a:tcPr marL="41148" marR="41148"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438150">
                <a:tc>
                  <a:txBody>
                    <a:bodyPr/>
                    <a:lstStyle/>
                    <a:p>
                      <a:pPr algn="ctr"/>
                      <a:r>
                        <a:rPr lang="en-US" sz="1100" dirty="0">
                          <a:solidFill>
                            <a:srgbClr val="1F2937"/>
                          </a:solidFill>
                          <a:latin typeface="Liter" pitchFamily="34" charset="0"/>
                          <a:ea typeface="Liter" pitchFamily="34" charset="-122"/>
                          <a:cs typeface="Liter" pitchFamily="34" charset="-120"/>
                        </a:rPr>
                        <a:t>Prometheus + Webhook</a:t>
                      </a:r>
                      <a:endParaRPr lang="en-US" sz="1100" dirty="0">
                        <a:latin typeface="Liter" charset="0"/>
                        <a:ea typeface="Liter" charset="0"/>
                        <a:cs typeface="Liter" charset="0"/>
                      </a:endParaRPr>
                    </a:p>
                  </a:txBody>
                  <a:tcPr marL="41148" marR="41148"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100" dirty="0">
                          <a:solidFill>
                            <a:srgbClr val="1F2937"/>
                          </a:solidFill>
                          <a:latin typeface="Liter" pitchFamily="34" charset="0"/>
                          <a:ea typeface="Liter" pitchFamily="34" charset="-122"/>
                          <a:cs typeface="Liter" pitchFamily="34" charset="-120"/>
                        </a:rPr>
                        <a:t>轻量</a:t>
                      </a:r>
                      <a:endParaRPr lang="en-US" sz="1100" dirty="0">
                        <a:latin typeface="Liter" charset="0"/>
                        <a:ea typeface="Liter" charset="0"/>
                        <a:cs typeface="Liter" charset="0"/>
                      </a:endParaRPr>
                    </a:p>
                  </a:txBody>
                  <a:tcPr marL="41148" marR="41148"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100" dirty="0">
                          <a:solidFill>
                            <a:srgbClr val="1F2937"/>
                          </a:solidFill>
                          <a:latin typeface="Liter" pitchFamily="34" charset="0"/>
                          <a:ea typeface="Liter" pitchFamily="34" charset="-122"/>
                          <a:cs typeface="Liter" pitchFamily="34" charset="-120"/>
                        </a:rPr>
                        <a:t>无（工具链拼接）</a:t>
                      </a:r>
                      <a:endParaRPr lang="en-US" sz="1100" dirty="0">
                        <a:latin typeface="Liter" charset="0"/>
                        <a:ea typeface="Liter" charset="0"/>
                        <a:cs typeface="Liter" charset="0"/>
                      </a:endParaRPr>
                    </a:p>
                  </a:txBody>
                  <a:tcPr marL="41148" marR="41148"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100" dirty="0">
                          <a:solidFill>
                            <a:srgbClr val="1F2937"/>
                          </a:solidFill>
                          <a:latin typeface="Liter" pitchFamily="34" charset="0"/>
                          <a:ea typeface="Liter" pitchFamily="34" charset="-122"/>
                          <a:cs typeface="Liter" pitchFamily="34" charset="-120"/>
                        </a:rPr>
                        <a:t>半手工</a:t>
                      </a:r>
                      <a:endParaRPr lang="en-US" sz="1100" dirty="0">
                        <a:latin typeface="Liter" charset="0"/>
                        <a:ea typeface="Liter" charset="0"/>
                        <a:cs typeface="Liter" charset="0"/>
                      </a:endParaRPr>
                    </a:p>
                  </a:txBody>
                  <a:tcPr marL="41148" marR="41148"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8150">
                <a:tc>
                  <a:txBody>
                    <a:bodyPr/>
                    <a:lstStyle/>
                    <a:p>
                      <a:pPr algn="ctr"/>
                      <a:r>
                        <a:rPr lang="en-US" sz="1100" b="1" dirty="0">
                          <a:solidFill>
                            <a:srgbClr val="1F2937"/>
                          </a:solidFill>
                          <a:latin typeface="Liter" pitchFamily="34" charset="0"/>
                          <a:ea typeface="Liter" pitchFamily="34" charset="-122"/>
                          <a:cs typeface="Liter" pitchFamily="34" charset="-120"/>
                        </a:rPr>
                        <a:t>singularity-core + scaler</a:t>
                      </a:r>
                      <a:endParaRPr lang="en-US" sz="1100" dirty="0">
                        <a:latin typeface="Liter" charset="0"/>
                        <a:ea typeface="Liter" charset="0"/>
                        <a:cs typeface="Liter" charset="0"/>
                      </a:endParaRPr>
                    </a:p>
                  </a:txBody>
                  <a:tcPr marL="41148" marR="41148"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DBEAFE"/>
                    </a:solidFill>
                  </a:tcPr>
                </a:tc>
                <a:tc>
                  <a:txBody>
                    <a:bodyPr/>
                    <a:lstStyle/>
                    <a:p>
                      <a:pPr algn="ctr"/>
                      <a:r>
                        <a:rPr lang="en-US" sz="1100" b="1" dirty="0">
                          <a:solidFill>
                            <a:srgbClr val="22C55E"/>
                          </a:solidFill>
                          <a:latin typeface="Liter" pitchFamily="34" charset="0"/>
                          <a:ea typeface="Liter" pitchFamily="34" charset="-122"/>
                          <a:cs typeface="Liter" pitchFamily="34" charset="-120"/>
                        </a:rPr>
                        <a:t>轻量</a:t>
                      </a:r>
                      <a:endParaRPr lang="en-US" sz="1100" dirty="0">
                        <a:latin typeface="Liter" charset="0"/>
                        <a:ea typeface="Liter" charset="0"/>
                        <a:cs typeface="Liter" charset="0"/>
                      </a:endParaRPr>
                    </a:p>
                  </a:txBody>
                  <a:tcPr marL="41148" marR="41148"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DBEAFE"/>
                    </a:solidFill>
                  </a:tcPr>
                </a:tc>
                <a:tc>
                  <a:txBody>
                    <a:bodyPr/>
                    <a:lstStyle/>
                    <a:p>
                      <a:pPr algn="ctr"/>
                      <a:r>
                        <a:rPr lang="en-US" sz="1100" b="1" dirty="0">
                          <a:solidFill>
                            <a:srgbClr val="1F2937"/>
                          </a:solidFill>
                          <a:latin typeface="Liter" pitchFamily="34" charset="0"/>
                          <a:ea typeface="Liter" pitchFamily="34" charset="-122"/>
                          <a:cs typeface="Liter" pitchFamily="34" charset="-120"/>
                        </a:rPr>
                        <a:t>Slot / Actor / Allocator</a:t>
                      </a:r>
                      <a:endParaRPr lang="en-US" sz="1100" dirty="0">
                        <a:latin typeface="Liter" charset="0"/>
                        <a:ea typeface="Liter" charset="0"/>
                        <a:cs typeface="Liter" charset="0"/>
                      </a:endParaRPr>
                    </a:p>
                  </a:txBody>
                  <a:tcPr marL="41148" marR="41148"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DBEAFE"/>
                    </a:solidFill>
                  </a:tcPr>
                </a:tc>
                <a:tc>
                  <a:txBody>
                    <a:bodyPr/>
                    <a:lstStyle/>
                    <a:p>
                      <a:pPr algn="ctr"/>
                      <a:r>
                        <a:rPr lang="en-US" sz="1100" b="1" dirty="0">
                          <a:solidFill>
                            <a:srgbClr val="22C55E"/>
                          </a:solidFill>
                          <a:latin typeface="Liter" pitchFamily="34" charset="0"/>
                          <a:ea typeface="Liter" pitchFamily="34" charset="-122"/>
                          <a:cs typeface="Liter" pitchFamily="34" charset="-120"/>
                        </a:rPr>
                        <a:t>内聚决策</a:t>
                      </a:r>
                      <a:endParaRPr lang="en-US" sz="1100" dirty="0">
                        <a:latin typeface="Liter" charset="0"/>
                        <a:ea typeface="Liter" charset="0"/>
                        <a:cs typeface="Liter" charset="0"/>
                      </a:endParaRPr>
                    </a:p>
                  </a:txBody>
                  <a:tcPr marL="41148" marR="41148"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DBEAFE"/>
                    </a:solidFill>
                  </a:tcPr>
                </a:tc>
                <a:extLst>
                  <a:ext uri="{0D108BD9-81ED-4DB2-BD59-A6C34878D82A}">
                    <a16:rowId xmlns:a16="http://schemas.microsoft.com/office/drawing/2014/main" val="10004"/>
                  </a:ext>
                </a:extLst>
              </a:tr>
            </a:tbl>
          </a:graphicData>
        </a:graphic>
      </p:graphicFrame>
      <p:pic>
        <p:nvPicPr>
          <p:cNvPr id="5" name="Image 0" descr="https://kimi-img.moonshot.cn/pub/slides/okc/c26ulxynikn5k/mnt/agents/output/tech-highlights/images/%E5%AE%9A%E4%BD%8D%E5%9D%90%E6%A0%87%E5%9B%BE%EF%BC%88%E5%9B%9B%E8%B1%A1%E9%99%90%EF%BC%89.jpg"/>
          <p:cNvPicPr>
            <a:picLocks noChangeAspect="1"/>
          </p:cNvPicPr>
          <p:nvPr/>
        </p:nvPicPr>
        <p:blipFill>
          <a:blip r:embed="rId3"/>
          <a:srcRect/>
          <a:stretch/>
        </p:blipFill>
        <p:spPr>
          <a:xfrm>
            <a:off x="571500" y="3381375"/>
            <a:ext cx="11049000" cy="2952750"/>
          </a:xfrm>
          <a:prstGeom prst="roundRect">
            <a:avLst>
              <a:gd name="adj" fmla="val 8000"/>
            </a:avLst>
          </a:prstGeom>
        </p:spPr>
      </p:pic>
      <p:sp>
        <p:nvSpPr>
          <p:cNvPr id="6" name="Shape 2"/>
          <p:cNvSpPr/>
          <p:nvPr/>
        </p:nvSpPr>
        <p:spPr>
          <a:xfrm>
            <a:off x="571500" y="3381375"/>
            <a:ext cx="11049000" cy="2952750"/>
          </a:xfrm>
          <a:prstGeom prst="roundRect">
            <a:avLst>
              <a:gd name="adj" fmla="val 8000"/>
            </a:avLst>
          </a:prstGeom>
          <a:solidFill>
            <a:srgbClr val="FFFFFF">
              <a:alpha val="0"/>
            </a:srgbClr>
          </a:solidFill>
          <a:ln w="12700">
            <a:solidFill>
              <a:srgbClr val="E2E8F0"/>
            </a:solidFill>
            <a:prstDash val="solid"/>
          </a:ln>
        </p:spPr>
        <p:txBody>
          <a:bodyPr/>
          <a:lstStyle/>
          <a:p>
            <a:pPr defTabSz="685800"/>
            <a:endParaRPr lang="zh-CN" altLang="en-US" sz="1350">
              <a:solidFill>
                <a:srgbClr val="000000"/>
              </a:solidFill>
              <a:latin typeface="Calibri" panose="020F0502020204030204"/>
              <a:ea typeface="等线" panose="02010600030101010101" pitchFamily="2" charset="-122"/>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71500" y="381000"/>
            <a:ext cx="11049000" cy="381000"/>
          </a:xfrm>
          <a:prstGeom prst="rect">
            <a:avLst/>
          </a:prstGeom>
          <a:noFill/>
          <a:ln/>
        </p:spPr>
        <p:txBody>
          <a:bodyPr wrap="none" lIns="0" tIns="0" rIns="0" bIns="0" rtlCol="0" anchor="t"/>
          <a:lstStyle/>
          <a:p>
            <a:pPr defTabSz="685800">
              <a:lnSpc>
                <a:spcPct val="130000"/>
              </a:lnSpc>
            </a:pPr>
            <a:r>
              <a:rPr lang="en-US" sz="2100" b="1" dirty="0">
                <a:solidFill>
                  <a:srgbClr val="3B82F6"/>
                </a:solidFill>
                <a:latin typeface="Liter" pitchFamily="34" charset="0"/>
                <a:ea typeface="Liter" pitchFamily="34" charset="-122"/>
                <a:cs typeface="Liter" pitchFamily="34" charset="-120"/>
              </a:rPr>
              <a:t>Q3b：现有方案能直接用吗？（我们的出发点）</a:t>
            </a:r>
            <a:endParaRPr lang="en-US" sz="2100" dirty="0">
              <a:solidFill>
                <a:srgbClr val="000000"/>
              </a:solidFill>
              <a:latin typeface="Calibri" panose="020F0502020204030204"/>
            </a:endParaRPr>
          </a:p>
        </p:txBody>
      </p:sp>
      <p:sp>
        <p:nvSpPr>
          <p:cNvPr id="3" name="Shape 1"/>
          <p:cNvSpPr/>
          <p:nvPr/>
        </p:nvSpPr>
        <p:spPr>
          <a:xfrm>
            <a:off x="571500" y="809625"/>
            <a:ext cx="571500" cy="38100"/>
          </a:xfrm>
          <a:prstGeom prst="rect">
            <a:avLst/>
          </a:prstGeom>
          <a:solidFill>
            <a:srgbClr val="3B82F6"/>
          </a:solidFill>
          <a:ln/>
        </p:spPr>
        <p:txBody>
          <a:bodyPr/>
          <a:lstStyle/>
          <a:p>
            <a:pPr defTabSz="685800"/>
            <a:endParaRPr lang="zh-CN" altLang="en-US" sz="1350">
              <a:solidFill>
                <a:srgbClr val="000000"/>
              </a:solidFill>
              <a:latin typeface="Calibri" panose="020F0502020204030204"/>
              <a:ea typeface="等线" panose="02010600030101010101" pitchFamily="2" charset="-122"/>
            </a:endParaRPr>
          </a:p>
        </p:txBody>
      </p:sp>
      <p:sp>
        <p:nvSpPr>
          <p:cNvPr id="4" name="Text 2"/>
          <p:cNvSpPr/>
          <p:nvPr/>
        </p:nvSpPr>
        <p:spPr>
          <a:xfrm>
            <a:off x="571500" y="1333500"/>
            <a:ext cx="4572000" cy="3238500"/>
          </a:xfrm>
          <a:prstGeom prst="rect">
            <a:avLst/>
          </a:prstGeom>
          <a:noFill/>
          <a:ln/>
        </p:spPr>
        <p:txBody>
          <a:bodyPr wrap="square" lIns="0" tIns="0" rIns="0" bIns="0" rtlCol="0" anchor="t"/>
          <a:lstStyle/>
          <a:p>
            <a:pPr defTabSz="685800">
              <a:lnSpc>
                <a:spcPct val="160000"/>
              </a:lnSpc>
            </a:pPr>
            <a:r>
              <a:rPr lang="en-US" sz="1350" b="1" dirty="0">
                <a:solidFill>
                  <a:srgbClr val="3B82F6"/>
                </a:solidFill>
                <a:latin typeface="Liter" pitchFamily="34" charset="0"/>
                <a:ea typeface="Liter" pitchFamily="34" charset="-122"/>
                <a:cs typeface="Liter" pitchFamily="34" charset="-120"/>
              </a:rPr>
              <a:t>轻量部署</a:t>
            </a:r>
            <a:r>
              <a:rPr lang="en-US" sz="1350" dirty="0">
                <a:solidFill>
                  <a:srgbClr val="1F2937"/>
                </a:solidFill>
                <a:latin typeface="Liter" pitchFamily="34" charset="0"/>
                <a:ea typeface="Liter" pitchFamily="34" charset="-122"/>
                <a:cs typeface="Liter" pitchFamily="34" charset="-120"/>
              </a:rPr>
              <a:t> + </a:t>
            </a:r>
            <a:r>
              <a:rPr lang="en-US" sz="1350" b="1" dirty="0">
                <a:solidFill>
                  <a:srgbClr val="3B82F6"/>
                </a:solidFill>
                <a:latin typeface="Liter" pitchFamily="34" charset="0"/>
                <a:ea typeface="Liter" pitchFamily="34" charset="-122"/>
                <a:cs typeface="Liter" pitchFamily="34" charset="-120"/>
              </a:rPr>
              <a:t>业务语义层</a:t>
            </a:r>
            <a:r>
              <a:rPr lang="en-US" sz="1350" dirty="0">
                <a:solidFill>
                  <a:srgbClr val="1F2937"/>
                </a:solidFill>
                <a:latin typeface="Liter" pitchFamily="34" charset="0"/>
                <a:ea typeface="Liter" pitchFamily="34" charset="-122"/>
                <a:cs typeface="Liter" pitchFamily="34" charset="-120"/>
              </a:rPr>
              <a:t>的资源分配</a:t>
            </a:r>
            <a:endParaRPr lang="en-US" sz="1350" dirty="0">
              <a:solidFill>
                <a:srgbClr val="000000"/>
              </a:solidFill>
              <a:latin typeface="Calibri" panose="020F0502020204030204"/>
            </a:endParaRPr>
          </a:p>
          <a:p>
            <a:pPr defTabSz="685800">
              <a:lnSpc>
                <a:spcPct val="160000"/>
              </a:lnSpc>
              <a:spcBef>
                <a:spcPts val="1500"/>
              </a:spcBef>
            </a:pPr>
            <a:r>
              <a:rPr lang="en-US" sz="1350" dirty="0">
                <a:solidFill>
                  <a:srgbClr val="1F2937"/>
                </a:solidFill>
                <a:latin typeface="Liter" pitchFamily="34" charset="0"/>
                <a:ea typeface="Liter" pitchFamily="34" charset="-122"/>
                <a:cs typeface="Liter" pitchFamily="34" charset="-120"/>
              </a:rPr>
              <a:t>这个组合在现有生态里是</a:t>
            </a:r>
            <a:r>
              <a:rPr lang="en-US" sz="1350" b="1" dirty="0">
                <a:solidFill>
                  <a:srgbClr val="F59E0B"/>
                </a:solidFill>
                <a:latin typeface="Liter" pitchFamily="34" charset="0"/>
                <a:ea typeface="Liter" pitchFamily="34" charset="-122"/>
                <a:cs typeface="Liter" pitchFamily="34" charset="-120"/>
              </a:rPr>
              <a:t>空白</a:t>
            </a:r>
            <a:endParaRPr lang="en-US" sz="1350" dirty="0">
              <a:solidFill>
                <a:srgbClr val="000000"/>
              </a:solidFill>
              <a:latin typeface="Calibri" panose="020F0502020204030204"/>
            </a:endParaRPr>
          </a:p>
          <a:p>
            <a:pPr defTabSz="685800">
              <a:lnSpc>
                <a:spcPct val="160000"/>
              </a:lnSpc>
              <a:spcBef>
                <a:spcPts val="1500"/>
              </a:spcBef>
            </a:pPr>
            <a:r>
              <a:rPr lang="en-US" sz="1350" dirty="0">
                <a:solidFill>
                  <a:srgbClr val="1F2937"/>
                </a:solidFill>
                <a:latin typeface="Liter" pitchFamily="34" charset="0"/>
                <a:ea typeface="Liter" pitchFamily="34" charset="-122"/>
                <a:cs typeface="Liter" pitchFamily="34" charset="-120"/>
              </a:rPr>
              <a:t>这就是我们设计 </a:t>
            </a:r>
            <a:r>
              <a:rPr lang="en-US" sz="1350" b="1" dirty="0">
                <a:solidFill>
                  <a:srgbClr val="1F2937"/>
                </a:solidFill>
                <a:latin typeface="Liter" pitchFamily="34" charset="0"/>
                <a:ea typeface="Liter" pitchFamily="34" charset="-122"/>
                <a:cs typeface="Liter" pitchFamily="34" charset="-120"/>
              </a:rPr>
              <a:t>singularity-core</a:t>
            </a:r>
            <a:r>
              <a:rPr lang="en-US" sz="1350" dirty="0">
                <a:solidFill>
                  <a:srgbClr val="1F2937"/>
                </a:solidFill>
                <a:latin typeface="Liter" pitchFamily="34" charset="0"/>
                <a:ea typeface="Liter" pitchFamily="34" charset="-122"/>
                <a:cs typeface="Liter" pitchFamily="34" charset="-120"/>
              </a:rPr>
              <a:t> 和 </a:t>
            </a:r>
            <a:r>
              <a:rPr lang="en-US" sz="1350" b="1" dirty="0">
                <a:solidFill>
                  <a:srgbClr val="1F2937"/>
                </a:solidFill>
                <a:latin typeface="Liter" pitchFamily="34" charset="0"/>
                <a:ea typeface="Liter" pitchFamily="34" charset="-122"/>
                <a:cs typeface="Liter" pitchFamily="34" charset="-120"/>
              </a:rPr>
              <a:t>singularity-scaler</a:t>
            </a:r>
            <a:r>
              <a:rPr lang="en-US" sz="1350" dirty="0">
                <a:solidFill>
                  <a:srgbClr val="1F2937"/>
                </a:solidFill>
                <a:latin typeface="Liter" pitchFamily="34" charset="0"/>
                <a:ea typeface="Liter" pitchFamily="34" charset="-122"/>
                <a:cs typeface="Liter" pitchFamily="34" charset="-120"/>
              </a:rPr>
              <a:t> 的出发点</a:t>
            </a:r>
            <a:endParaRPr lang="en-US" sz="1350" dirty="0">
              <a:solidFill>
                <a:srgbClr val="000000"/>
              </a:solidFill>
              <a:latin typeface="Calibri" panose="020F0502020204030204"/>
            </a:endParaRPr>
          </a:p>
          <a:p>
            <a:pPr defTabSz="685800">
              <a:lnSpc>
                <a:spcPct val="160000"/>
              </a:lnSpc>
              <a:spcBef>
                <a:spcPts val="1500"/>
              </a:spcBef>
            </a:pPr>
            <a:r>
              <a:rPr lang="en-US" sz="1350" dirty="0">
                <a:solidFill>
                  <a:srgbClr val="1F2937"/>
                </a:solidFill>
                <a:latin typeface="Liter" pitchFamily="34" charset="0"/>
                <a:ea typeface="Liter" pitchFamily="34" charset="-122"/>
                <a:cs typeface="Liter" pitchFamily="34" charset="-120"/>
              </a:rPr>
              <a:t>两个模块从一开始就是</a:t>
            </a:r>
            <a:r>
              <a:rPr lang="en-US" sz="1350" b="1" dirty="0">
                <a:solidFill>
                  <a:srgbClr val="22C55E"/>
                </a:solidFill>
                <a:latin typeface="Liter" pitchFamily="34" charset="0"/>
                <a:ea typeface="Liter" pitchFamily="34" charset="-122"/>
                <a:cs typeface="Liter" pitchFamily="34" charset="-120"/>
              </a:rPr>
              <a:t>联动设计</a:t>
            </a:r>
            <a:r>
              <a:rPr lang="en-US" sz="1350" dirty="0">
                <a:solidFill>
                  <a:srgbClr val="1F2937"/>
                </a:solidFill>
                <a:latin typeface="Liter" pitchFamily="34" charset="0"/>
                <a:ea typeface="Liter" pitchFamily="34" charset="-122"/>
                <a:cs typeface="Liter" pitchFamily="34" charset="-120"/>
              </a:rPr>
              <a:t>的，不是各自做完再拼在一起</a:t>
            </a:r>
            <a:endParaRPr lang="en-US" sz="1350" dirty="0">
              <a:solidFill>
                <a:srgbClr val="000000"/>
              </a:solidFill>
              <a:latin typeface="Calibri" panose="020F0502020204030204"/>
            </a:endParaRPr>
          </a:p>
        </p:txBody>
      </p:sp>
      <p:pic>
        <p:nvPicPr>
          <p:cNvPr id="5" name="Image 0" descr="https://kimi-img.moonshot.cn/pub/slides/okc/c26ulxynikn5k/mnt/agents/output/tech-highlights/images/%E7%BB%84%E4%BB%B6%E6%A1%86%E5%9B%BE%EF%BC%88component%20diagram%EF%BC%89.jpg"/>
          <p:cNvPicPr>
            <a:picLocks noChangeAspect="1"/>
          </p:cNvPicPr>
          <p:nvPr/>
        </p:nvPicPr>
        <p:blipFill>
          <a:blip r:embed="rId3"/>
          <a:srcRect/>
          <a:stretch/>
        </p:blipFill>
        <p:spPr>
          <a:xfrm>
            <a:off x="5524500" y="1143000"/>
            <a:ext cx="6096000" cy="4572000"/>
          </a:xfrm>
          <a:prstGeom prst="roundRect">
            <a:avLst>
              <a:gd name="adj" fmla="val 8000"/>
            </a:avLst>
          </a:prstGeom>
        </p:spPr>
      </p:pic>
      <p:sp>
        <p:nvSpPr>
          <p:cNvPr id="6" name="Shape 3"/>
          <p:cNvSpPr/>
          <p:nvPr/>
        </p:nvSpPr>
        <p:spPr>
          <a:xfrm>
            <a:off x="5524500" y="1143000"/>
            <a:ext cx="6096000" cy="4572000"/>
          </a:xfrm>
          <a:prstGeom prst="roundRect">
            <a:avLst>
              <a:gd name="adj" fmla="val 8000"/>
            </a:avLst>
          </a:prstGeom>
          <a:solidFill>
            <a:srgbClr val="FFFFFF">
              <a:alpha val="0"/>
            </a:srgbClr>
          </a:solidFill>
          <a:ln w="12700">
            <a:solidFill>
              <a:srgbClr val="E2E8F0"/>
            </a:solidFill>
            <a:prstDash val="solid"/>
          </a:ln>
        </p:spPr>
        <p:txBody>
          <a:bodyPr/>
          <a:lstStyle/>
          <a:p>
            <a:pPr defTabSz="685800"/>
            <a:endParaRPr lang="zh-CN" altLang="en-US" sz="1350">
              <a:solidFill>
                <a:srgbClr val="000000"/>
              </a:solidFill>
              <a:latin typeface="Calibri" panose="020F0502020204030204"/>
              <a:ea typeface="等线" panose="02010600030101010101" pitchFamily="2" charset="-122"/>
            </a:endParaRP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71500" y="381000"/>
            <a:ext cx="11049000" cy="381000"/>
          </a:xfrm>
          <a:prstGeom prst="rect">
            <a:avLst/>
          </a:prstGeom>
          <a:noFill/>
          <a:ln/>
        </p:spPr>
        <p:txBody>
          <a:bodyPr wrap="none" lIns="0" tIns="0" rIns="0" bIns="0" rtlCol="0" anchor="t"/>
          <a:lstStyle/>
          <a:p>
            <a:pPr defTabSz="685800">
              <a:lnSpc>
                <a:spcPct val="130000"/>
              </a:lnSpc>
            </a:pPr>
            <a:r>
              <a:rPr lang="en-US" sz="2100" b="1" dirty="0">
                <a:solidFill>
                  <a:srgbClr val="3B82F6"/>
                </a:solidFill>
                <a:latin typeface="Liter" pitchFamily="34" charset="0"/>
                <a:ea typeface="Liter" pitchFamily="34" charset="-122"/>
                <a:cs typeface="Liter" pitchFamily="34" charset="-120"/>
              </a:rPr>
              <a:t>Q4：横向扩展的前提是什么？</a:t>
            </a:r>
            <a:endParaRPr lang="en-US" sz="2100" dirty="0">
              <a:solidFill>
                <a:srgbClr val="000000"/>
              </a:solidFill>
              <a:latin typeface="Calibri" panose="020F0502020204030204"/>
            </a:endParaRPr>
          </a:p>
        </p:txBody>
      </p:sp>
      <p:sp>
        <p:nvSpPr>
          <p:cNvPr id="3" name="Shape 1"/>
          <p:cNvSpPr/>
          <p:nvPr/>
        </p:nvSpPr>
        <p:spPr>
          <a:xfrm>
            <a:off x="571500" y="809625"/>
            <a:ext cx="571500" cy="38100"/>
          </a:xfrm>
          <a:prstGeom prst="rect">
            <a:avLst/>
          </a:prstGeom>
          <a:solidFill>
            <a:srgbClr val="3B82F6"/>
          </a:solidFill>
          <a:ln/>
        </p:spPr>
        <p:txBody>
          <a:bodyPr/>
          <a:lstStyle/>
          <a:p>
            <a:pPr defTabSz="685800"/>
            <a:endParaRPr lang="zh-CN" altLang="en-US" sz="1350">
              <a:solidFill>
                <a:srgbClr val="000000"/>
              </a:solidFill>
              <a:latin typeface="Calibri" panose="020F0502020204030204"/>
              <a:ea typeface="等线" panose="02010600030101010101" pitchFamily="2" charset="-122"/>
            </a:endParaRPr>
          </a:p>
        </p:txBody>
      </p:sp>
      <p:sp>
        <p:nvSpPr>
          <p:cNvPr id="4" name="Shape 2"/>
          <p:cNvSpPr/>
          <p:nvPr/>
        </p:nvSpPr>
        <p:spPr>
          <a:xfrm>
            <a:off x="571500" y="1047750"/>
            <a:ext cx="5286375" cy="2667000"/>
          </a:xfrm>
          <a:prstGeom prst="roundRect">
            <a:avLst>
              <a:gd name="adj" fmla="val 8000"/>
            </a:avLst>
          </a:prstGeom>
          <a:solidFill>
            <a:srgbClr val="FCA5A5"/>
          </a:solidFill>
          <a:ln w="12700">
            <a:solidFill>
              <a:srgbClr val="EF4444"/>
            </a:solidFill>
            <a:prstDash val="solid"/>
          </a:ln>
        </p:spPr>
        <p:txBody>
          <a:bodyPr/>
          <a:lstStyle/>
          <a:p>
            <a:pPr defTabSz="685800"/>
            <a:endParaRPr lang="zh-CN" altLang="en-US" sz="1350">
              <a:solidFill>
                <a:srgbClr val="000000"/>
              </a:solidFill>
              <a:latin typeface="Calibri" panose="020F0502020204030204"/>
              <a:ea typeface="等线" panose="02010600030101010101" pitchFamily="2" charset="-122"/>
            </a:endParaRPr>
          </a:p>
        </p:txBody>
      </p:sp>
      <p:sp>
        <p:nvSpPr>
          <p:cNvPr id="5" name="Text 3"/>
          <p:cNvSpPr/>
          <p:nvPr/>
        </p:nvSpPr>
        <p:spPr>
          <a:xfrm>
            <a:off x="762000" y="1190625"/>
            <a:ext cx="1905000" cy="285750"/>
          </a:xfrm>
          <a:prstGeom prst="rect">
            <a:avLst/>
          </a:prstGeom>
          <a:noFill/>
          <a:ln/>
        </p:spPr>
        <p:txBody>
          <a:bodyPr wrap="none" lIns="0" tIns="0" rIns="0" bIns="0" rtlCol="0" anchor="t"/>
          <a:lstStyle/>
          <a:p>
            <a:pPr defTabSz="685800">
              <a:lnSpc>
                <a:spcPct val="120000"/>
              </a:lnSpc>
            </a:pPr>
            <a:r>
              <a:rPr lang="en-US" sz="1200" b="1" dirty="0">
                <a:solidFill>
                  <a:srgbClr val="EF4444"/>
                </a:solidFill>
                <a:latin typeface="MiSans" pitchFamily="34" charset="0"/>
                <a:ea typeface="MiSans" pitchFamily="34" charset="-122"/>
                <a:cs typeface="MiSans" pitchFamily="34" charset="-120"/>
              </a:rPr>
              <a:t>强状态（不可扩展）</a:t>
            </a:r>
            <a:endParaRPr lang="en-US" sz="1200" dirty="0">
              <a:solidFill>
                <a:srgbClr val="000000"/>
              </a:solidFill>
              <a:latin typeface="Calibri" panose="020F0502020204030204"/>
            </a:endParaRPr>
          </a:p>
        </p:txBody>
      </p:sp>
      <p:sp>
        <p:nvSpPr>
          <p:cNvPr id="6" name="Text 4"/>
          <p:cNvSpPr/>
          <p:nvPr/>
        </p:nvSpPr>
        <p:spPr>
          <a:xfrm>
            <a:off x="762000" y="1619250"/>
            <a:ext cx="4905375" cy="1905000"/>
          </a:xfrm>
          <a:prstGeom prst="rect">
            <a:avLst/>
          </a:prstGeom>
          <a:noFill/>
          <a:ln/>
        </p:spPr>
        <p:txBody>
          <a:bodyPr wrap="square" lIns="0" tIns="0" rIns="0" bIns="0" rtlCol="0" anchor="t"/>
          <a:lstStyle/>
          <a:p>
            <a:pPr defTabSz="685800">
              <a:lnSpc>
                <a:spcPct val="160000"/>
              </a:lnSpc>
            </a:pPr>
            <a:r>
              <a:rPr lang="en-US" sz="1350" dirty="0">
                <a:solidFill>
                  <a:srgbClr val="1F2937"/>
                </a:solidFill>
                <a:latin typeface="Liter" pitchFamily="34" charset="0"/>
                <a:ea typeface="Liter" pitchFamily="34" charset="-122"/>
                <a:cs typeface="Liter" pitchFamily="34" charset="-120"/>
              </a:rPr>
              <a:t>• 本地保存跨机器共享的状态（如库存计数）</a:t>
            </a:r>
            <a:endParaRPr lang="en-US" sz="1350" dirty="0">
              <a:solidFill>
                <a:srgbClr val="000000"/>
              </a:solidFill>
              <a:latin typeface="Calibri" panose="020F0502020204030204"/>
            </a:endParaRPr>
          </a:p>
          <a:p>
            <a:pPr defTabSz="685800">
              <a:lnSpc>
                <a:spcPct val="160000"/>
              </a:lnSpc>
              <a:spcBef>
                <a:spcPts val="1200"/>
              </a:spcBef>
            </a:pPr>
            <a:r>
              <a:rPr lang="en-US" sz="1350" dirty="0">
                <a:solidFill>
                  <a:srgbClr val="1F2937"/>
                </a:solidFill>
                <a:latin typeface="Liter" pitchFamily="34" charset="0"/>
                <a:ea typeface="Liter" pitchFamily="34" charset="-122"/>
                <a:cs typeface="Liter" pitchFamily="34" charset="-120"/>
              </a:rPr>
              <a:t>• 每台机器看到的数据不一样，结果不一致</a:t>
            </a:r>
            <a:endParaRPr lang="en-US" sz="1350" dirty="0">
              <a:solidFill>
                <a:srgbClr val="000000"/>
              </a:solidFill>
              <a:latin typeface="Calibri" panose="020F0502020204030204"/>
            </a:endParaRPr>
          </a:p>
          <a:p>
            <a:pPr defTabSz="685800">
              <a:lnSpc>
                <a:spcPct val="160000"/>
              </a:lnSpc>
              <a:spcBef>
                <a:spcPts val="1200"/>
              </a:spcBef>
            </a:pPr>
            <a:r>
              <a:rPr lang="en-US" sz="1350" dirty="0">
                <a:solidFill>
                  <a:srgbClr val="1F2937"/>
                </a:solidFill>
                <a:latin typeface="Liter" pitchFamily="34" charset="0"/>
                <a:ea typeface="Liter" pitchFamily="34" charset="-122"/>
                <a:cs typeface="Liter" pitchFamily="34" charset="-120"/>
              </a:rPr>
              <a:t>• 这种情况加再多机器也</a:t>
            </a:r>
            <a:r>
              <a:rPr lang="en-US" sz="1350" b="1" dirty="0">
                <a:solidFill>
                  <a:srgbClr val="1F2937"/>
                </a:solidFill>
                <a:latin typeface="Liter" pitchFamily="34" charset="0"/>
                <a:ea typeface="Liter" pitchFamily="34" charset="-122"/>
                <a:cs typeface="Liter" pitchFamily="34" charset="-120"/>
              </a:rPr>
              <a:t>没用</a:t>
            </a:r>
            <a:endParaRPr lang="en-US" sz="1350" dirty="0">
              <a:solidFill>
                <a:srgbClr val="000000"/>
              </a:solidFill>
              <a:latin typeface="Calibri" panose="020F0502020204030204"/>
            </a:endParaRPr>
          </a:p>
        </p:txBody>
      </p:sp>
      <p:sp>
        <p:nvSpPr>
          <p:cNvPr id="7" name="Shape 5"/>
          <p:cNvSpPr/>
          <p:nvPr/>
        </p:nvSpPr>
        <p:spPr>
          <a:xfrm>
            <a:off x="6334125" y="1047750"/>
            <a:ext cx="5286375" cy="2667000"/>
          </a:xfrm>
          <a:prstGeom prst="roundRect">
            <a:avLst>
              <a:gd name="adj" fmla="val 8000"/>
            </a:avLst>
          </a:prstGeom>
          <a:solidFill>
            <a:srgbClr val="BBF7D0"/>
          </a:solidFill>
          <a:ln w="12700">
            <a:solidFill>
              <a:srgbClr val="22C55E"/>
            </a:solidFill>
            <a:prstDash val="solid"/>
          </a:ln>
        </p:spPr>
        <p:txBody>
          <a:bodyPr/>
          <a:lstStyle/>
          <a:p>
            <a:pPr defTabSz="685800"/>
            <a:endParaRPr lang="zh-CN" altLang="en-US" sz="1350">
              <a:solidFill>
                <a:srgbClr val="000000"/>
              </a:solidFill>
              <a:latin typeface="Calibri" panose="020F0502020204030204"/>
              <a:ea typeface="等线" panose="02010600030101010101" pitchFamily="2" charset="-122"/>
            </a:endParaRPr>
          </a:p>
        </p:txBody>
      </p:sp>
      <p:sp>
        <p:nvSpPr>
          <p:cNvPr id="8" name="Text 6"/>
          <p:cNvSpPr/>
          <p:nvPr/>
        </p:nvSpPr>
        <p:spPr>
          <a:xfrm>
            <a:off x="6524625" y="1190625"/>
            <a:ext cx="1905000" cy="285750"/>
          </a:xfrm>
          <a:prstGeom prst="rect">
            <a:avLst/>
          </a:prstGeom>
          <a:noFill/>
          <a:ln/>
        </p:spPr>
        <p:txBody>
          <a:bodyPr wrap="none" lIns="0" tIns="0" rIns="0" bIns="0" rtlCol="0" anchor="t"/>
          <a:lstStyle/>
          <a:p>
            <a:pPr defTabSz="685800">
              <a:lnSpc>
                <a:spcPct val="120000"/>
              </a:lnSpc>
            </a:pPr>
            <a:r>
              <a:rPr lang="en-US" sz="1200" b="1" dirty="0">
                <a:solidFill>
                  <a:srgbClr val="22C55E"/>
                </a:solidFill>
                <a:latin typeface="MiSans" pitchFamily="34" charset="0"/>
                <a:ea typeface="MiSans" pitchFamily="34" charset="-122"/>
                <a:cs typeface="MiSans" pitchFamily="34" charset="-120"/>
              </a:rPr>
              <a:t>弱状态（可扩展）</a:t>
            </a:r>
            <a:endParaRPr lang="en-US" sz="1200" dirty="0">
              <a:solidFill>
                <a:srgbClr val="000000"/>
              </a:solidFill>
              <a:latin typeface="Calibri" panose="020F0502020204030204"/>
            </a:endParaRPr>
          </a:p>
        </p:txBody>
      </p:sp>
      <p:sp>
        <p:nvSpPr>
          <p:cNvPr id="9" name="Text 7"/>
          <p:cNvSpPr/>
          <p:nvPr/>
        </p:nvSpPr>
        <p:spPr>
          <a:xfrm>
            <a:off x="6524625" y="1619250"/>
            <a:ext cx="4905375" cy="1905000"/>
          </a:xfrm>
          <a:prstGeom prst="rect">
            <a:avLst/>
          </a:prstGeom>
          <a:noFill/>
          <a:ln/>
        </p:spPr>
        <p:txBody>
          <a:bodyPr wrap="square" lIns="0" tIns="0" rIns="0" bIns="0" rtlCol="0" anchor="t"/>
          <a:lstStyle/>
          <a:p>
            <a:pPr defTabSz="685800">
              <a:lnSpc>
                <a:spcPct val="160000"/>
              </a:lnSpc>
            </a:pPr>
            <a:r>
              <a:rPr lang="en-US" sz="1350" dirty="0">
                <a:solidFill>
                  <a:srgbClr val="1F2937"/>
                </a:solidFill>
                <a:latin typeface="Liter" pitchFamily="34" charset="0"/>
                <a:ea typeface="Liter" pitchFamily="34" charset="-122"/>
                <a:cs typeface="Liter" pitchFamily="34" charset="-120"/>
              </a:rPr>
              <a:t>• 本地不保存需要跨机器共享的关键状态</a:t>
            </a:r>
            <a:endParaRPr lang="en-US" sz="1350" dirty="0">
              <a:solidFill>
                <a:srgbClr val="000000"/>
              </a:solidFill>
              <a:latin typeface="Calibri" panose="020F0502020204030204"/>
            </a:endParaRPr>
          </a:p>
          <a:p>
            <a:pPr defTabSz="685800">
              <a:lnSpc>
                <a:spcPct val="160000"/>
              </a:lnSpc>
              <a:spcBef>
                <a:spcPts val="1200"/>
              </a:spcBef>
            </a:pPr>
            <a:r>
              <a:rPr lang="en-US" sz="1350" dirty="0">
                <a:solidFill>
                  <a:srgbClr val="1F2937"/>
                </a:solidFill>
                <a:latin typeface="Liter" pitchFamily="34" charset="0"/>
                <a:ea typeface="Liter" pitchFamily="34" charset="-122"/>
                <a:cs typeface="Liter" pitchFamily="34" charset="-120"/>
              </a:rPr>
              <a:t>• 业务可接受一定程度的最终一致性</a:t>
            </a:r>
            <a:endParaRPr lang="en-US" sz="1350" dirty="0">
              <a:solidFill>
                <a:srgbClr val="000000"/>
              </a:solidFill>
              <a:latin typeface="Calibri" panose="020F0502020204030204"/>
            </a:endParaRPr>
          </a:p>
          <a:p>
            <a:pPr defTabSz="685800">
              <a:lnSpc>
                <a:spcPct val="160000"/>
              </a:lnSpc>
              <a:spcBef>
                <a:spcPts val="1200"/>
              </a:spcBef>
            </a:pPr>
            <a:r>
              <a:rPr lang="en-US" sz="1350" dirty="0">
                <a:solidFill>
                  <a:srgbClr val="1F2937"/>
                </a:solidFill>
                <a:latin typeface="Liter" pitchFamily="34" charset="0"/>
                <a:ea typeface="Liter" pitchFamily="34" charset="-122"/>
                <a:cs typeface="Liter" pitchFamily="34" charset="-120"/>
              </a:rPr>
              <a:t>• 状态交给 </a:t>
            </a:r>
            <a:r>
              <a:rPr lang="en-US" sz="1350" b="1" dirty="0">
                <a:solidFill>
                  <a:srgbClr val="1F2937"/>
                </a:solidFill>
                <a:latin typeface="Liter" pitchFamily="34" charset="0"/>
                <a:ea typeface="Liter" pitchFamily="34" charset="-122"/>
                <a:cs typeface="Liter" pitchFamily="34" charset="-120"/>
              </a:rPr>
              <a:t>Redis</a:t>
            </a:r>
            <a:r>
              <a:rPr lang="en-US" sz="1350" dirty="0">
                <a:solidFill>
                  <a:srgbClr val="1F2937"/>
                </a:solidFill>
                <a:latin typeface="Liter" pitchFamily="34" charset="0"/>
                <a:ea typeface="Liter" pitchFamily="34" charset="-122"/>
                <a:cs typeface="Liter" pitchFamily="34" charset="-120"/>
              </a:rPr>
              <a:t>、</a:t>
            </a:r>
            <a:r>
              <a:rPr lang="en-US" sz="1350" b="1" dirty="0">
                <a:solidFill>
                  <a:srgbClr val="1F2937"/>
                </a:solidFill>
                <a:latin typeface="Liter" pitchFamily="34" charset="0"/>
                <a:ea typeface="Liter" pitchFamily="34" charset="-122"/>
                <a:cs typeface="Liter" pitchFamily="34" charset="-120"/>
              </a:rPr>
              <a:t>MySQL</a:t>
            </a:r>
            <a:r>
              <a:rPr lang="en-US" sz="1350" dirty="0">
                <a:solidFill>
                  <a:srgbClr val="1F2937"/>
                </a:solidFill>
                <a:latin typeface="Liter" pitchFamily="34" charset="0"/>
                <a:ea typeface="Liter" pitchFamily="34" charset="-122"/>
                <a:cs typeface="Liter" pitchFamily="34" charset="-120"/>
              </a:rPr>
              <a:t>、</a:t>
            </a:r>
            <a:r>
              <a:rPr lang="en-US" sz="1350" b="1" dirty="0">
                <a:solidFill>
                  <a:srgbClr val="1F2937"/>
                </a:solidFill>
                <a:latin typeface="Liter" pitchFamily="34" charset="0"/>
                <a:ea typeface="Liter" pitchFamily="34" charset="-122"/>
                <a:cs typeface="Liter" pitchFamily="34" charset="-120"/>
              </a:rPr>
              <a:t>MQ</a:t>
            </a:r>
            <a:r>
              <a:rPr lang="en-US" sz="1350" dirty="0">
                <a:solidFill>
                  <a:srgbClr val="1F2937"/>
                </a:solidFill>
                <a:latin typeface="Liter" pitchFamily="34" charset="0"/>
                <a:ea typeface="Liter" pitchFamily="34" charset="-122"/>
                <a:cs typeface="Liter" pitchFamily="34" charset="-120"/>
              </a:rPr>
              <a:t> 等共享基础设施</a:t>
            </a:r>
            <a:endParaRPr lang="en-US" sz="1350" dirty="0">
              <a:solidFill>
                <a:srgbClr val="000000"/>
              </a:solidFill>
              <a:latin typeface="Calibri" panose="020F0502020204030204"/>
            </a:endParaRP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71500" y="381000"/>
            <a:ext cx="11049000" cy="381000"/>
          </a:xfrm>
          <a:prstGeom prst="rect">
            <a:avLst/>
          </a:prstGeom>
          <a:noFill/>
          <a:ln/>
        </p:spPr>
        <p:txBody>
          <a:bodyPr wrap="none" lIns="0" tIns="0" rIns="0" bIns="0" rtlCol="0" anchor="t"/>
          <a:lstStyle/>
          <a:p>
            <a:pPr defTabSz="685800">
              <a:lnSpc>
                <a:spcPct val="130000"/>
              </a:lnSpc>
            </a:pPr>
            <a:r>
              <a:rPr lang="en-US" sz="2100" b="1" dirty="0">
                <a:solidFill>
                  <a:srgbClr val="3B82F6"/>
                </a:solidFill>
                <a:latin typeface="Liter" pitchFamily="34" charset="0"/>
                <a:ea typeface="Liter" pitchFamily="34" charset="-122"/>
                <a:cs typeface="Liter" pitchFamily="34" charset="-120"/>
              </a:rPr>
              <a:t>Q5：弱状态下如何抽象资源分配？</a:t>
            </a:r>
            <a:endParaRPr lang="en-US" sz="2100" dirty="0">
              <a:solidFill>
                <a:srgbClr val="000000"/>
              </a:solidFill>
              <a:latin typeface="Calibri" panose="020F0502020204030204"/>
            </a:endParaRPr>
          </a:p>
        </p:txBody>
      </p:sp>
      <p:sp>
        <p:nvSpPr>
          <p:cNvPr id="3" name="Shape 1"/>
          <p:cNvSpPr/>
          <p:nvPr/>
        </p:nvSpPr>
        <p:spPr>
          <a:xfrm>
            <a:off x="571500" y="809625"/>
            <a:ext cx="571500" cy="38100"/>
          </a:xfrm>
          <a:prstGeom prst="rect">
            <a:avLst/>
          </a:prstGeom>
          <a:solidFill>
            <a:srgbClr val="3B82F6"/>
          </a:solidFill>
          <a:ln/>
        </p:spPr>
        <p:txBody>
          <a:bodyPr/>
          <a:lstStyle/>
          <a:p>
            <a:pPr defTabSz="685800"/>
            <a:endParaRPr lang="zh-CN" altLang="en-US" sz="1350">
              <a:solidFill>
                <a:srgbClr val="000000"/>
              </a:solidFill>
              <a:latin typeface="Calibri" panose="020F0502020204030204"/>
              <a:ea typeface="等线" panose="02010600030101010101" pitchFamily="2" charset="-122"/>
            </a:endParaRPr>
          </a:p>
        </p:txBody>
      </p:sp>
      <p:sp>
        <p:nvSpPr>
          <p:cNvPr id="4" name="Shape 2"/>
          <p:cNvSpPr/>
          <p:nvPr/>
        </p:nvSpPr>
        <p:spPr>
          <a:xfrm>
            <a:off x="571500" y="1047750"/>
            <a:ext cx="4762500" cy="1428750"/>
          </a:xfrm>
          <a:prstGeom prst="roundRect">
            <a:avLst>
              <a:gd name="adj" fmla="val 8000"/>
            </a:avLst>
          </a:prstGeom>
          <a:solidFill>
            <a:srgbClr val="DBEAFE"/>
          </a:solidFill>
          <a:ln/>
        </p:spPr>
        <p:txBody>
          <a:bodyPr/>
          <a:lstStyle/>
          <a:p>
            <a:pPr defTabSz="685800"/>
            <a:endParaRPr lang="zh-CN" altLang="en-US" sz="1350">
              <a:solidFill>
                <a:srgbClr val="000000"/>
              </a:solidFill>
              <a:latin typeface="Calibri" panose="020F0502020204030204"/>
              <a:ea typeface="等线" panose="02010600030101010101" pitchFamily="2" charset="-122"/>
            </a:endParaRPr>
          </a:p>
        </p:txBody>
      </p:sp>
      <p:sp>
        <p:nvSpPr>
          <p:cNvPr id="5" name="Text 3"/>
          <p:cNvSpPr/>
          <p:nvPr/>
        </p:nvSpPr>
        <p:spPr>
          <a:xfrm>
            <a:off x="762000" y="1143000"/>
            <a:ext cx="1905000" cy="247650"/>
          </a:xfrm>
          <a:prstGeom prst="rect">
            <a:avLst/>
          </a:prstGeom>
          <a:noFill/>
          <a:ln/>
        </p:spPr>
        <p:txBody>
          <a:bodyPr wrap="none" lIns="0" tIns="0" rIns="0" bIns="0" rtlCol="0" anchor="t"/>
          <a:lstStyle/>
          <a:p>
            <a:pPr defTabSz="685800">
              <a:lnSpc>
                <a:spcPct val="120000"/>
              </a:lnSpc>
            </a:pPr>
            <a:r>
              <a:rPr lang="en-US" sz="1200" b="1" dirty="0">
                <a:solidFill>
                  <a:srgbClr val="3B82F6"/>
                </a:solidFill>
                <a:latin typeface="MiSans" pitchFamily="34" charset="0"/>
                <a:ea typeface="MiSans" pitchFamily="34" charset="-122"/>
                <a:cs typeface="MiSans" pitchFamily="34" charset="-120"/>
              </a:rPr>
              <a:t>Slot — 资源桶</a:t>
            </a:r>
            <a:endParaRPr lang="en-US" sz="1200" dirty="0">
              <a:solidFill>
                <a:srgbClr val="000000"/>
              </a:solidFill>
              <a:latin typeface="Calibri" panose="020F0502020204030204"/>
            </a:endParaRPr>
          </a:p>
        </p:txBody>
      </p:sp>
      <p:sp>
        <p:nvSpPr>
          <p:cNvPr id="6" name="Text 4"/>
          <p:cNvSpPr/>
          <p:nvPr/>
        </p:nvSpPr>
        <p:spPr>
          <a:xfrm>
            <a:off x="762000" y="1447800"/>
            <a:ext cx="4381500" cy="857250"/>
          </a:xfrm>
          <a:prstGeom prst="rect">
            <a:avLst/>
          </a:prstGeom>
          <a:noFill/>
          <a:ln/>
        </p:spPr>
        <p:txBody>
          <a:bodyPr wrap="square" lIns="0" tIns="0" rIns="0" bIns="0" rtlCol="0" anchor="t"/>
          <a:lstStyle/>
          <a:p>
            <a:pPr defTabSz="685800">
              <a:lnSpc>
                <a:spcPct val="160000"/>
              </a:lnSpc>
            </a:pPr>
            <a:r>
              <a:rPr lang="en-US" sz="1350" dirty="0">
                <a:solidFill>
                  <a:srgbClr val="1F2937"/>
                </a:solidFill>
                <a:latin typeface="Liter" pitchFamily="34" charset="0"/>
                <a:ea typeface="Liter" pitchFamily="34" charset="-122"/>
                <a:cs typeface="Liter" pitchFamily="34" charset="-120"/>
              </a:rPr>
              <a:t>系统里有限的资源被切成若干桶，每桶有自己独立的状态（如一个 Redis 计数器）</a:t>
            </a:r>
            <a:endParaRPr lang="en-US" sz="1350" dirty="0">
              <a:solidFill>
                <a:srgbClr val="000000"/>
              </a:solidFill>
              <a:latin typeface="Calibri" panose="020F0502020204030204"/>
            </a:endParaRPr>
          </a:p>
        </p:txBody>
      </p:sp>
      <p:sp>
        <p:nvSpPr>
          <p:cNvPr id="7" name="Shape 5"/>
          <p:cNvSpPr/>
          <p:nvPr/>
        </p:nvSpPr>
        <p:spPr>
          <a:xfrm>
            <a:off x="571500" y="2667000"/>
            <a:ext cx="4762500" cy="1428750"/>
          </a:xfrm>
          <a:prstGeom prst="roundRect">
            <a:avLst>
              <a:gd name="adj" fmla="val 8000"/>
            </a:avLst>
          </a:prstGeom>
          <a:solidFill>
            <a:srgbClr val="DBEAFE"/>
          </a:solidFill>
          <a:ln/>
        </p:spPr>
        <p:txBody>
          <a:bodyPr/>
          <a:lstStyle/>
          <a:p>
            <a:pPr defTabSz="685800"/>
            <a:endParaRPr lang="zh-CN" altLang="en-US" sz="1350">
              <a:solidFill>
                <a:srgbClr val="000000"/>
              </a:solidFill>
              <a:latin typeface="Calibri" panose="020F0502020204030204"/>
              <a:ea typeface="等线" panose="02010600030101010101" pitchFamily="2" charset="-122"/>
            </a:endParaRPr>
          </a:p>
        </p:txBody>
      </p:sp>
      <p:sp>
        <p:nvSpPr>
          <p:cNvPr id="8" name="Text 6"/>
          <p:cNvSpPr/>
          <p:nvPr/>
        </p:nvSpPr>
        <p:spPr>
          <a:xfrm>
            <a:off x="762000" y="2762250"/>
            <a:ext cx="1905000" cy="247650"/>
          </a:xfrm>
          <a:prstGeom prst="rect">
            <a:avLst/>
          </a:prstGeom>
          <a:noFill/>
          <a:ln/>
        </p:spPr>
        <p:txBody>
          <a:bodyPr wrap="none" lIns="0" tIns="0" rIns="0" bIns="0" rtlCol="0" anchor="t"/>
          <a:lstStyle/>
          <a:p>
            <a:pPr defTabSz="685800">
              <a:lnSpc>
                <a:spcPct val="120000"/>
              </a:lnSpc>
            </a:pPr>
            <a:r>
              <a:rPr lang="en-US" sz="1200" b="1" dirty="0">
                <a:solidFill>
                  <a:srgbClr val="3B82F6"/>
                </a:solidFill>
                <a:latin typeface="MiSans" pitchFamily="34" charset="0"/>
                <a:ea typeface="MiSans" pitchFamily="34" charset="-122"/>
                <a:cs typeface="MiSans" pitchFamily="34" charset="-120"/>
              </a:rPr>
              <a:t>Actor — 请求者</a:t>
            </a:r>
            <a:endParaRPr lang="en-US" sz="1200" dirty="0">
              <a:solidFill>
                <a:srgbClr val="000000"/>
              </a:solidFill>
              <a:latin typeface="Calibri" panose="020F0502020204030204"/>
            </a:endParaRPr>
          </a:p>
        </p:txBody>
      </p:sp>
      <p:sp>
        <p:nvSpPr>
          <p:cNvPr id="9" name="Text 7"/>
          <p:cNvSpPr/>
          <p:nvPr/>
        </p:nvSpPr>
        <p:spPr>
          <a:xfrm>
            <a:off x="762000" y="3067050"/>
            <a:ext cx="4381500" cy="857250"/>
          </a:xfrm>
          <a:prstGeom prst="rect">
            <a:avLst/>
          </a:prstGeom>
          <a:noFill/>
          <a:ln/>
        </p:spPr>
        <p:txBody>
          <a:bodyPr wrap="square" lIns="0" tIns="0" rIns="0" bIns="0" rtlCol="0" anchor="t"/>
          <a:lstStyle/>
          <a:p>
            <a:pPr defTabSz="685800">
              <a:lnSpc>
                <a:spcPct val="160000"/>
              </a:lnSpc>
            </a:pPr>
            <a:r>
              <a:rPr lang="en-US" sz="1350" dirty="0">
                <a:solidFill>
                  <a:srgbClr val="1F2937"/>
                </a:solidFill>
                <a:latin typeface="Liter" pitchFamily="34" charset="0"/>
                <a:ea typeface="Liter" pitchFamily="34" charset="-122"/>
                <a:cs typeface="Liter" pitchFamily="34" charset="-120"/>
              </a:rPr>
              <a:t>每个进来的请求，携带身份和元数据，作为 Allocator 的入口参数</a:t>
            </a:r>
            <a:endParaRPr lang="en-US" sz="1350" dirty="0">
              <a:solidFill>
                <a:srgbClr val="000000"/>
              </a:solidFill>
              <a:latin typeface="Calibri" panose="020F0502020204030204"/>
            </a:endParaRPr>
          </a:p>
        </p:txBody>
      </p:sp>
      <p:sp>
        <p:nvSpPr>
          <p:cNvPr id="10" name="Shape 8"/>
          <p:cNvSpPr/>
          <p:nvPr/>
        </p:nvSpPr>
        <p:spPr>
          <a:xfrm>
            <a:off x="571500" y="4286250"/>
            <a:ext cx="4762500" cy="1619250"/>
          </a:xfrm>
          <a:prstGeom prst="roundRect">
            <a:avLst>
              <a:gd name="adj" fmla="val 8000"/>
            </a:avLst>
          </a:prstGeom>
          <a:solidFill>
            <a:srgbClr val="DBEAFE"/>
          </a:solidFill>
          <a:ln/>
        </p:spPr>
        <p:txBody>
          <a:bodyPr/>
          <a:lstStyle/>
          <a:p>
            <a:pPr defTabSz="685800"/>
            <a:endParaRPr lang="zh-CN" altLang="en-US" sz="1350">
              <a:solidFill>
                <a:srgbClr val="000000"/>
              </a:solidFill>
              <a:latin typeface="Calibri" panose="020F0502020204030204"/>
              <a:ea typeface="等线" panose="02010600030101010101" pitchFamily="2" charset="-122"/>
            </a:endParaRPr>
          </a:p>
        </p:txBody>
      </p:sp>
      <p:sp>
        <p:nvSpPr>
          <p:cNvPr id="11" name="Text 9"/>
          <p:cNvSpPr/>
          <p:nvPr/>
        </p:nvSpPr>
        <p:spPr>
          <a:xfrm>
            <a:off x="762000" y="4381500"/>
            <a:ext cx="2476500" cy="247650"/>
          </a:xfrm>
          <a:prstGeom prst="rect">
            <a:avLst/>
          </a:prstGeom>
          <a:noFill/>
          <a:ln/>
        </p:spPr>
        <p:txBody>
          <a:bodyPr wrap="none" lIns="0" tIns="0" rIns="0" bIns="0" rtlCol="0" anchor="t"/>
          <a:lstStyle/>
          <a:p>
            <a:pPr defTabSz="685800">
              <a:lnSpc>
                <a:spcPct val="120000"/>
              </a:lnSpc>
            </a:pPr>
            <a:r>
              <a:rPr lang="en-US" sz="1200" b="1" dirty="0">
                <a:solidFill>
                  <a:srgbClr val="3B82F6"/>
                </a:solidFill>
                <a:latin typeface="MiSans" pitchFamily="34" charset="0"/>
                <a:ea typeface="MiSans" pitchFamily="34" charset="-122"/>
                <a:cs typeface="MiSans" pitchFamily="34" charset="-120"/>
              </a:rPr>
              <a:t>Allocator — 唯一入口</a:t>
            </a:r>
            <a:endParaRPr lang="en-US" sz="1200" dirty="0">
              <a:solidFill>
                <a:srgbClr val="000000"/>
              </a:solidFill>
              <a:latin typeface="Calibri" panose="020F0502020204030204"/>
            </a:endParaRPr>
          </a:p>
        </p:txBody>
      </p:sp>
      <p:sp>
        <p:nvSpPr>
          <p:cNvPr id="12" name="Text 10"/>
          <p:cNvSpPr/>
          <p:nvPr/>
        </p:nvSpPr>
        <p:spPr>
          <a:xfrm>
            <a:off x="762000" y="4686300"/>
            <a:ext cx="4381500" cy="1143000"/>
          </a:xfrm>
          <a:prstGeom prst="rect">
            <a:avLst/>
          </a:prstGeom>
          <a:noFill/>
          <a:ln/>
        </p:spPr>
        <p:txBody>
          <a:bodyPr wrap="square" lIns="0" tIns="0" rIns="0" bIns="0" rtlCol="0" anchor="t"/>
          <a:lstStyle/>
          <a:p>
            <a:pPr defTabSz="685800">
              <a:lnSpc>
                <a:spcPct val="160000"/>
              </a:lnSpc>
            </a:pPr>
            <a:r>
              <a:rPr lang="en-US" sz="1350" dirty="0">
                <a:solidFill>
                  <a:srgbClr val="1F2937"/>
                </a:solidFill>
                <a:latin typeface="Liter" pitchFamily="34" charset="0"/>
                <a:ea typeface="Liter" pitchFamily="34" charset="-122"/>
                <a:cs typeface="Liter" pitchFamily="34" charset="-120"/>
              </a:rPr>
              <a:t>allocate(Actor) → Result</a:t>
            </a:r>
            <a:endParaRPr lang="en-US" sz="1350" dirty="0">
              <a:solidFill>
                <a:srgbClr val="000000"/>
              </a:solidFill>
              <a:latin typeface="Calibri" panose="020F0502020204030204"/>
            </a:endParaRPr>
          </a:p>
          <a:p>
            <a:pPr defTabSz="685800">
              <a:lnSpc>
                <a:spcPct val="160000"/>
              </a:lnSpc>
              <a:spcBef>
                <a:spcPts val="600"/>
              </a:spcBef>
            </a:pPr>
            <a:r>
              <a:rPr lang="en-US" sz="1350" dirty="0">
                <a:solidFill>
                  <a:srgbClr val="1F2937"/>
                </a:solidFill>
                <a:latin typeface="Liter" pitchFamily="34" charset="0"/>
                <a:ea typeface="Liter" pitchFamily="34" charset="-122"/>
                <a:cs typeface="Liter" pitchFamily="34" charset="-120"/>
              </a:rPr>
              <a:t>框架只负责把请求送到正确的桶，分配后怎么改变状态是业务的事</a:t>
            </a:r>
            <a:endParaRPr lang="en-US" sz="1350" dirty="0">
              <a:solidFill>
                <a:srgbClr val="000000"/>
              </a:solidFill>
              <a:latin typeface="Calibri" panose="020F0502020204030204"/>
            </a:endParaRPr>
          </a:p>
        </p:txBody>
      </p:sp>
      <p:pic>
        <p:nvPicPr>
          <p:cNvPr id="13" name="Image 0" descr="https://kimi-img.moonshot.cn/pub/slides/okc/c26ulxynikn5k/mnt/agents/output/tech-highlights/images/core%20%E5%88%86%E9%85%8D%E6%B5%81%E7%A8%8B%E5%9B%BE.jpg"/>
          <p:cNvPicPr>
            <a:picLocks noChangeAspect="1"/>
          </p:cNvPicPr>
          <p:nvPr/>
        </p:nvPicPr>
        <p:blipFill>
          <a:blip r:embed="rId3"/>
          <a:srcRect/>
          <a:stretch/>
        </p:blipFill>
        <p:spPr>
          <a:xfrm>
            <a:off x="5715000" y="1047750"/>
            <a:ext cx="5905500" cy="4667250"/>
          </a:xfrm>
          <a:prstGeom prst="roundRect">
            <a:avLst>
              <a:gd name="adj" fmla="val 8000"/>
            </a:avLst>
          </a:prstGeom>
        </p:spPr>
      </p:pic>
      <p:sp>
        <p:nvSpPr>
          <p:cNvPr id="14" name="Shape 11"/>
          <p:cNvSpPr/>
          <p:nvPr/>
        </p:nvSpPr>
        <p:spPr>
          <a:xfrm>
            <a:off x="5715000" y="1047750"/>
            <a:ext cx="5905500" cy="4667250"/>
          </a:xfrm>
          <a:prstGeom prst="roundRect">
            <a:avLst>
              <a:gd name="adj" fmla="val 8000"/>
            </a:avLst>
          </a:prstGeom>
          <a:solidFill>
            <a:srgbClr val="FFFFFF">
              <a:alpha val="0"/>
            </a:srgbClr>
          </a:solidFill>
          <a:ln w="12700">
            <a:solidFill>
              <a:srgbClr val="E2E8F0"/>
            </a:solidFill>
            <a:prstDash val="solid"/>
          </a:ln>
        </p:spPr>
        <p:txBody>
          <a:bodyPr/>
          <a:lstStyle/>
          <a:p>
            <a:pPr defTabSz="685800"/>
            <a:endParaRPr lang="zh-CN" altLang="en-US" sz="1350">
              <a:solidFill>
                <a:srgbClr val="000000"/>
              </a:solidFill>
              <a:latin typeface="Calibri" panose="020F0502020204030204"/>
              <a:ea typeface="等线" panose="02010600030101010101" pitchFamily="2" charset="-122"/>
            </a:endParaRP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71500" y="381000"/>
            <a:ext cx="11049000" cy="381000"/>
          </a:xfrm>
          <a:prstGeom prst="rect">
            <a:avLst/>
          </a:prstGeom>
          <a:noFill/>
          <a:ln/>
        </p:spPr>
        <p:txBody>
          <a:bodyPr wrap="none" lIns="0" tIns="0" rIns="0" bIns="0" rtlCol="0" anchor="t"/>
          <a:lstStyle/>
          <a:p>
            <a:pPr defTabSz="685800">
              <a:lnSpc>
                <a:spcPct val="130000"/>
              </a:lnSpc>
            </a:pPr>
            <a:r>
              <a:rPr lang="en-US" sz="2100" b="1" dirty="0">
                <a:solidFill>
                  <a:srgbClr val="3B82F6"/>
                </a:solidFill>
                <a:latin typeface="Liter" pitchFamily="34" charset="0"/>
                <a:ea typeface="Liter" pitchFamily="34" charset="-122"/>
                <a:cs typeface="Liter" pitchFamily="34" charset="-120"/>
              </a:rPr>
              <a:t>Q6：分配逻辑如何做到可插拔？</a:t>
            </a:r>
            <a:endParaRPr lang="en-US" sz="2100" dirty="0">
              <a:solidFill>
                <a:srgbClr val="000000"/>
              </a:solidFill>
              <a:latin typeface="Calibri" panose="020F0502020204030204"/>
            </a:endParaRPr>
          </a:p>
        </p:txBody>
      </p:sp>
      <p:sp>
        <p:nvSpPr>
          <p:cNvPr id="3" name="Shape 1"/>
          <p:cNvSpPr/>
          <p:nvPr/>
        </p:nvSpPr>
        <p:spPr>
          <a:xfrm>
            <a:off x="571500" y="809625"/>
            <a:ext cx="571500" cy="38100"/>
          </a:xfrm>
          <a:prstGeom prst="rect">
            <a:avLst/>
          </a:prstGeom>
          <a:solidFill>
            <a:srgbClr val="3B82F6"/>
          </a:solidFill>
          <a:ln/>
        </p:spPr>
        <p:txBody>
          <a:bodyPr/>
          <a:lstStyle/>
          <a:p>
            <a:pPr defTabSz="685800"/>
            <a:endParaRPr lang="zh-CN" altLang="en-US" sz="1350">
              <a:solidFill>
                <a:srgbClr val="000000"/>
              </a:solidFill>
              <a:latin typeface="Calibri" panose="020F0502020204030204"/>
              <a:ea typeface="等线" panose="02010600030101010101" pitchFamily="2" charset="-122"/>
            </a:endParaRPr>
          </a:p>
        </p:txBody>
      </p:sp>
      <p:pic>
        <p:nvPicPr>
          <p:cNvPr id="4" name="Image 0" descr="https://kimi-img.moonshot.cn/pub/slides/okc/c26ulxynikn5k/mnt/agents/output/tech-highlights/images/Interceptor%20%E9%93%BE%20around%20%E8%AF%AD%E4%B9%89%E6%B5%81%E7%A8%8B%E5%9B%BE.jpg"/>
          <p:cNvPicPr>
            <a:picLocks noChangeAspect="1"/>
          </p:cNvPicPr>
          <p:nvPr/>
        </p:nvPicPr>
        <p:blipFill>
          <a:blip r:embed="rId3"/>
          <a:srcRect/>
          <a:stretch/>
        </p:blipFill>
        <p:spPr>
          <a:xfrm>
            <a:off x="571500" y="1000125"/>
            <a:ext cx="11049000" cy="3048000"/>
          </a:xfrm>
          <a:prstGeom prst="roundRect">
            <a:avLst>
              <a:gd name="adj" fmla="val 8000"/>
            </a:avLst>
          </a:prstGeom>
        </p:spPr>
      </p:pic>
      <p:sp>
        <p:nvSpPr>
          <p:cNvPr id="5" name="Shape 2"/>
          <p:cNvSpPr/>
          <p:nvPr/>
        </p:nvSpPr>
        <p:spPr>
          <a:xfrm>
            <a:off x="571500" y="1000125"/>
            <a:ext cx="11049000" cy="3048000"/>
          </a:xfrm>
          <a:prstGeom prst="roundRect">
            <a:avLst>
              <a:gd name="adj" fmla="val 8000"/>
            </a:avLst>
          </a:prstGeom>
          <a:solidFill>
            <a:srgbClr val="FFFFFF">
              <a:alpha val="0"/>
            </a:srgbClr>
          </a:solidFill>
          <a:ln w="12700">
            <a:solidFill>
              <a:srgbClr val="E2E8F0"/>
            </a:solidFill>
            <a:prstDash val="solid"/>
          </a:ln>
        </p:spPr>
        <p:txBody>
          <a:bodyPr/>
          <a:lstStyle/>
          <a:p>
            <a:pPr defTabSz="685800"/>
            <a:endParaRPr lang="zh-CN" altLang="en-US" sz="1350">
              <a:solidFill>
                <a:srgbClr val="000000"/>
              </a:solidFill>
              <a:latin typeface="Calibri" panose="020F0502020204030204"/>
              <a:ea typeface="等线" panose="02010600030101010101" pitchFamily="2" charset="-122"/>
            </a:endParaRPr>
          </a:p>
        </p:txBody>
      </p:sp>
      <p:sp>
        <p:nvSpPr>
          <p:cNvPr id="6" name="Shape 3"/>
          <p:cNvSpPr/>
          <p:nvPr/>
        </p:nvSpPr>
        <p:spPr>
          <a:xfrm>
            <a:off x="571500" y="4286250"/>
            <a:ext cx="11049000" cy="2000250"/>
          </a:xfrm>
          <a:prstGeom prst="roundRect">
            <a:avLst>
              <a:gd name="adj" fmla="val 8000"/>
            </a:avLst>
          </a:prstGeom>
          <a:solidFill>
            <a:srgbClr val="FEF3C7"/>
          </a:solidFill>
          <a:ln w="12700">
            <a:solidFill>
              <a:srgbClr val="F59E0B"/>
            </a:solidFill>
            <a:prstDash val="solid"/>
          </a:ln>
        </p:spPr>
        <p:txBody>
          <a:bodyPr/>
          <a:lstStyle/>
          <a:p>
            <a:pPr defTabSz="685800"/>
            <a:endParaRPr lang="zh-CN" altLang="en-US" sz="1350">
              <a:solidFill>
                <a:srgbClr val="000000"/>
              </a:solidFill>
              <a:latin typeface="Calibri" panose="020F0502020204030204"/>
              <a:ea typeface="等线" panose="02010600030101010101" pitchFamily="2" charset="-122"/>
            </a:endParaRPr>
          </a:p>
        </p:txBody>
      </p:sp>
      <p:sp>
        <p:nvSpPr>
          <p:cNvPr id="7" name="Text 4"/>
          <p:cNvSpPr/>
          <p:nvPr/>
        </p:nvSpPr>
        <p:spPr>
          <a:xfrm>
            <a:off x="762000" y="4400550"/>
            <a:ext cx="3810000" cy="266700"/>
          </a:xfrm>
          <a:prstGeom prst="rect">
            <a:avLst/>
          </a:prstGeom>
          <a:noFill/>
          <a:ln/>
        </p:spPr>
        <p:txBody>
          <a:bodyPr wrap="none" lIns="0" tIns="0" rIns="0" bIns="0" rtlCol="0" anchor="t"/>
          <a:lstStyle/>
          <a:p>
            <a:pPr defTabSz="685800">
              <a:lnSpc>
                <a:spcPct val="120000"/>
              </a:lnSpc>
            </a:pPr>
            <a:r>
              <a:rPr lang="en-US" sz="1350" b="1" dirty="0">
                <a:solidFill>
                  <a:srgbClr val="F59E0B"/>
                </a:solidFill>
                <a:latin typeface="MiSans" pitchFamily="34" charset="0"/>
                <a:ea typeface="MiSans" pitchFamily="34" charset="-122"/>
                <a:cs typeface="MiSans" pitchFamily="34" charset="-120"/>
              </a:rPr>
              <a:t>FraudDetectionInterceptor 实战</a:t>
            </a:r>
            <a:endParaRPr lang="en-US" sz="1350" dirty="0">
              <a:solidFill>
                <a:srgbClr val="000000"/>
              </a:solidFill>
              <a:latin typeface="Calibri" panose="020F0502020204030204"/>
            </a:endParaRPr>
          </a:p>
        </p:txBody>
      </p:sp>
      <p:sp>
        <p:nvSpPr>
          <p:cNvPr id="8" name="Text 5"/>
          <p:cNvSpPr/>
          <p:nvPr/>
        </p:nvSpPr>
        <p:spPr>
          <a:xfrm>
            <a:off x="762000" y="4743450"/>
            <a:ext cx="10668000" cy="1381125"/>
          </a:xfrm>
          <a:prstGeom prst="rect">
            <a:avLst/>
          </a:prstGeom>
          <a:noFill/>
          <a:ln/>
        </p:spPr>
        <p:txBody>
          <a:bodyPr wrap="square" lIns="0" tIns="0" rIns="0" bIns="0" rtlCol="0" anchor="t"/>
          <a:lstStyle/>
          <a:p>
            <a:pPr defTabSz="685800">
              <a:lnSpc>
                <a:spcPct val="160000"/>
              </a:lnSpc>
            </a:pPr>
            <a:r>
              <a:rPr lang="en-US" sz="1350" dirty="0">
                <a:solidFill>
                  <a:srgbClr val="1F2937"/>
                </a:solidFill>
                <a:latin typeface="Liter" pitchFamily="34" charset="0"/>
                <a:ea typeface="Liter" pitchFamily="34" charset="-122"/>
                <a:cs typeface="Liter" pitchFamily="34" charset="-120"/>
              </a:rPr>
              <a:t>• 计算每个用户的 </a:t>
            </a:r>
            <a:r>
              <a:rPr lang="en-US" sz="1350" b="1" dirty="0">
                <a:solidFill>
                  <a:srgbClr val="1F2937"/>
                </a:solidFill>
                <a:latin typeface="Liter" pitchFamily="34" charset="0"/>
                <a:ea typeface="Liter" pitchFamily="34" charset="-122"/>
                <a:cs typeface="Liter" pitchFamily="34" charset="-120"/>
              </a:rPr>
              <a:t>4 维行为特征哈希</a:t>
            </a:r>
            <a:r>
              <a:rPr lang="en-US" sz="1350" dirty="0">
                <a:solidFill>
                  <a:srgbClr val="1F2937"/>
                </a:solidFill>
                <a:latin typeface="Liter" pitchFamily="34" charset="0"/>
                <a:ea typeface="Liter" pitchFamily="34" charset="-122"/>
                <a:cs typeface="Liter" pitchFamily="34" charset="-120"/>
              </a:rPr>
              <a:t>：请求频率、时间窗口、Slot 偏好、跨桶切换</a:t>
            </a:r>
            <a:endParaRPr lang="en-US" sz="1350" dirty="0">
              <a:solidFill>
                <a:srgbClr val="000000"/>
              </a:solidFill>
              <a:latin typeface="Calibri" panose="020F0502020204030204"/>
            </a:endParaRPr>
          </a:p>
          <a:p>
            <a:pPr defTabSz="685800">
              <a:lnSpc>
                <a:spcPct val="160000"/>
              </a:lnSpc>
              <a:spcBef>
                <a:spcPts val="750"/>
              </a:spcBef>
            </a:pPr>
            <a:r>
              <a:rPr lang="en-US" sz="1350" dirty="0">
                <a:solidFill>
                  <a:srgbClr val="1F2937"/>
                </a:solidFill>
                <a:latin typeface="Liter" pitchFamily="34" charset="0"/>
                <a:ea typeface="Liter" pitchFamily="34" charset="-122"/>
                <a:cs typeface="Liter" pitchFamily="34" charset="-120"/>
              </a:rPr>
              <a:t>• 风险分超过阈值就拦截，不进入库存扣减流程</a:t>
            </a:r>
            <a:endParaRPr lang="en-US" sz="1350" dirty="0">
              <a:solidFill>
                <a:srgbClr val="000000"/>
              </a:solidFill>
              <a:latin typeface="Calibri" panose="020F0502020204030204"/>
            </a:endParaRPr>
          </a:p>
          <a:p>
            <a:pPr defTabSz="685800">
              <a:lnSpc>
                <a:spcPct val="160000"/>
              </a:lnSpc>
              <a:spcBef>
                <a:spcPts val="750"/>
              </a:spcBef>
            </a:pPr>
            <a:r>
              <a:rPr lang="en-US" sz="1350" dirty="0">
                <a:solidFill>
                  <a:srgbClr val="1F2937"/>
                </a:solidFill>
                <a:latin typeface="Liter" pitchFamily="34" charset="0"/>
                <a:ea typeface="Liter" pitchFamily="34" charset="-122"/>
                <a:cs typeface="Liter" pitchFamily="34" charset="-120"/>
              </a:rPr>
              <a:t>• 这个拦截器有意设计为 </a:t>
            </a:r>
            <a:r>
              <a:rPr lang="en-US" sz="1350" b="1" dirty="0">
                <a:solidFill>
                  <a:srgbClr val="EF4444"/>
                </a:solidFill>
                <a:latin typeface="Liter" pitchFamily="34" charset="0"/>
                <a:ea typeface="Liter" pitchFamily="34" charset="-122"/>
                <a:cs typeface="Liter" pitchFamily="34" charset="-120"/>
              </a:rPr>
              <a:t>CPU 密集型</a:t>
            </a:r>
            <a:r>
              <a:rPr lang="en-US" sz="1350" dirty="0">
                <a:solidFill>
                  <a:srgbClr val="1F2937"/>
                </a:solidFill>
                <a:latin typeface="Liter" pitchFamily="34" charset="0"/>
                <a:ea typeface="Liter" pitchFamily="34" charset="-122"/>
                <a:cs typeface="Liter" pitchFamily="34" charset="-120"/>
              </a:rPr>
              <a:t>，用来触发 Scaler 扩容</a:t>
            </a:r>
            <a:endParaRPr lang="en-US" sz="1350" dirty="0">
              <a:solidFill>
                <a:srgbClr val="000000"/>
              </a:solidFill>
              <a:latin typeface="Calibri" panose="020F0502020204030204"/>
            </a:endParaRP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71500" y="381000"/>
            <a:ext cx="11049000" cy="381000"/>
          </a:xfrm>
          <a:prstGeom prst="rect">
            <a:avLst/>
          </a:prstGeom>
          <a:noFill/>
          <a:ln/>
        </p:spPr>
        <p:txBody>
          <a:bodyPr wrap="none" lIns="0" tIns="0" rIns="0" bIns="0" rtlCol="0" anchor="t"/>
          <a:lstStyle/>
          <a:p>
            <a:pPr defTabSz="685800">
              <a:lnSpc>
                <a:spcPct val="130000"/>
              </a:lnSpc>
            </a:pPr>
            <a:r>
              <a:rPr lang="en-US" sz="2100" b="1" dirty="0">
                <a:solidFill>
                  <a:srgbClr val="3B82F6"/>
                </a:solidFill>
                <a:latin typeface="Liter" pitchFamily="34" charset="0"/>
                <a:ea typeface="Liter" pitchFamily="34" charset="-122"/>
                <a:cs typeface="Liter" pitchFamily="34" charset="-120"/>
              </a:rPr>
              <a:t>Q7：秒杀场景下状态怎么放？</a:t>
            </a:r>
            <a:endParaRPr lang="en-US" sz="2100" dirty="0">
              <a:solidFill>
                <a:srgbClr val="000000"/>
              </a:solidFill>
              <a:latin typeface="Calibri" panose="020F0502020204030204"/>
            </a:endParaRPr>
          </a:p>
        </p:txBody>
      </p:sp>
      <p:sp>
        <p:nvSpPr>
          <p:cNvPr id="3" name="Shape 1"/>
          <p:cNvSpPr/>
          <p:nvPr/>
        </p:nvSpPr>
        <p:spPr>
          <a:xfrm>
            <a:off x="571500" y="809625"/>
            <a:ext cx="571500" cy="38100"/>
          </a:xfrm>
          <a:prstGeom prst="rect">
            <a:avLst/>
          </a:prstGeom>
          <a:solidFill>
            <a:srgbClr val="3B82F6"/>
          </a:solidFill>
          <a:ln/>
        </p:spPr>
        <p:txBody>
          <a:bodyPr/>
          <a:lstStyle/>
          <a:p>
            <a:pPr defTabSz="685800"/>
            <a:endParaRPr lang="zh-CN" altLang="en-US" sz="1350">
              <a:solidFill>
                <a:srgbClr val="000000"/>
              </a:solidFill>
              <a:latin typeface="Calibri" panose="020F0502020204030204"/>
              <a:ea typeface="等线" panose="02010600030101010101" pitchFamily="2" charset="-122"/>
            </a:endParaRPr>
          </a:p>
        </p:txBody>
      </p:sp>
      <p:sp>
        <p:nvSpPr>
          <p:cNvPr id="4" name="Shape 2"/>
          <p:cNvSpPr/>
          <p:nvPr/>
        </p:nvSpPr>
        <p:spPr>
          <a:xfrm>
            <a:off x="571500" y="1000125"/>
            <a:ext cx="5286375" cy="5143500"/>
          </a:xfrm>
          <a:prstGeom prst="roundRect">
            <a:avLst>
              <a:gd name="adj" fmla="val 8000"/>
            </a:avLst>
          </a:prstGeom>
          <a:solidFill>
            <a:srgbClr val="FCA5A5"/>
          </a:solidFill>
          <a:ln w="12700">
            <a:solidFill>
              <a:srgbClr val="EF4444"/>
            </a:solidFill>
            <a:prstDash val="solid"/>
          </a:ln>
        </p:spPr>
        <p:txBody>
          <a:bodyPr/>
          <a:lstStyle/>
          <a:p>
            <a:pPr defTabSz="685800"/>
            <a:endParaRPr lang="zh-CN" altLang="en-US" sz="1350">
              <a:solidFill>
                <a:srgbClr val="000000"/>
              </a:solidFill>
              <a:latin typeface="Calibri" panose="020F0502020204030204"/>
              <a:ea typeface="等线" panose="02010600030101010101" pitchFamily="2" charset="-122"/>
            </a:endParaRPr>
          </a:p>
        </p:txBody>
      </p:sp>
      <p:sp>
        <p:nvSpPr>
          <p:cNvPr id="5" name="Text 3"/>
          <p:cNvSpPr/>
          <p:nvPr/>
        </p:nvSpPr>
        <p:spPr>
          <a:xfrm>
            <a:off x="762000" y="1123950"/>
            <a:ext cx="2476500" cy="266700"/>
          </a:xfrm>
          <a:prstGeom prst="rect">
            <a:avLst/>
          </a:prstGeom>
          <a:noFill/>
          <a:ln/>
        </p:spPr>
        <p:txBody>
          <a:bodyPr wrap="none" lIns="0" tIns="0" rIns="0" bIns="0" rtlCol="0" anchor="t"/>
          <a:lstStyle/>
          <a:p>
            <a:pPr defTabSz="685800">
              <a:lnSpc>
                <a:spcPct val="120000"/>
              </a:lnSpc>
            </a:pPr>
            <a:r>
              <a:rPr lang="en-US" sz="1200" b="1" dirty="0">
                <a:solidFill>
                  <a:srgbClr val="EF4444"/>
                </a:solidFill>
                <a:latin typeface="MiSans" pitchFamily="34" charset="0"/>
                <a:ea typeface="MiSans" pitchFamily="34" charset="-122"/>
                <a:cs typeface="MiSans" pitchFamily="34" charset="-120"/>
              </a:rPr>
              <a:t>传统方案（问题）</a:t>
            </a:r>
            <a:endParaRPr lang="en-US" sz="1200" dirty="0">
              <a:solidFill>
                <a:srgbClr val="000000"/>
              </a:solidFill>
              <a:latin typeface="Calibri" panose="020F0502020204030204"/>
            </a:endParaRPr>
          </a:p>
        </p:txBody>
      </p:sp>
      <p:pic>
        <p:nvPicPr>
          <p:cNvPr id="6" name="Image 0" descr="https://kimi-img.moonshot.cn/pub/slides/okc/c26ulxynikn5k/mnt/agents/output/tech-highlights/images/%E5%8D%95%E4%B8%80%E5%85%A8%E5%B1%80%E5%BA%93%E5%AD%98%E9%94%81%E7%A4%BA%E6%84%8F.jpg"/>
          <p:cNvPicPr>
            <a:picLocks noChangeAspect="1"/>
          </p:cNvPicPr>
          <p:nvPr/>
        </p:nvPicPr>
        <p:blipFill>
          <a:blip r:embed="rId3"/>
          <a:srcRect/>
          <a:stretch/>
        </p:blipFill>
        <p:spPr>
          <a:xfrm>
            <a:off x="762000" y="1476375"/>
            <a:ext cx="4905375" cy="2476500"/>
          </a:xfrm>
          <a:prstGeom prst="roundRect">
            <a:avLst>
              <a:gd name="adj" fmla="val 8000"/>
            </a:avLst>
          </a:prstGeom>
        </p:spPr>
      </p:pic>
      <p:sp>
        <p:nvSpPr>
          <p:cNvPr id="7" name="Text 4"/>
          <p:cNvSpPr/>
          <p:nvPr/>
        </p:nvSpPr>
        <p:spPr>
          <a:xfrm>
            <a:off x="762000" y="4095750"/>
            <a:ext cx="4905375" cy="1905000"/>
          </a:xfrm>
          <a:prstGeom prst="rect">
            <a:avLst/>
          </a:prstGeom>
          <a:noFill/>
          <a:ln/>
        </p:spPr>
        <p:txBody>
          <a:bodyPr wrap="square" lIns="0" tIns="0" rIns="0" bIns="0" rtlCol="0" anchor="t"/>
          <a:lstStyle/>
          <a:p>
            <a:pPr defTabSz="685800">
              <a:lnSpc>
                <a:spcPct val="160000"/>
              </a:lnSpc>
            </a:pPr>
            <a:r>
              <a:rPr lang="en-US" sz="1350" dirty="0">
                <a:solidFill>
                  <a:srgbClr val="1F2937"/>
                </a:solidFill>
                <a:latin typeface="Liter" pitchFamily="34" charset="0"/>
                <a:ea typeface="Liter" pitchFamily="34" charset="-122"/>
                <a:cs typeface="Liter" pitchFamily="34" charset="-120"/>
              </a:rPr>
              <a:t>• 单一全局库存锁，所有请求争抢同一把锁</a:t>
            </a:r>
            <a:endParaRPr lang="en-US" sz="1350" dirty="0">
              <a:solidFill>
                <a:srgbClr val="000000"/>
              </a:solidFill>
              <a:latin typeface="Calibri" panose="020F0502020204030204"/>
            </a:endParaRPr>
          </a:p>
          <a:p>
            <a:pPr defTabSz="685800">
              <a:lnSpc>
                <a:spcPct val="160000"/>
              </a:lnSpc>
              <a:spcBef>
                <a:spcPts val="900"/>
              </a:spcBef>
            </a:pPr>
            <a:r>
              <a:rPr lang="en-US" sz="1350" dirty="0">
                <a:solidFill>
                  <a:srgbClr val="1F2937"/>
                </a:solidFill>
                <a:latin typeface="Liter" pitchFamily="34" charset="0"/>
                <a:ea typeface="Liter" pitchFamily="34" charset="-122"/>
                <a:cs typeface="Liter" pitchFamily="34" charset="-120"/>
              </a:rPr>
              <a:t>• 并发瓶颈集中，吞吐量上不去</a:t>
            </a:r>
            <a:endParaRPr lang="en-US" sz="1350" dirty="0">
              <a:solidFill>
                <a:srgbClr val="000000"/>
              </a:solidFill>
              <a:latin typeface="Calibri" panose="020F0502020204030204"/>
            </a:endParaRPr>
          </a:p>
        </p:txBody>
      </p:sp>
      <p:sp>
        <p:nvSpPr>
          <p:cNvPr id="8" name="Shape 5"/>
          <p:cNvSpPr/>
          <p:nvPr/>
        </p:nvSpPr>
        <p:spPr>
          <a:xfrm>
            <a:off x="6334125" y="1000125"/>
            <a:ext cx="5286375" cy="5143500"/>
          </a:xfrm>
          <a:prstGeom prst="roundRect">
            <a:avLst>
              <a:gd name="adj" fmla="val 8000"/>
            </a:avLst>
          </a:prstGeom>
          <a:solidFill>
            <a:srgbClr val="BBF7D0"/>
          </a:solidFill>
          <a:ln w="12700">
            <a:solidFill>
              <a:srgbClr val="22C55E"/>
            </a:solidFill>
            <a:prstDash val="solid"/>
          </a:ln>
        </p:spPr>
        <p:txBody>
          <a:bodyPr/>
          <a:lstStyle/>
          <a:p>
            <a:pPr defTabSz="685800"/>
            <a:endParaRPr lang="zh-CN" altLang="en-US" sz="1350">
              <a:solidFill>
                <a:srgbClr val="000000"/>
              </a:solidFill>
              <a:latin typeface="Calibri" panose="020F0502020204030204"/>
              <a:ea typeface="等线" panose="02010600030101010101" pitchFamily="2" charset="-122"/>
            </a:endParaRPr>
          </a:p>
        </p:txBody>
      </p:sp>
      <p:sp>
        <p:nvSpPr>
          <p:cNvPr id="9" name="Text 6"/>
          <p:cNvSpPr/>
          <p:nvPr/>
        </p:nvSpPr>
        <p:spPr>
          <a:xfrm>
            <a:off x="6524625" y="1123950"/>
            <a:ext cx="2476500" cy="266700"/>
          </a:xfrm>
          <a:prstGeom prst="rect">
            <a:avLst/>
          </a:prstGeom>
          <a:noFill/>
          <a:ln/>
        </p:spPr>
        <p:txBody>
          <a:bodyPr wrap="none" lIns="0" tIns="0" rIns="0" bIns="0" rtlCol="0" anchor="t"/>
          <a:lstStyle/>
          <a:p>
            <a:pPr defTabSz="685800">
              <a:lnSpc>
                <a:spcPct val="120000"/>
              </a:lnSpc>
            </a:pPr>
            <a:r>
              <a:rPr lang="en-US" sz="1200" b="1" dirty="0">
                <a:solidFill>
                  <a:srgbClr val="22C55E"/>
                </a:solidFill>
                <a:latin typeface="MiSans" pitchFamily="34" charset="0"/>
                <a:ea typeface="MiSans" pitchFamily="34" charset="-122"/>
                <a:cs typeface="MiSans" pitchFamily="34" charset="-120"/>
              </a:rPr>
              <a:t>Slot 分桶（我们的方案）</a:t>
            </a:r>
            <a:endParaRPr lang="en-US" sz="1200" dirty="0">
              <a:solidFill>
                <a:srgbClr val="000000"/>
              </a:solidFill>
              <a:latin typeface="Calibri" panose="020F0502020204030204"/>
            </a:endParaRPr>
          </a:p>
        </p:txBody>
      </p:sp>
      <p:pic>
        <p:nvPicPr>
          <p:cNvPr id="10" name="Image 1" descr="https://kimi-img.moonshot.cn/pub/slides/okc/c26ulxynikn5k/mnt/agents/output/tech-highlights/images/Slot%20%E5%88%86%E6%A1%B6%E7%A4%BA%E6%84%8F.jpg"/>
          <p:cNvPicPr>
            <a:picLocks noChangeAspect="1"/>
          </p:cNvPicPr>
          <p:nvPr/>
        </p:nvPicPr>
        <p:blipFill>
          <a:blip r:embed="rId4"/>
          <a:srcRect/>
          <a:stretch/>
        </p:blipFill>
        <p:spPr>
          <a:xfrm>
            <a:off x="6524625" y="1476375"/>
            <a:ext cx="4905375" cy="2476500"/>
          </a:xfrm>
          <a:prstGeom prst="roundRect">
            <a:avLst>
              <a:gd name="adj" fmla="val 8000"/>
            </a:avLst>
          </a:prstGeom>
        </p:spPr>
      </p:pic>
      <p:sp>
        <p:nvSpPr>
          <p:cNvPr id="11" name="Text 7"/>
          <p:cNvSpPr/>
          <p:nvPr/>
        </p:nvSpPr>
        <p:spPr>
          <a:xfrm>
            <a:off x="6524625" y="4095750"/>
            <a:ext cx="4905375" cy="1905000"/>
          </a:xfrm>
          <a:prstGeom prst="rect">
            <a:avLst/>
          </a:prstGeom>
          <a:noFill/>
          <a:ln/>
        </p:spPr>
        <p:txBody>
          <a:bodyPr wrap="square" lIns="0" tIns="0" rIns="0" bIns="0" rtlCol="0" anchor="t"/>
          <a:lstStyle/>
          <a:p>
            <a:pPr defTabSz="685800">
              <a:lnSpc>
                <a:spcPct val="160000"/>
              </a:lnSpc>
            </a:pPr>
            <a:r>
              <a:rPr lang="en-US" sz="1350" dirty="0">
                <a:solidFill>
                  <a:srgbClr val="1F2937"/>
                </a:solidFill>
                <a:latin typeface="Liter" pitchFamily="34" charset="0"/>
                <a:ea typeface="Liter" pitchFamily="34" charset="-122"/>
                <a:cs typeface="Liter" pitchFamily="34" charset="-120"/>
              </a:rPr>
              <a:t>• 库存分散到多个桶，哈希分流分摊并发压力</a:t>
            </a:r>
            <a:endParaRPr lang="en-US" sz="1350" dirty="0">
              <a:solidFill>
                <a:srgbClr val="000000"/>
              </a:solidFill>
              <a:latin typeface="Calibri" panose="020F0502020204030204"/>
            </a:endParaRPr>
          </a:p>
          <a:p>
            <a:pPr defTabSz="685800">
              <a:lnSpc>
                <a:spcPct val="160000"/>
              </a:lnSpc>
              <a:spcBef>
                <a:spcPts val="900"/>
              </a:spcBef>
            </a:pPr>
            <a:r>
              <a:rPr lang="en-US" sz="1350" dirty="0">
                <a:solidFill>
                  <a:srgbClr val="1F2937"/>
                </a:solidFill>
                <a:latin typeface="Liter" pitchFamily="34" charset="0"/>
                <a:ea typeface="Liter" pitchFamily="34" charset="-122"/>
                <a:cs typeface="Liter" pitchFamily="34" charset="-120"/>
              </a:rPr>
              <a:t>• 桶计数器归零后，Registry 实时剔除，后续请求不再打过来</a:t>
            </a:r>
            <a:endParaRPr lang="en-US" sz="1350" dirty="0">
              <a:solidFill>
                <a:srgbClr val="000000"/>
              </a:solidFill>
              <a:latin typeface="Calibri" panose="020F0502020204030204"/>
            </a:endParaRP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71500" y="381000"/>
            <a:ext cx="11049000" cy="381000"/>
          </a:xfrm>
          <a:prstGeom prst="rect">
            <a:avLst/>
          </a:prstGeom>
          <a:noFill/>
          <a:ln/>
        </p:spPr>
        <p:txBody>
          <a:bodyPr wrap="none" lIns="0" tIns="0" rIns="0" bIns="0" rtlCol="0" anchor="t"/>
          <a:lstStyle/>
          <a:p>
            <a:pPr defTabSz="685800">
              <a:lnSpc>
                <a:spcPct val="130000"/>
              </a:lnSpc>
            </a:pPr>
            <a:r>
              <a:rPr lang="en-US" sz="2100" b="1" dirty="0">
                <a:solidFill>
                  <a:srgbClr val="3B82F6"/>
                </a:solidFill>
                <a:latin typeface="Liter" pitchFamily="34" charset="0"/>
                <a:ea typeface="Liter" pitchFamily="34" charset="-122"/>
                <a:cs typeface="Liter" pitchFamily="34" charset="-120"/>
              </a:rPr>
              <a:t>Q8：库存扣减和订单写入如何保持一致？</a:t>
            </a:r>
            <a:endParaRPr lang="en-US" sz="2100" dirty="0">
              <a:solidFill>
                <a:srgbClr val="000000"/>
              </a:solidFill>
              <a:latin typeface="Calibri" panose="020F0502020204030204"/>
            </a:endParaRPr>
          </a:p>
        </p:txBody>
      </p:sp>
      <p:sp>
        <p:nvSpPr>
          <p:cNvPr id="3" name="Shape 1"/>
          <p:cNvSpPr/>
          <p:nvPr/>
        </p:nvSpPr>
        <p:spPr>
          <a:xfrm>
            <a:off x="571500" y="809625"/>
            <a:ext cx="571500" cy="38100"/>
          </a:xfrm>
          <a:prstGeom prst="rect">
            <a:avLst/>
          </a:prstGeom>
          <a:solidFill>
            <a:srgbClr val="3B82F6"/>
          </a:solidFill>
          <a:ln/>
        </p:spPr>
        <p:txBody>
          <a:bodyPr/>
          <a:lstStyle/>
          <a:p>
            <a:pPr defTabSz="685800"/>
            <a:endParaRPr lang="zh-CN" altLang="en-US" sz="1350">
              <a:solidFill>
                <a:srgbClr val="000000"/>
              </a:solidFill>
              <a:latin typeface="Calibri" panose="020F0502020204030204"/>
              <a:ea typeface="等线" panose="02010600030101010101" pitchFamily="2" charset="-122"/>
            </a:endParaRPr>
          </a:p>
        </p:txBody>
      </p:sp>
      <p:pic>
        <p:nvPicPr>
          <p:cNvPr id="4" name="Image 0" descr="https://kimi-img.moonshot.cn/pub/slides/okc/c26ulxynikn5k/mnt/agents/output/tech-highlights/images/%E5%88%86%E5%B8%83%E5%BC%8F%E4%BA%8B%E5%8A%A1%E6%97%B6%E5%BA%8F%E5%9B%BE%EF%BC%88%E7%AE%80%E5%8C%96%E7%89%88%EF%BC%89.jpg"/>
          <p:cNvPicPr>
            <a:picLocks noChangeAspect="1"/>
          </p:cNvPicPr>
          <p:nvPr/>
        </p:nvPicPr>
        <p:blipFill>
          <a:blip r:embed="rId3"/>
          <a:srcRect/>
          <a:stretch/>
        </p:blipFill>
        <p:spPr>
          <a:xfrm>
            <a:off x="571500" y="1000125"/>
            <a:ext cx="11049000" cy="3048000"/>
          </a:xfrm>
          <a:prstGeom prst="roundRect">
            <a:avLst>
              <a:gd name="adj" fmla="val 8000"/>
            </a:avLst>
          </a:prstGeom>
        </p:spPr>
      </p:pic>
      <p:sp>
        <p:nvSpPr>
          <p:cNvPr id="5" name="Shape 2"/>
          <p:cNvSpPr/>
          <p:nvPr/>
        </p:nvSpPr>
        <p:spPr>
          <a:xfrm>
            <a:off x="571500" y="1000125"/>
            <a:ext cx="11049000" cy="3048000"/>
          </a:xfrm>
          <a:prstGeom prst="roundRect">
            <a:avLst>
              <a:gd name="adj" fmla="val 8000"/>
            </a:avLst>
          </a:prstGeom>
          <a:solidFill>
            <a:srgbClr val="FFFFFF">
              <a:alpha val="0"/>
            </a:srgbClr>
          </a:solidFill>
          <a:ln w="12700">
            <a:solidFill>
              <a:srgbClr val="E2E8F0"/>
            </a:solidFill>
            <a:prstDash val="solid"/>
          </a:ln>
        </p:spPr>
        <p:txBody>
          <a:bodyPr/>
          <a:lstStyle/>
          <a:p>
            <a:pPr defTabSz="685800"/>
            <a:endParaRPr lang="zh-CN" altLang="en-US" sz="1350">
              <a:solidFill>
                <a:srgbClr val="000000"/>
              </a:solidFill>
              <a:latin typeface="Calibri" panose="020F0502020204030204"/>
              <a:ea typeface="等线" panose="02010600030101010101" pitchFamily="2" charset="-122"/>
            </a:endParaRPr>
          </a:p>
        </p:txBody>
      </p:sp>
      <p:sp>
        <p:nvSpPr>
          <p:cNvPr id="6" name="Shape 3"/>
          <p:cNvSpPr/>
          <p:nvPr/>
        </p:nvSpPr>
        <p:spPr>
          <a:xfrm>
            <a:off x="571500" y="4286250"/>
            <a:ext cx="3429000" cy="2000250"/>
          </a:xfrm>
          <a:prstGeom prst="roundRect">
            <a:avLst>
              <a:gd name="adj" fmla="val 8000"/>
            </a:avLst>
          </a:prstGeom>
          <a:solidFill>
            <a:srgbClr val="DBEAFE"/>
          </a:solidFill>
          <a:ln/>
        </p:spPr>
        <p:txBody>
          <a:bodyPr/>
          <a:lstStyle/>
          <a:p>
            <a:pPr defTabSz="685800"/>
            <a:endParaRPr lang="zh-CN" altLang="en-US" sz="1350">
              <a:solidFill>
                <a:srgbClr val="000000"/>
              </a:solidFill>
              <a:latin typeface="Calibri" panose="020F0502020204030204"/>
              <a:ea typeface="等线" panose="02010600030101010101" pitchFamily="2" charset="-122"/>
            </a:endParaRPr>
          </a:p>
        </p:txBody>
      </p:sp>
      <p:sp>
        <p:nvSpPr>
          <p:cNvPr id="7" name="Text 4"/>
          <p:cNvSpPr/>
          <p:nvPr/>
        </p:nvSpPr>
        <p:spPr>
          <a:xfrm>
            <a:off x="762000" y="4400550"/>
            <a:ext cx="381000" cy="304800"/>
          </a:xfrm>
          <a:prstGeom prst="rect">
            <a:avLst/>
          </a:prstGeom>
          <a:noFill/>
          <a:ln/>
        </p:spPr>
        <p:txBody>
          <a:bodyPr wrap="none" lIns="0" tIns="0" rIns="0" bIns="0" rtlCol="0" anchor="t"/>
          <a:lstStyle/>
          <a:p>
            <a:pPr defTabSz="685800">
              <a:lnSpc>
                <a:spcPct val="120000"/>
              </a:lnSpc>
            </a:pPr>
            <a:r>
              <a:rPr lang="en-US" sz="1650" b="1" dirty="0">
                <a:solidFill>
                  <a:srgbClr val="3B82F6"/>
                </a:solidFill>
                <a:latin typeface="MiSans" pitchFamily="34" charset="0"/>
                <a:ea typeface="MiSans" pitchFamily="34" charset="-122"/>
                <a:cs typeface="MiSans" pitchFamily="34" charset="-120"/>
              </a:rPr>
              <a:t>1</a:t>
            </a:r>
            <a:endParaRPr lang="en-US" sz="1650" dirty="0">
              <a:solidFill>
                <a:srgbClr val="000000"/>
              </a:solidFill>
              <a:latin typeface="Calibri" panose="020F0502020204030204"/>
            </a:endParaRPr>
          </a:p>
        </p:txBody>
      </p:sp>
      <p:sp>
        <p:nvSpPr>
          <p:cNvPr id="8" name="Text 5"/>
          <p:cNvSpPr/>
          <p:nvPr/>
        </p:nvSpPr>
        <p:spPr>
          <a:xfrm>
            <a:off x="762000" y="4762500"/>
            <a:ext cx="3048000" cy="1381125"/>
          </a:xfrm>
          <a:prstGeom prst="rect">
            <a:avLst/>
          </a:prstGeom>
          <a:noFill/>
          <a:ln/>
        </p:spPr>
        <p:txBody>
          <a:bodyPr wrap="square" lIns="0" tIns="0" rIns="0" bIns="0" rtlCol="0" anchor="t"/>
          <a:lstStyle/>
          <a:p>
            <a:pPr defTabSz="685800">
              <a:lnSpc>
                <a:spcPct val="160000"/>
              </a:lnSpc>
            </a:pPr>
            <a:r>
              <a:rPr lang="en-US" sz="1350" b="1" dirty="0">
                <a:solidFill>
                  <a:srgbClr val="1F2937"/>
                </a:solidFill>
                <a:latin typeface="Liter" pitchFamily="34" charset="0"/>
                <a:ea typeface="Liter" pitchFamily="34" charset="-122"/>
                <a:cs typeface="Liter" pitchFamily="34" charset="-120"/>
              </a:rPr>
              <a:t>Redis Lua 脚本</a:t>
            </a:r>
            <a:r>
              <a:rPr lang="en-US" sz="1350" dirty="0">
                <a:solidFill>
                  <a:srgbClr val="1F2937"/>
                </a:solidFill>
                <a:latin typeface="Liter" pitchFamily="34" charset="0"/>
                <a:ea typeface="Liter" pitchFamily="34" charset="-122"/>
                <a:cs typeface="Liter" pitchFamily="34" charset="-120"/>
              </a:rPr>
              <a:t>做原子扣减，保证库存操作的原子性</a:t>
            </a:r>
            <a:endParaRPr lang="en-US" sz="1350" dirty="0">
              <a:solidFill>
                <a:srgbClr val="000000"/>
              </a:solidFill>
              <a:latin typeface="Calibri" panose="020F0502020204030204"/>
            </a:endParaRPr>
          </a:p>
        </p:txBody>
      </p:sp>
      <p:sp>
        <p:nvSpPr>
          <p:cNvPr id="9" name="Shape 6"/>
          <p:cNvSpPr/>
          <p:nvPr/>
        </p:nvSpPr>
        <p:spPr>
          <a:xfrm>
            <a:off x="4381500" y="4286250"/>
            <a:ext cx="3429000" cy="2000250"/>
          </a:xfrm>
          <a:prstGeom prst="roundRect">
            <a:avLst>
              <a:gd name="adj" fmla="val 8000"/>
            </a:avLst>
          </a:prstGeom>
          <a:solidFill>
            <a:srgbClr val="DBEAFE"/>
          </a:solidFill>
          <a:ln/>
        </p:spPr>
        <p:txBody>
          <a:bodyPr/>
          <a:lstStyle/>
          <a:p>
            <a:pPr defTabSz="685800"/>
            <a:endParaRPr lang="zh-CN" altLang="en-US" sz="1350">
              <a:solidFill>
                <a:srgbClr val="000000"/>
              </a:solidFill>
              <a:latin typeface="Calibri" panose="020F0502020204030204"/>
              <a:ea typeface="等线" panose="02010600030101010101" pitchFamily="2" charset="-122"/>
            </a:endParaRPr>
          </a:p>
        </p:txBody>
      </p:sp>
      <p:sp>
        <p:nvSpPr>
          <p:cNvPr id="10" name="Text 7"/>
          <p:cNvSpPr/>
          <p:nvPr/>
        </p:nvSpPr>
        <p:spPr>
          <a:xfrm>
            <a:off x="4572000" y="4400550"/>
            <a:ext cx="381000" cy="304800"/>
          </a:xfrm>
          <a:prstGeom prst="rect">
            <a:avLst/>
          </a:prstGeom>
          <a:noFill/>
          <a:ln/>
        </p:spPr>
        <p:txBody>
          <a:bodyPr wrap="none" lIns="0" tIns="0" rIns="0" bIns="0" rtlCol="0" anchor="t"/>
          <a:lstStyle/>
          <a:p>
            <a:pPr defTabSz="685800">
              <a:lnSpc>
                <a:spcPct val="120000"/>
              </a:lnSpc>
            </a:pPr>
            <a:r>
              <a:rPr lang="en-US" sz="1650" b="1" dirty="0">
                <a:solidFill>
                  <a:srgbClr val="3B82F6"/>
                </a:solidFill>
                <a:latin typeface="MiSans" pitchFamily="34" charset="0"/>
                <a:ea typeface="MiSans" pitchFamily="34" charset="-122"/>
                <a:cs typeface="MiSans" pitchFamily="34" charset="-120"/>
              </a:rPr>
              <a:t>2</a:t>
            </a:r>
            <a:endParaRPr lang="en-US" sz="1650" dirty="0">
              <a:solidFill>
                <a:srgbClr val="000000"/>
              </a:solidFill>
              <a:latin typeface="Calibri" panose="020F0502020204030204"/>
            </a:endParaRPr>
          </a:p>
        </p:txBody>
      </p:sp>
      <p:sp>
        <p:nvSpPr>
          <p:cNvPr id="11" name="Text 8"/>
          <p:cNvSpPr/>
          <p:nvPr/>
        </p:nvSpPr>
        <p:spPr>
          <a:xfrm>
            <a:off x="4572000" y="4762500"/>
            <a:ext cx="3048000" cy="1381125"/>
          </a:xfrm>
          <a:prstGeom prst="rect">
            <a:avLst/>
          </a:prstGeom>
          <a:noFill/>
          <a:ln/>
        </p:spPr>
        <p:txBody>
          <a:bodyPr wrap="square" lIns="0" tIns="0" rIns="0" bIns="0" rtlCol="0" anchor="t"/>
          <a:lstStyle/>
          <a:p>
            <a:pPr defTabSz="685800">
              <a:lnSpc>
                <a:spcPct val="160000"/>
              </a:lnSpc>
            </a:pPr>
            <a:r>
              <a:rPr lang="en-US" sz="1350" dirty="0">
                <a:solidFill>
                  <a:srgbClr val="1F2937"/>
                </a:solidFill>
                <a:latin typeface="Liter" pitchFamily="34" charset="0"/>
                <a:ea typeface="Liter" pitchFamily="34" charset="-122"/>
                <a:cs typeface="Liter" pitchFamily="34" charset="-120"/>
              </a:rPr>
              <a:t>进程崩溃时 </a:t>
            </a:r>
            <a:r>
              <a:rPr lang="en-US" sz="1350" b="1" dirty="0">
                <a:solidFill>
                  <a:srgbClr val="1F2937"/>
                </a:solidFill>
                <a:latin typeface="Liter" pitchFamily="34" charset="0"/>
                <a:ea typeface="Liter" pitchFamily="34" charset="-122"/>
                <a:cs typeface="Liter" pitchFamily="34" charset="-120"/>
              </a:rPr>
              <a:t>Broker 主动回查</a:t>
            </a:r>
            <a:r>
              <a:rPr lang="en-US" sz="1350" dirty="0">
                <a:solidFill>
                  <a:srgbClr val="1F2937"/>
                </a:solidFill>
                <a:latin typeface="Liter" pitchFamily="34" charset="0"/>
                <a:ea typeface="Liter" pitchFamily="34" charset="-122"/>
                <a:cs typeface="Liter" pitchFamily="34" charset="-120"/>
              </a:rPr>
              <a:t> Redis，决定补偿提交还是丢弃</a:t>
            </a:r>
            <a:endParaRPr lang="en-US" sz="1350" dirty="0">
              <a:solidFill>
                <a:srgbClr val="000000"/>
              </a:solidFill>
              <a:latin typeface="Calibri" panose="020F0502020204030204"/>
            </a:endParaRPr>
          </a:p>
        </p:txBody>
      </p:sp>
      <p:sp>
        <p:nvSpPr>
          <p:cNvPr id="12" name="Shape 9"/>
          <p:cNvSpPr/>
          <p:nvPr/>
        </p:nvSpPr>
        <p:spPr>
          <a:xfrm>
            <a:off x="8191500" y="4286250"/>
            <a:ext cx="3429000" cy="2000250"/>
          </a:xfrm>
          <a:prstGeom prst="roundRect">
            <a:avLst>
              <a:gd name="adj" fmla="val 8000"/>
            </a:avLst>
          </a:prstGeom>
          <a:solidFill>
            <a:srgbClr val="DBEAFE"/>
          </a:solidFill>
          <a:ln/>
        </p:spPr>
        <p:txBody>
          <a:bodyPr/>
          <a:lstStyle/>
          <a:p>
            <a:pPr defTabSz="685800"/>
            <a:endParaRPr lang="zh-CN" altLang="en-US" sz="1350">
              <a:solidFill>
                <a:srgbClr val="000000"/>
              </a:solidFill>
              <a:latin typeface="Calibri" panose="020F0502020204030204"/>
              <a:ea typeface="等线" panose="02010600030101010101" pitchFamily="2" charset="-122"/>
            </a:endParaRPr>
          </a:p>
        </p:txBody>
      </p:sp>
      <p:sp>
        <p:nvSpPr>
          <p:cNvPr id="13" name="Text 10"/>
          <p:cNvSpPr/>
          <p:nvPr/>
        </p:nvSpPr>
        <p:spPr>
          <a:xfrm>
            <a:off x="8382000" y="4400550"/>
            <a:ext cx="381000" cy="304800"/>
          </a:xfrm>
          <a:prstGeom prst="rect">
            <a:avLst/>
          </a:prstGeom>
          <a:noFill/>
          <a:ln/>
        </p:spPr>
        <p:txBody>
          <a:bodyPr wrap="none" lIns="0" tIns="0" rIns="0" bIns="0" rtlCol="0" anchor="t"/>
          <a:lstStyle/>
          <a:p>
            <a:pPr defTabSz="685800">
              <a:lnSpc>
                <a:spcPct val="120000"/>
              </a:lnSpc>
            </a:pPr>
            <a:r>
              <a:rPr lang="en-US" sz="1650" b="1" dirty="0">
                <a:solidFill>
                  <a:srgbClr val="3B82F6"/>
                </a:solidFill>
                <a:latin typeface="MiSans" pitchFamily="34" charset="0"/>
                <a:ea typeface="MiSans" pitchFamily="34" charset="-122"/>
                <a:cs typeface="MiSans" pitchFamily="34" charset="-120"/>
              </a:rPr>
              <a:t>3</a:t>
            </a:r>
            <a:endParaRPr lang="en-US" sz="1650" dirty="0">
              <a:solidFill>
                <a:srgbClr val="000000"/>
              </a:solidFill>
              <a:latin typeface="Calibri" panose="020F0502020204030204"/>
            </a:endParaRPr>
          </a:p>
        </p:txBody>
      </p:sp>
      <p:sp>
        <p:nvSpPr>
          <p:cNvPr id="14" name="Text 11"/>
          <p:cNvSpPr/>
          <p:nvPr/>
        </p:nvSpPr>
        <p:spPr>
          <a:xfrm>
            <a:off x="8382000" y="4762500"/>
            <a:ext cx="3048000" cy="1381125"/>
          </a:xfrm>
          <a:prstGeom prst="rect">
            <a:avLst/>
          </a:prstGeom>
          <a:noFill/>
          <a:ln/>
        </p:spPr>
        <p:txBody>
          <a:bodyPr wrap="square" lIns="0" tIns="0" rIns="0" bIns="0" rtlCol="0" anchor="t"/>
          <a:lstStyle/>
          <a:p>
            <a:pPr defTabSz="685800">
              <a:lnSpc>
                <a:spcPct val="160000"/>
              </a:lnSpc>
            </a:pPr>
            <a:r>
              <a:rPr lang="en-US" sz="1350" dirty="0">
                <a:solidFill>
                  <a:srgbClr val="1F2937"/>
                </a:solidFill>
                <a:latin typeface="Liter" pitchFamily="34" charset="0"/>
                <a:ea typeface="Liter" pitchFamily="34" charset="-122"/>
                <a:cs typeface="Liter" pitchFamily="34" charset="-120"/>
              </a:rPr>
              <a:t>整个链路</a:t>
            </a:r>
            <a:r>
              <a:rPr lang="en-US" sz="1350" b="1" dirty="0">
                <a:solidFill>
                  <a:srgbClr val="1F2937"/>
                </a:solidFill>
                <a:latin typeface="Liter" pitchFamily="34" charset="0"/>
                <a:ea typeface="Liter" pitchFamily="34" charset="-122"/>
                <a:cs typeface="Liter" pitchFamily="34" charset="-120"/>
              </a:rPr>
              <a:t>不需要两阶段提交</a:t>
            </a:r>
            <a:r>
              <a:rPr lang="en-US" sz="1350" dirty="0">
                <a:solidFill>
                  <a:srgbClr val="1F2937"/>
                </a:solidFill>
                <a:latin typeface="Liter" pitchFamily="34" charset="0"/>
                <a:ea typeface="Liter" pitchFamily="34" charset="-122"/>
                <a:cs typeface="Liter" pitchFamily="34" charset="-120"/>
              </a:rPr>
              <a:t>，靠消息队列实现最终一致性</a:t>
            </a:r>
            <a:endParaRPr lang="en-US" sz="1350" dirty="0">
              <a:solidFill>
                <a:srgbClr val="000000"/>
              </a:solidFill>
              <a:latin typeface="Calibri" panose="020F0502020204030204"/>
            </a:endParaRP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71500" y="381000"/>
            <a:ext cx="11049000" cy="381000"/>
          </a:xfrm>
          <a:prstGeom prst="rect">
            <a:avLst/>
          </a:prstGeom>
          <a:noFill/>
          <a:ln/>
        </p:spPr>
        <p:txBody>
          <a:bodyPr wrap="none" lIns="0" tIns="0" rIns="0" bIns="0" rtlCol="0" anchor="t"/>
          <a:lstStyle/>
          <a:p>
            <a:pPr defTabSz="685800">
              <a:lnSpc>
                <a:spcPct val="130000"/>
              </a:lnSpc>
            </a:pPr>
            <a:r>
              <a:rPr lang="en-US" sz="2100" b="1" dirty="0">
                <a:solidFill>
                  <a:srgbClr val="3B82F6"/>
                </a:solidFill>
                <a:latin typeface="Liter" pitchFamily="34" charset="0"/>
                <a:ea typeface="Liter" pitchFamily="34" charset="-122"/>
                <a:cs typeface="Liter" pitchFamily="34" charset="-120"/>
              </a:rPr>
              <a:t>Q9：框架之外，实例数谁来管？</a:t>
            </a:r>
            <a:endParaRPr lang="en-US" sz="2100" dirty="0">
              <a:solidFill>
                <a:srgbClr val="000000"/>
              </a:solidFill>
              <a:latin typeface="Calibri" panose="020F0502020204030204"/>
            </a:endParaRPr>
          </a:p>
        </p:txBody>
      </p:sp>
      <p:sp>
        <p:nvSpPr>
          <p:cNvPr id="3" name="Shape 1"/>
          <p:cNvSpPr/>
          <p:nvPr/>
        </p:nvSpPr>
        <p:spPr>
          <a:xfrm>
            <a:off x="571500" y="809625"/>
            <a:ext cx="571500" cy="38100"/>
          </a:xfrm>
          <a:prstGeom prst="rect">
            <a:avLst/>
          </a:prstGeom>
          <a:solidFill>
            <a:srgbClr val="3B82F6"/>
          </a:solidFill>
          <a:ln/>
        </p:spPr>
        <p:txBody>
          <a:bodyPr/>
          <a:lstStyle/>
          <a:p>
            <a:pPr defTabSz="685800"/>
            <a:endParaRPr lang="zh-CN" altLang="en-US" sz="1350">
              <a:solidFill>
                <a:srgbClr val="000000"/>
              </a:solidFill>
              <a:latin typeface="Calibri" panose="020F0502020204030204"/>
              <a:ea typeface="等线" panose="02010600030101010101" pitchFamily="2" charset="-122"/>
            </a:endParaRPr>
          </a:p>
        </p:txBody>
      </p:sp>
      <p:sp>
        <p:nvSpPr>
          <p:cNvPr id="4" name="Text 2"/>
          <p:cNvSpPr/>
          <p:nvPr/>
        </p:nvSpPr>
        <p:spPr>
          <a:xfrm>
            <a:off x="571500" y="1524000"/>
            <a:ext cx="4572000" cy="2667000"/>
          </a:xfrm>
          <a:prstGeom prst="rect">
            <a:avLst/>
          </a:prstGeom>
          <a:noFill/>
          <a:ln/>
        </p:spPr>
        <p:txBody>
          <a:bodyPr wrap="square" lIns="0" tIns="0" rIns="0" bIns="0" rtlCol="0" anchor="t"/>
          <a:lstStyle/>
          <a:p>
            <a:pPr defTabSz="685800">
              <a:lnSpc>
                <a:spcPct val="160000"/>
              </a:lnSpc>
            </a:pPr>
            <a:r>
              <a:rPr lang="en-US" sz="1350" dirty="0">
                <a:solidFill>
                  <a:srgbClr val="1F2937"/>
                </a:solidFill>
                <a:latin typeface="Liter" pitchFamily="34" charset="0"/>
                <a:ea typeface="Liter" pitchFamily="34" charset="-122"/>
                <a:cs typeface="Liter" pitchFamily="34" charset="-120"/>
              </a:rPr>
              <a:t>框架本身不管实例数，那不是它的职责</a:t>
            </a:r>
            <a:endParaRPr lang="en-US" sz="1350" dirty="0">
              <a:solidFill>
                <a:srgbClr val="000000"/>
              </a:solidFill>
              <a:latin typeface="Calibri" panose="020F0502020204030204"/>
            </a:endParaRPr>
          </a:p>
          <a:p>
            <a:pPr defTabSz="685800">
              <a:lnSpc>
                <a:spcPct val="160000"/>
              </a:lnSpc>
              <a:spcBef>
                <a:spcPts val="1500"/>
              </a:spcBef>
            </a:pPr>
            <a:r>
              <a:rPr lang="en-US" sz="1350" dirty="0">
                <a:solidFill>
                  <a:srgbClr val="1F2937"/>
                </a:solidFill>
                <a:latin typeface="Liter" pitchFamily="34" charset="0"/>
                <a:ea typeface="Liter" pitchFamily="34" charset="-122"/>
                <a:cs typeface="Liter" pitchFamily="34" charset="-120"/>
              </a:rPr>
              <a:t>但流量高峰来了，一台机器 CPU 被打满，再好的框架也没用</a:t>
            </a:r>
            <a:endParaRPr lang="en-US" sz="1350" dirty="0">
              <a:solidFill>
                <a:srgbClr val="000000"/>
              </a:solidFill>
              <a:latin typeface="Calibri" panose="020F0502020204030204"/>
            </a:endParaRPr>
          </a:p>
          <a:p>
            <a:pPr defTabSz="685800">
              <a:lnSpc>
                <a:spcPct val="160000"/>
              </a:lnSpc>
              <a:spcBef>
                <a:spcPts val="1500"/>
              </a:spcBef>
            </a:pPr>
            <a:r>
              <a:rPr lang="en-US" sz="1350" dirty="0">
                <a:solidFill>
                  <a:srgbClr val="1F2937"/>
                </a:solidFill>
                <a:latin typeface="Liter" pitchFamily="34" charset="0"/>
                <a:ea typeface="Liter" pitchFamily="34" charset="-122"/>
                <a:cs typeface="Liter" pitchFamily="34" charset="-120"/>
              </a:rPr>
              <a:t>所以我们需要一个能</a:t>
            </a:r>
            <a:r>
              <a:rPr lang="en-US" sz="1350" b="1" dirty="0">
                <a:solidFill>
                  <a:srgbClr val="3B82F6"/>
                </a:solidFill>
                <a:latin typeface="Liter" pitchFamily="34" charset="0"/>
                <a:ea typeface="Liter" pitchFamily="34" charset="-122"/>
                <a:cs typeface="Liter" pitchFamily="34" charset="-120"/>
              </a:rPr>
              <a:t>感知压力、自动增减</a:t>
            </a:r>
            <a:r>
              <a:rPr lang="en-US" sz="1350" dirty="0">
                <a:solidFill>
                  <a:srgbClr val="1F2937"/>
                </a:solidFill>
                <a:latin typeface="Liter" pitchFamily="34" charset="0"/>
                <a:ea typeface="Liter" pitchFamily="34" charset="-122"/>
                <a:cs typeface="Liter" pitchFamily="34" charset="-120"/>
              </a:rPr>
              <a:t>实例数的服务</a:t>
            </a:r>
            <a:endParaRPr lang="en-US" sz="1350" dirty="0">
              <a:solidFill>
                <a:srgbClr val="000000"/>
              </a:solidFill>
              <a:latin typeface="Calibri" panose="020F0502020204030204"/>
            </a:endParaRPr>
          </a:p>
          <a:p>
            <a:pPr defTabSz="685800">
              <a:lnSpc>
                <a:spcPct val="160000"/>
              </a:lnSpc>
              <a:spcBef>
                <a:spcPts val="1500"/>
              </a:spcBef>
            </a:pPr>
            <a:r>
              <a:rPr lang="en-US" sz="1350" dirty="0">
                <a:solidFill>
                  <a:srgbClr val="1F2937"/>
                </a:solidFill>
                <a:latin typeface="Liter" pitchFamily="34" charset="0"/>
                <a:ea typeface="Liter" pitchFamily="34" charset="-122"/>
                <a:cs typeface="Liter" pitchFamily="34" charset="-120"/>
              </a:rPr>
              <a:t>也就是 </a:t>
            </a:r>
            <a:r>
              <a:rPr lang="en-US" sz="1350" b="1" dirty="0">
                <a:solidFill>
                  <a:srgbClr val="1F2937"/>
                </a:solidFill>
                <a:latin typeface="Liter" pitchFamily="34" charset="0"/>
                <a:ea typeface="Liter" pitchFamily="34" charset="-122"/>
                <a:cs typeface="Liter" pitchFamily="34" charset="-120"/>
              </a:rPr>
              <a:t>singularity-scaler</a:t>
            </a:r>
            <a:endParaRPr lang="en-US" sz="1350" dirty="0">
              <a:solidFill>
                <a:srgbClr val="000000"/>
              </a:solidFill>
              <a:latin typeface="Calibri" panose="020F0502020204030204"/>
            </a:endParaRPr>
          </a:p>
        </p:txBody>
      </p:sp>
      <p:pic>
        <p:nvPicPr>
          <p:cNvPr id="5" name="Image 0" descr="https://kimi-img.moonshot.cn/pub/slides/okc/c26ulxynikn5k/mnt/agents/output/tech-highlights/images/%E8%87%AA%E6%B2%BB%E4%BC%B8%E7%BC%A9%E9%97%AD%E7%8E%AF%E7%AE%80%E5%9B%BE.jpg"/>
          <p:cNvPicPr>
            <a:picLocks noChangeAspect="1"/>
          </p:cNvPicPr>
          <p:nvPr/>
        </p:nvPicPr>
        <p:blipFill>
          <a:blip r:embed="rId3"/>
          <a:srcRect/>
          <a:stretch/>
        </p:blipFill>
        <p:spPr>
          <a:xfrm>
            <a:off x="5524500" y="1143000"/>
            <a:ext cx="6096000" cy="4572000"/>
          </a:xfrm>
          <a:prstGeom prst="roundRect">
            <a:avLst>
              <a:gd name="adj" fmla="val 8000"/>
            </a:avLst>
          </a:prstGeom>
        </p:spPr>
      </p:pic>
      <p:sp>
        <p:nvSpPr>
          <p:cNvPr id="6" name="Shape 3"/>
          <p:cNvSpPr/>
          <p:nvPr/>
        </p:nvSpPr>
        <p:spPr>
          <a:xfrm>
            <a:off x="5524500" y="1143000"/>
            <a:ext cx="6096000" cy="4572000"/>
          </a:xfrm>
          <a:prstGeom prst="roundRect">
            <a:avLst>
              <a:gd name="adj" fmla="val 8000"/>
            </a:avLst>
          </a:prstGeom>
          <a:solidFill>
            <a:srgbClr val="FFFFFF">
              <a:alpha val="0"/>
            </a:srgbClr>
          </a:solidFill>
          <a:ln w="12700">
            <a:solidFill>
              <a:srgbClr val="E2E8F0"/>
            </a:solidFill>
            <a:prstDash val="solid"/>
          </a:ln>
        </p:spPr>
        <p:txBody>
          <a:bodyPr/>
          <a:lstStyle/>
          <a:p>
            <a:pPr defTabSz="685800"/>
            <a:endParaRPr lang="zh-CN" altLang="en-US" sz="1350">
              <a:solidFill>
                <a:srgbClr val="000000"/>
              </a:solidFill>
              <a:latin typeface="Calibri" panose="020F0502020204030204"/>
              <a:ea typeface="等线" panose="02010600030101010101" pitchFamily="2" charset="-122"/>
            </a:endParaRP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71500" y="381000"/>
            <a:ext cx="11049000" cy="381000"/>
          </a:xfrm>
          <a:prstGeom prst="rect">
            <a:avLst/>
          </a:prstGeom>
          <a:noFill/>
          <a:ln/>
        </p:spPr>
        <p:txBody>
          <a:bodyPr wrap="none" lIns="0" tIns="0" rIns="0" bIns="0" rtlCol="0" anchor="t"/>
          <a:lstStyle/>
          <a:p>
            <a:pPr defTabSz="685800">
              <a:lnSpc>
                <a:spcPct val="130000"/>
              </a:lnSpc>
            </a:pPr>
            <a:r>
              <a:rPr lang="en-US" sz="2100" b="1" dirty="0">
                <a:solidFill>
                  <a:srgbClr val="3B82F6"/>
                </a:solidFill>
                <a:latin typeface="Liter" pitchFamily="34" charset="0"/>
                <a:ea typeface="Liter" pitchFamily="34" charset="-122"/>
                <a:cs typeface="Liter" pitchFamily="34" charset="-120"/>
              </a:rPr>
              <a:t>Q10：Scaler 凭什么知道该扩容了？</a:t>
            </a:r>
            <a:endParaRPr lang="en-US" sz="2100" dirty="0">
              <a:solidFill>
                <a:srgbClr val="000000"/>
              </a:solidFill>
              <a:latin typeface="Calibri" panose="020F0502020204030204"/>
            </a:endParaRPr>
          </a:p>
        </p:txBody>
      </p:sp>
      <p:sp>
        <p:nvSpPr>
          <p:cNvPr id="3" name="Shape 1"/>
          <p:cNvSpPr/>
          <p:nvPr/>
        </p:nvSpPr>
        <p:spPr>
          <a:xfrm>
            <a:off x="571500" y="809625"/>
            <a:ext cx="571500" cy="38100"/>
          </a:xfrm>
          <a:prstGeom prst="rect">
            <a:avLst/>
          </a:prstGeom>
          <a:solidFill>
            <a:srgbClr val="3B82F6"/>
          </a:solidFill>
          <a:ln/>
        </p:spPr>
        <p:txBody>
          <a:bodyPr/>
          <a:lstStyle/>
          <a:p>
            <a:pPr defTabSz="685800"/>
            <a:endParaRPr lang="zh-CN" altLang="en-US" sz="1350">
              <a:solidFill>
                <a:srgbClr val="000000"/>
              </a:solidFill>
              <a:latin typeface="Calibri" panose="020F0502020204030204"/>
              <a:ea typeface="等线" panose="02010600030101010101" pitchFamily="2" charset="-122"/>
            </a:endParaRPr>
          </a:p>
        </p:txBody>
      </p:sp>
      <p:pic>
        <p:nvPicPr>
          <p:cNvPr id="4" name="Image 0" descr="https://kimi-img.moonshot.cn/pub/slides/okc/c26ulxynikn5k/mnt/agents/output/tech-highlights/images/%E5%8F%8C%E9%80%9A%E9%81%93%E7%AE%A1%E7%BA%BF%E5%9B%BE.jpg"/>
          <p:cNvPicPr>
            <a:picLocks noChangeAspect="1"/>
          </p:cNvPicPr>
          <p:nvPr/>
        </p:nvPicPr>
        <p:blipFill>
          <a:blip r:embed="rId3"/>
          <a:srcRect/>
          <a:stretch/>
        </p:blipFill>
        <p:spPr>
          <a:xfrm>
            <a:off x="571500" y="1000125"/>
            <a:ext cx="11049000" cy="3048000"/>
          </a:xfrm>
          <a:prstGeom prst="roundRect">
            <a:avLst>
              <a:gd name="adj" fmla="val 8000"/>
            </a:avLst>
          </a:prstGeom>
        </p:spPr>
      </p:pic>
      <p:sp>
        <p:nvSpPr>
          <p:cNvPr id="5" name="Shape 2"/>
          <p:cNvSpPr/>
          <p:nvPr/>
        </p:nvSpPr>
        <p:spPr>
          <a:xfrm>
            <a:off x="571500" y="1000125"/>
            <a:ext cx="11049000" cy="3048000"/>
          </a:xfrm>
          <a:prstGeom prst="roundRect">
            <a:avLst>
              <a:gd name="adj" fmla="val 8000"/>
            </a:avLst>
          </a:prstGeom>
          <a:solidFill>
            <a:srgbClr val="FFFFFF">
              <a:alpha val="0"/>
            </a:srgbClr>
          </a:solidFill>
          <a:ln w="12700">
            <a:solidFill>
              <a:srgbClr val="E2E8F0"/>
            </a:solidFill>
            <a:prstDash val="solid"/>
          </a:ln>
        </p:spPr>
        <p:txBody>
          <a:bodyPr/>
          <a:lstStyle/>
          <a:p>
            <a:pPr defTabSz="685800"/>
            <a:endParaRPr lang="zh-CN" altLang="en-US" sz="1350">
              <a:solidFill>
                <a:srgbClr val="000000"/>
              </a:solidFill>
              <a:latin typeface="Calibri" panose="020F0502020204030204"/>
              <a:ea typeface="等线" panose="02010600030101010101" pitchFamily="2" charset="-122"/>
            </a:endParaRPr>
          </a:p>
        </p:txBody>
      </p:sp>
      <p:sp>
        <p:nvSpPr>
          <p:cNvPr id="6" name="Text 3"/>
          <p:cNvSpPr/>
          <p:nvPr/>
        </p:nvSpPr>
        <p:spPr>
          <a:xfrm>
            <a:off x="571500" y="4191000"/>
            <a:ext cx="2857500" cy="342900"/>
          </a:xfrm>
          <a:prstGeom prst="rect">
            <a:avLst/>
          </a:prstGeom>
          <a:noFill/>
          <a:ln/>
        </p:spPr>
        <p:txBody>
          <a:bodyPr wrap="none" lIns="0" tIns="0" rIns="0" bIns="0" rtlCol="0" anchor="t"/>
          <a:lstStyle/>
          <a:p>
            <a:pPr defTabSz="685800">
              <a:lnSpc>
                <a:spcPct val="130000"/>
              </a:lnSpc>
            </a:pPr>
            <a:r>
              <a:rPr lang="en-US" sz="1650" b="1" dirty="0">
                <a:solidFill>
                  <a:srgbClr val="1F2937"/>
                </a:solidFill>
                <a:latin typeface="Liter" pitchFamily="34" charset="0"/>
                <a:ea typeface="Liter" pitchFamily="34" charset="-122"/>
                <a:cs typeface="Liter" pitchFamily="34" charset="-120"/>
              </a:rPr>
              <a:t>触发条件</a:t>
            </a:r>
            <a:endParaRPr lang="en-US" sz="1650" dirty="0">
              <a:solidFill>
                <a:srgbClr val="000000"/>
              </a:solidFill>
              <a:latin typeface="Calibri" panose="020F0502020204030204"/>
            </a:endParaRPr>
          </a:p>
        </p:txBody>
      </p:sp>
      <p:sp>
        <p:nvSpPr>
          <p:cNvPr id="7" name="Shape 4"/>
          <p:cNvSpPr/>
          <p:nvPr/>
        </p:nvSpPr>
        <p:spPr>
          <a:xfrm>
            <a:off x="571500" y="4619625"/>
            <a:ext cx="5286375" cy="1524000"/>
          </a:xfrm>
          <a:prstGeom prst="roundRect">
            <a:avLst>
              <a:gd name="adj" fmla="val 8000"/>
            </a:avLst>
          </a:prstGeom>
          <a:solidFill>
            <a:srgbClr val="BBF7D0"/>
          </a:solidFill>
          <a:ln w="12700">
            <a:solidFill>
              <a:srgbClr val="22C55E"/>
            </a:solidFill>
            <a:prstDash val="solid"/>
          </a:ln>
        </p:spPr>
        <p:txBody>
          <a:bodyPr/>
          <a:lstStyle/>
          <a:p>
            <a:pPr defTabSz="685800"/>
            <a:endParaRPr lang="zh-CN" altLang="en-US" sz="1350">
              <a:solidFill>
                <a:srgbClr val="000000"/>
              </a:solidFill>
              <a:latin typeface="Calibri" panose="020F0502020204030204"/>
              <a:ea typeface="等线" panose="02010600030101010101" pitchFamily="2" charset="-122"/>
            </a:endParaRPr>
          </a:p>
        </p:txBody>
      </p:sp>
      <p:sp>
        <p:nvSpPr>
          <p:cNvPr id="8" name="Text 5"/>
          <p:cNvSpPr/>
          <p:nvPr/>
        </p:nvSpPr>
        <p:spPr>
          <a:xfrm>
            <a:off x="762000" y="4743450"/>
            <a:ext cx="1143000" cy="247650"/>
          </a:xfrm>
          <a:prstGeom prst="rect">
            <a:avLst/>
          </a:prstGeom>
          <a:noFill/>
          <a:ln/>
        </p:spPr>
        <p:txBody>
          <a:bodyPr wrap="none" lIns="0" tIns="0" rIns="0" bIns="0" rtlCol="0" anchor="t"/>
          <a:lstStyle/>
          <a:p>
            <a:pPr defTabSz="685800">
              <a:lnSpc>
                <a:spcPct val="120000"/>
              </a:lnSpc>
            </a:pPr>
            <a:r>
              <a:rPr lang="en-US" sz="1200" b="1" dirty="0">
                <a:solidFill>
                  <a:srgbClr val="22C55E"/>
                </a:solidFill>
                <a:latin typeface="MiSans" pitchFamily="34" charset="0"/>
                <a:ea typeface="MiSans" pitchFamily="34" charset="-122"/>
                <a:cs typeface="MiSans" pitchFamily="34" charset="-120"/>
              </a:rPr>
              <a:t>条件 1</a:t>
            </a:r>
            <a:endParaRPr lang="en-US" sz="1200" dirty="0">
              <a:solidFill>
                <a:srgbClr val="000000"/>
              </a:solidFill>
              <a:latin typeface="Calibri" panose="020F0502020204030204"/>
            </a:endParaRPr>
          </a:p>
        </p:txBody>
      </p:sp>
      <p:sp>
        <p:nvSpPr>
          <p:cNvPr id="9" name="Text 6"/>
          <p:cNvSpPr/>
          <p:nvPr/>
        </p:nvSpPr>
        <p:spPr>
          <a:xfrm>
            <a:off x="762000" y="5048250"/>
            <a:ext cx="4905375" cy="571500"/>
          </a:xfrm>
          <a:prstGeom prst="rect">
            <a:avLst/>
          </a:prstGeom>
          <a:noFill/>
          <a:ln/>
        </p:spPr>
        <p:txBody>
          <a:bodyPr wrap="square" lIns="0" tIns="0" rIns="0" bIns="0" rtlCol="0" anchor="t"/>
          <a:lstStyle/>
          <a:p>
            <a:pPr defTabSz="685800">
              <a:lnSpc>
                <a:spcPct val="160000"/>
              </a:lnSpc>
            </a:pPr>
            <a:r>
              <a:rPr lang="en-US" sz="1350" dirty="0">
                <a:solidFill>
                  <a:srgbClr val="1F2937"/>
                </a:solidFill>
                <a:latin typeface="Liter" pitchFamily="34" charset="0"/>
                <a:ea typeface="Liter" pitchFamily="34" charset="-122"/>
                <a:cs typeface="Liter" pitchFamily="34" charset="-120"/>
              </a:rPr>
              <a:t>任意一路 CPU 超过 </a:t>
            </a:r>
            <a:r>
              <a:rPr lang="en-US" sz="1350" b="1" dirty="0">
                <a:solidFill>
                  <a:srgbClr val="EF4444"/>
                </a:solidFill>
                <a:latin typeface="Liter" pitchFamily="34" charset="0"/>
                <a:ea typeface="Liter" pitchFamily="34" charset="-122"/>
                <a:cs typeface="Liter" pitchFamily="34" charset="-120"/>
              </a:rPr>
              <a:t>70%</a:t>
            </a:r>
            <a:r>
              <a:rPr lang="en-US" sz="1350" dirty="0">
                <a:solidFill>
                  <a:srgbClr val="1F2937"/>
                </a:solidFill>
                <a:latin typeface="Liter" pitchFamily="34" charset="0"/>
                <a:ea typeface="Liter" pitchFamily="34" charset="-122"/>
                <a:cs typeface="Liter" pitchFamily="34" charset="-120"/>
              </a:rPr>
              <a:t>，立即加一个实例</a:t>
            </a:r>
            <a:endParaRPr lang="en-US" sz="1350" dirty="0">
              <a:solidFill>
                <a:srgbClr val="000000"/>
              </a:solidFill>
              <a:latin typeface="Calibri" panose="020F0502020204030204"/>
            </a:endParaRPr>
          </a:p>
        </p:txBody>
      </p:sp>
      <p:sp>
        <p:nvSpPr>
          <p:cNvPr id="10" name="Shape 7"/>
          <p:cNvSpPr/>
          <p:nvPr/>
        </p:nvSpPr>
        <p:spPr>
          <a:xfrm>
            <a:off x="6334125" y="4619625"/>
            <a:ext cx="5286375" cy="1524000"/>
          </a:xfrm>
          <a:prstGeom prst="roundRect">
            <a:avLst>
              <a:gd name="adj" fmla="val 8000"/>
            </a:avLst>
          </a:prstGeom>
          <a:solidFill>
            <a:srgbClr val="BBF7D0"/>
          </a:solidFill>
          <a:ln w="12700">
            <a:solidFill>
              <a:srgbClr val="22C55E"/>
            </a:solidFill>
            <a:prstDash val="solid"/>
          </a:ln>
        </p:spPr>
        <p:txBody>
          <a:bodyPr/>
          <a:lstStyle/>
          <a:p>
            <a:pPr defTabSz="685800"/>
            <a:endParaRPr lang="zh-CN" altLang="en-US" sz="1350">
              <a:solidFill>
                <a:srgbClr val="000000"/>
              </a:solidFill>
              <a:latin typeface="Calibri" panose="020F0502020204030204"/>
              <a:ea typeface="等线" panose="02010600030101010101" pitchFamily="2" charset="-122"/>
            </a:endParaRPr>
          </a:p>
        </p:txBody>
      </p:sp>
      <p:sp>
        <p:nvSpPr>
          <p:cNvPr id="11" name="Text 8"/>
          <p:cNvSpPr/>
          <p:nvPr/>
        </p:nvSpPr>
        <p:spPr>
          <a:xfrm>
            <a:off x="6524625" y="4743450"/>
            <a:ext cx="1143000" cy="247650"/>
          </a:xfrm>
          <a:prstGeom prst="rect">
            <a:avLst/>
          </a:prstGeom>
          <a:noFill/>
          <a:ln/>
        </p:spPr>
        <p:txBody>
          <a:bodyPr wrap="none" lIns="0" tIns="0" rIns="0" bIns="0" rtlCol="0" anchor="t"/>
          <a:lstStyle/>
          <a:p>
            <a:pPr defTabSz="685800">
              <a:lnSpc>
                <a:spcPct val="120000"/>
              </a:lnSpc>
            </a:pPr>
            <a:r>
              <a:rPr lang="en-US" sz="1200" b="1" dirty="0">
                <a:solidFill>
                  <a:srgbClr val="22C55E"/>
                </a:solidFill>
                <a:latin typeface="MiSans" pitchFamily="34" charset="0"/>
                <a:ea typeface="MiSans" pitchFamily="34" charset="-122"/>
                <a:cs typeface="MiSans" pitchFamily="34" charset="-120"/>
              </a:rPr>
              <a:t>条件 2</a:t>
            </a:r>
            <a:endParaRPr lang="en-US" sz="1200" dirty="0">
              <a:solidFill>
                <a:srgbClr val="000000"/>
              </a:solidFill>
              <a:latin typeface="Calibri" panose="020F0502020204030204"/>
            </a:endParaRPr>
          </a:p>
        </p:txBody>
      </p:sp>
      <p:sp>
        <p:nvSpPr>
          <p:cNvPr id="12" name="Text 9"/>
          <p:cNvSpPr/>
          <p:nvPr/>
        </p:nvSpPr>
        <p:spPr>
          <a:xfrm>
            <a:off x="6524625" y="5048250"/>
            <a:ext cx="4905375" cy="571500"/>
          </a:xfrm>
          <a:prstGeom prst="rect">
            <a:avLst/>
          </a:prstGeom>
          <a:noFill/>
          <a:ln/>
        </p:spPr>
        <p:txBody>
          <a:bodyPr wrap="square" lIns="0" tIns="0" rIns="0" bIns="0" rtlCol="0" anchor="t"/>
          <a:lstStyle/>
          <a:p>
            <a:pPr defTabSz="685800">
              <a:lnSpc>
                <a:spcPct val="160000"/>
              </a:lnSpc>
            </a:pPr>
            <a:r>
              <a:rPr lang="en-US" sz="1350" b="1" dirty="0">
                <a:solidFill>
                  <a:srgbClr val="1F2937"/>
                </a:solidFill>
                <a:latin typeface="Liter" pitchFamily="34" charset="0"/>
                <a:ea typeface="Liter" pitchFamily="34" charset="-122"/>
                <a:cs typeface="Liter" pitchFamily="34" charset="-120"/>
              </a:rPr>
              <a:t>15 秒</a:t>
            </a:r>
            <a:r>
              <a:rPr lang="en-US" sz="1350" dirty="0">
                <a:solidFill>
                  <a:srgbClr val="1F2937"/>
                </a:solidFill>
                <a:latin typeface="Liter" pitchFamily="34" charset="0"/>
                <a:ea typeface="Liter" pitchFamily="34" charset="-122"/>
                <a:cs typeface="Liter" pitchFamily="34" charset="-120"/>
              </a:rPr>
              <a:t>内 CPU 急升超过 </a:t>
            </a:r>
            <a:r>
              <a:rPr lang="en-US" sz="1350" b="1" dirty="0">
                <a:solidFill>
                  <a:srgbClr val="EF4444"/>
                </a:solidFill>
                <a:latin typeface="Liter" pitchFamily="34" charset="0"/>
                <a:ea typeface="Liter" pitchFamily="34" charset="-122"/>
                <a:cs typeface="Liter" pitchFamily="34" charset="-120"/>
              </a:rPr>
              <a:t>38</a:t>
            </a:r>
            <a:r>
              <a:rPr lang="en-US" sz="1350" dirty="0">
                <a:solidFill>
                  <a:srgbClr val="1F2937"/>
                </a:solidFill>
                <a:latin typeface="Liter" pitchFamily="34" charset="0"/>
                <a:ea typeface="Liter" pitchFamily="34" charset="-122"/>
                <a:cs typeface="Liter" pitchFamily="34" charset="-120"/>
              </a:rPr>
              <a:t> 个百分点，也立即加实例</a:t>
            </a:r>
            <a:endParaRPr lang="en-US" sz="1350" dirty="0">
              <a:solidFill>
                <a:srgbClr val="000000"/>
              </a:solidFill>
              <a:latin typeface="Calibri" panose="020F0502020204030204"/>
            </a:endParaRP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71500" y="381000"/>
            <a:ext cx="11049000" cy="381000"/>
          </a:xfrm>
          <a:prstGeom prst="rect">
            <a:avLst/>
          </a:prstGeom>
          <a:noFill/>
          <a:ln/>
        </p:spPr>
        <p:txBody>
          <a:bodyPr wrap="none" lIns="0" tIns="0" rIns="0" bIns="0" rtlCol="0" anchor="t"/>
          <a:lstStyle/>
          <a:p>
            <a:pPr defTabSz="685800">
              <a:lnSpc>
                <a:spcPct val="130000"/>
              </a:lnSpc>
            </a:pPr>
            <a:r>
              <a:rPr lang="en-US" sz="2100" b="1" dirty="0">
                <a:solidFill>
                  <a:srgbClr val="3B82F6"/>
                </a:solidFill>
                <a:latin typeface="Liter" pitchFamily="34" charset="0"/>
                <a:ea typeface="Liter" pitchFamily="34" charset="-122"/>
                <a:cs typeface="Liter" pitchFamily="34" charset="-120"/>
              </a:rPr>
              <a:t>Q11：缩容为什么比扩容谨慎得多？</a:t>
            </a:r>
            <a:endParaRPr lang="en-US" sz="2100" dirty="0">
              <a:solidFill>
                <a:srgbClr val="000000"/>
              </a:solidFill>
              <a:latin typeface="Calibri" panose="020F0502020204030204"/>
            </a:endParaRPr>
          </a:p>
        </p:txBody>
      </p:sp>
      <p:sp>
        <p:nvSpPr>
          <p:cNvPr id="3" name="Shape 1"/>
          <p:cNvSpPr/>
          <p:nvPr/>
        </p:nvSpPr>
        <p:spPr>
          <a:xfrm>
            <a:off x="571500" y="809625"/>
            <a:ext cx="571500" cy="38100"/>
          </a:xfrm>
          <a:prstGeom prst="rect">
            <a:avLst/>
          </a:prstGeom>
          <a:solidFill>
            <a:srgbClr val="3B82F6"/>
          </a:solidFill>
          <a:ln/>
        </p:spPr>
        <p:txBody>
          <a:bodyPr/>
          <a:lstStyle/>
          <a:p>
            <a:pPr defTabSz="685800"/>
            <a:endParaRPr lang="zh-CN" altLang="en-US" sz="1350">
              <a:solidFill>
                <a:srgbClr val="000000"/>
              </a:solidFill>
              <a:latin typeface="Calibri" panose="020F0502020204030204"/>
              <a:ea typeface="等线" panose="02010600030101010101" pitchFamily="2" charset="-122"/>
            </a:endParaRPr>
          </a:p>
        </p:txBody>
      </p:sp>
      <p:sp>
        <p:nvSpPr>
          <p:cNvPr id="4" name="Text 2"/>
          <p:cNvSpPr/>
          <p:nvPr/>
        </p:nvSpPr>
        <p:spPr>
          <a:xfrm>
            <a:off x="571500" y="952500"/>
            <a:ext cx="1905000" cy="266700"/>
          </a:xfrm>
          <a:prstGeom prst="rect">
            <a:avLst/>
          </a:prstGeom>
          <a:noFill/>
          <a:ln/>
        </p:spPr>
        <p:txBody>
          <a:bodyPr wrap="none" lIns="0" tIns="0" rIns="0" bIns="0" rtlCol="0" anchor="t"/>
          <a:lstStyle/>
          <a:p>
            <a:pPr defTabSz="685800">
              <a:lnSpc>
                <a:spcPct val="120000"/>
              </a:lnSpc>
            </a:pPr>
            <a:r>
              <a:rPr lang="en-US" sz="1200" b="1" dirty="0">
                <a:solidFill>
                  <a:srgbClr val="6B7280"/>
                </a:solidFill>
                <a:latin typeface="MiSans" pitchFamily="34" charset="0"/>
                <a:ea typeface="MiSans" pitchFamily="34" charset="-122"/>
                <a:cs typeface="MiSans" pitchFamily="34" charset="-120"/>
              </a:rPr>
              <a:t>缩容三道门槛</a:t>
            </a:r>
            <a:endParaRPr lang="en-US" sz="1200" dirty="0">
              <a:solidFill>
                <a:srgbClr val="000000"/>
              </a:solidFill>
              <a:latin typeface="Calibri" panose="020F0502020204030204"/>
            </a:endParaRPr>
          </a:p>
        </p:txBody>
      </p:sp>
      <p:sp>
        <p:nvSpPr>
          <p:cNvPr id="5" name="Shape 3"/>
          <p:cNvSpPr/>
          <p:nvPr/>
        </p:nvSpPr>
        <p:spPr>
          <a:xfrm>
            <a:off x="571500" y="1285875"/>
            <a:ext cx="5286375" cy="1333500"/>
          </a:xfrm>
          <a:prstGeom prst="roundRect">
            <a:avLst>
              <a:gd name="adj" fmla="val 8000"/>
            </a:avLst>
          </a:prstGeom>
          <a:solidFill>
            <a:srgbClr val="FCA5A5"/>
          </a:solidFill>
          <a:ln w="12700">
            <a:solidFill>
              <a:srgbClr val="EF4444"/>
            </a:solidFill>
            <a:prstDash val="solid"/>
          </a:ln>
        </p:spPr>
        <p:txBody>
          <a:bodyPr/>
          <a:lstStyle/>
          <a:p>
            <a:pPr defTabSz="685800"/>
            <a:endParaRPr lang="zh-CN" altLang="en-US" sz="1350">
              <a:solidFill>
                <a:srgbClr val="000000"/>
              </a:solidFill>
              <a:latin typeface="Calibri" panose="020F0502020204030204"/>
              <a:ea typeface="等线" panose="02010600030101010101" pitchFamily="2" charset="-122"/>
            </a:endParaRPr>
          </a:p>
        </p:txBody>
      </p:sp>
      <p:sp>
        <p:nvSpPr>
          <p:cNvPr id="6" name="Text 4"/>
          <p:cNvSpPr/>
          <p:nvPr/>
        </p:nvSpPr>
        <p:spPr>
          <a:xfrm>
            <a:off x="762000" y="1409700"/>
            <a:ext cx="4905375" cy="1095375"/>
          </a:xfrm>
          <a:prstGeom prst="rect">
            <a:avLst/>
          </a:prstGeom>
          <a:noFill/>
          <a:ln/>
        </p:spPr>
        <p:txBody>
          <a:bodyPr wrap="square" lIns="0" tIns="0" rIns="0" bIns="0" rtlCol="0" anchor="t"/>
          <a:lstStyle/>
          <a:p>
            <a:pPr defTabSz="685800">
              <a:lnSpc>
                <a:spcPct val="160000"/>
              </a:lnSpc>
            </a:pPr>
            <a:r>
              <a:rPr lang="en-US" sz="1200" b="1" dirty="0">
                <a:solidFill>
                  <a:srgbClr val="EF4444"/>
                </a:solidFill>
                <a:latin typeface="Liter" pitchFamily="34" charset="0"/>
                <a:ea typeface="Liter" pitchFamily="34" charset="-122"/>
                <a:cs typeface="Liter" pitchFamily="34" charset="-120"/>
              </a:rPr>
              <a:t>门槛 1</a:t>
            </a:r>
            <a:endParaRPr lang="en-US" sz="1200" dirty="0">
              <a:solidFill>
                <a:srgbClr val="000000"/>
              </a:solidFill>
              <a:latin typeface="Calibri" panose="020F0502020204030204"/>
            </a:endParaRPr>
          </a:p>
          <a:p>
            <a:pPr defTabSz="685800">
              <a:lnSpc>
                <a:spcPct val="160000"/>
              </a:lnSpc>
              <a:spcBef>
                <a:spcPts val="450"/>
              </a:spcBef>
            </a:pPr>
            <a:r>
              <a:rPr lang="en-US" sz="1350" dirty="0">
                <a:solidFill>
                  <a:srgbClr val="1F2937"/>
                </a:solidFill>
                <a:latin typeface="Liter" pitchFamily="34" charset="0"/>
                <a:ea typeface="Liter" pitchFamily="34" charset="-122"/>
                <a:cs typeface="Liter" pitchFamily="34" charset="-120"/>
              </a:rPr>
              <a:t>连续 </a:t>
            </a:r>
            <a:r>
              <a:rPr lang="en-US" sz="1350" b="1" dirty="0">
                <a:solidFill>
                  <a:srgbClr val="1F2937"/>
                </a:solidFill>
                <a:latin typeface="Liter" pitchFamily="34" charset="0"/>
                <a:ea typeface="Liter" pitchFamily="34" charset="-122"/>
                <a:cs typeface="Liter" pitchFamily="34" charset="-120"/>
              </a:rPr>
              <a:t>3 个采样周期</a:t>
            </a:r>
            <a:r>
              <a:rPr lang="en-US" sz="1350" dirty="0">
                <a:solidFill>
                  <a:srgbClr val="1F2937"/>
                </a:solidFill>
                <a:latin typeface="Liter" pitchFamily="34" charset="0"/>
                <a:ea typeface="Liter" pitchFamily="34" charset="-122"/>
                <a:cs typeface="Liter" pitchFamily="34" charset="-120"/>
              </a:rPr>
              <a:t>（约 45 秒）所有指标都低于下限，确认不是偶发低谷</a:t>
            </a:r>
            <a:endParaRPr lang="en-US" sz="1200" dirty="0">
              <a:solidFill>
                <a:srgbClr val="000000"/>
              </a:solidFill>
              <a:latin typeface="Calibri" panose="020F0502020204030204"/>
            </a:endParaRPr>
          </a:p>
        </p:txBody>
      </p:sp>
      <p:sp>
        <p:nvSpPr>
          <p:cNvPr id="7" name="Shape 5"/>
          <p:cNvSpPr/>
          <p:nvPr/>
        </p:nvSpPr>
        <p:spPr>
          <a:xfrm>
            <a:off x="571500" y="2762250"/>
            <a:ext cx="5286375" cy="1333500"/>
          </a:xfrm>
          <a:prstGeom prst="roundRect">
            <a:avLst>
              <a:gd name="adj" fmla="val 8000"/>
            </a:avLst>
          </a:prstGeom>
          <a:solidFill>
            <a:srgbClr val="FCA5A5"/>
          </a:solidFill>
          <a:ln w="12700">
            <a:solidFill>
              <a:srgbClr val="EF4444"/>
            </a:solidFill>
            <a:prstDash val="solid"/>
          </a:ln>
        </p:spPr>
        <p:txBody>
          <a:bodyPr/>
          <a:lstStyle/>
          <a:p>
            <a:pPr defTabSz="685800"/>
            <a:endParaRPr lang="zh-CN" altLang="en-US" sz="1350">
              <a:solidFill>
                <a:srgbClr val="000000"/>
              </a:solidFill>
              <a:latin typeface="Calibri" panose="020F0502020204030204"/>
              <a:ea typeface="等线" panose="02010600030101010101" pitchFamily="2" charset="-122"/>
            </a:endParaRPr>
          </a:p>
        </p:txBody>
      </p:sp>
      <p:sp>
        <p:nvSpPr>
          <p:cNvPr id="8" name="Text 6"/>
          <p:cNvSpPr/>
          <p:nvPr/>
        </p:nvSpPr>
        <p:spPr>
          <a:xfrm>
            <a:off x="762000" y="2886075"/>
            <a:ext cx="4905375" cy="1095375"/>
          </a:xfrm>
          <a:prstGeom prst="rect">
            <a:avLst/>
          </a:prstGeom>
          <a:noFill/>
          <a:ln/>
        </p:spPr>
        <p:txBody>
          <a:bodyPr wrap="square" lIns="0" tIns="0" rIns="0" bIns="0" rtlCol="0" anchor="t"/>
          <a:lstStyle/>
          <a:p>
            <a:pPr defTabSz="685800">
              <a:lnSpc>
                <a:spcPct val="160000"/>
              </a:lnSpc>
            </a:pPr>
            <a:r>
              <a:rPr lang="en-US" sz="1200" b="1" dirty="0">
                <a:solidFill>
                  <a:srgbClr val="EF4444"/>
                </a:solidFill>
                <a:latin typeface="Liter" pitchFamily="34" charset="0"/>
                <a:ea typeface="Liter" pitchFamily="34" charset="-122"/>
                <a:cs typeface="Liter" pitchFamily="34" charset="-120"/>
              </a:rPr>
              <a:t>门槛 2</a:t>
            </a:r>
            <a:endParaRPr lang="en-US" sz="1200" dirty="0">
              <a:solidFill>
                <a:srgbClr val="000000"/>
              </a:solidFill>
              <a:latin typeface="Calibri" panose="020F0502020204030204"/>
            </a:endParaRPr>
          </a:p>
          <a:p>
            <a:pPr defTabSz="685800">
              <a:lnSpc>
                <a:spcPct val="160000"/>
              </a:lnSpc>
              <a:spcBef>
                <a:spcPts val="450"/>
              </a:spcBef>
            </a:pPr>
            <a:r>
              <a:rPr lang="en-US" sz="1350" b="1" dirty="0">
                <a:solidFill>
                  <a:srgbClr val="1F2937"/>
                </a:solidFill>
                <a:latin typeface="Liter" pitchFamily="34" charset="0"/>
                <a:ea typeface="Liter" pitchFamily="34" charset="-122"/>
                <a:cs typeface="Liter" pitchFamily="34" charset="-120"/>
              </a:rPr>
              <a:t>Docker CPU</a:t>
            </a:r>
            <a:r>
              <a:rPr lang="en-US" sz="1350" dirty="0">
                <a:solidFill>
                  <a:srgbClr val="1F2937"/>
                </a:solidFill>
                <a:latin typeface="Liter" pitchFamily="34" charset="0"/>
                <a:ea typeface="Liter" pitchFamily="34" charset="-122"/>
                <a:cs typeface="Liter" pitchFamily="34" charset="-120"/>
              </a:rPr>
              <a:t> 也必须低于阻断阈值，JVM 指标可能因 GC 暂停而虚低，Docker 数据更可靠</a:t>
            </a:r>
            <a:endParaRPr lang="en-US" sz="1200" dirty="0">
              <a:solidFill>
                <a:srgbClr val="000000"/>
              </a:solidFill>
              <a:latin typeface="Calibri" panose="020F0502020204030204"/>
            </a:endParaRPr>
          </a:p>
        </p:txBody>
      </p:sp>
      <p:sp>
        <p:nvSpPr>
          <p:cNvPr id="9" name="Shape 7"/>
          <p:cNvSpPr/>
          <p:nvPr/>
        </p:nvSpPr>
        <p:spPr>
          <a:xfrm>
            <a:off x="571500" y="4238625"/>
            <a:ext cx="5286375" cy="1333500"/>
          </a:xfrm>
          <a:prstGeom prst="roundRect">
            <a:avLst>
              <a:gd name="adj" fmla="val 8000"/>
            </a:avLst>
          </a:prstGeom>
          <a:solidFill>
            <a:srgbClr val="FCA5A5"/>
          </a:solidFill>
          <a:ln w="12700">
            <a:solidFill>
              <a:srgbClr val="EF4444"/>
            </a:solidFill>
            <a:prstDash val="solid"/>
          </a:ln>
        </p:spPr>
        <p:txBody>
          <a:bodyPr/>
          <a:lstStyle/>
          <a:p>
            <a:pPr defTabSz="685800"/>
            <a:endParaRPr lang="zh-CN" altLang="en-US" sz="1350">
              <a:solidFill>
                <a:srgbClr val="000000"/>
              </a:solidFill>
              <a:latin typeface="Calibri" panose="020F0502020204030204"/>
              <a:ea typeface="等线" panose="02010600030101010101" pitchFamily="2" charset="-122"/>
            </a:endParaRPr>
          </a:p>
        </p:txBody>
      </p:sp>
      <p:sp>
        <p:nvSpPr>
          <p:cNvPr id="10" name="Text 8"/>
          <p:cNvSpPr/>
          <p:nvPr/>
        </p:nvSpPr>
        <p:spPr>
          <a:xfrm>
            <a:off x="762000" y="4362450"/>
            <a:ext cx="4905375" cy="1095375"/>
          </a:xfrm>
          <a:prstGeom prst="rect">
            <a:avLst/>
          </a:prstGeom>
          <a:noFill/>
          <a:ln/>
        </p:spPr>
        <p:txBody>
          <a:bodyPr wrap="square" lIns="0" tIns="0" rIns="0" bIns="0" rtlCol="0" anchor="t"/>
          <a:lstStyle/>
          <a:p>
            <a:pPr defTabSz="685800">
              <a:lnSpc>
                <a:spcPct val="160000"/>
              </a:lnSpc>
            </a:pPr>
            <a:r>
              <a:rPr lang="en-US" sz="1200" b="1" dirty="0">
                <a:solidFill>
                  <a:srgbClr val="EF4444"/>
                </a:solidFill>
                <a:latin typeface="Liter" pitchFamily="34" charset="0"/>
                <a:ea typeface="Liter" pitchFamily="34" charset="-122"/>
                <a:cs typeface="Liter" pitchFamily="34" charset="-120"/>
              </a:rPr>
              <a:t>门槛 3</a:t>
            </a:r>
            <a:endParaRPr lang="en-US" sz="1200" dirty="0">
              <a:solidFill>
                <a:srgbClr val="000000"/>
              </a:solidFill>
              <a:latin typeface="Calibri" panose="020F0502020204030204"/>
            </a:endParaRPr>
          </a:p>
          <a:p>
            <a:pPr defTabSz="685800">
              <a:lnSpc>
                <a:spcPct val="160000"/>
              </a:lnSpc>
              <a:spcBef>
                <a:spcPts val="450"/>
              </a:spcBef>
            </a:pPr>
            <a:r>
              <a:rPr lang="en-US" sz="1350" dirty="0">
                <a:solidFill>
                  <a:srgbClr val="1F2937"/>
                </a:solidFill>
                <a:latin typeface="Liter" pitchFamily="34" charset="0"/>
                <a:ea typeface="Liter" pitchFamily="34" charset="-122"/>
                <a:cs typeface="Liter" pitchFamily="34" charset="-120"/>
              </a:rPr>
              <a:t>新容器有 </a:t>
            </a:r>
            <a:r>
              <a:rPr lang="en-US" sz="1350" b="1" dirty="0">
                <a:solidFill>
                  <a:srgbClr val="1F2937"/>
                </a:solidFill>
                <a:latin typeface="Liter" pitchFamily="34" charset="0"/>
                <a:ea typeface="Liter" pitchFamily="34" charset="-122"/>
                <a:cs typeface="Liter" pitchFamily="34" charset="-120"/>
              </a:rPr>
              <a:t>90 秒冷静期</a:t>
            </a:r>
            <a:r>
              <a:rPr lang="en-US" sz="1350" dirty="0">
                <a:solidFill>
                  <a:srgbClr val="1F2937"/>
                </a:solidFill>
                <a:latin typeface="Liter" pitchFamily="34" charset="0"/>
                <a:ea typeface="Liter" pitchFamily="34" charset="-122"/>
                <a:cs typeface="Liter" pitchFamily="34" charset="-120"/>
              </a:rPr>
              <a:t>，JVM 启动时 CPU 天然高，这段时间不参与缩容判断</a:t>
            </a:r>
            <a:endParaRPr lang="en-US" sz="1200" dirty="0">
              <a:solidFill>
                <a:srgbClr val="000000"/>
              </a:solidFill>
              <a:latin typeface="Calibri" panose="020F0502020204030204"/>
            </a:endParaRPr>
          </a:p>
        </p:txBody>
      </p:sp>
      <p:pic>
        <p:nvPicPr>
          <p:cNvPr id="11" name="Image 0" descr="https://kimi-img.moonshot.cn/pub/slides/okc/c26ulxynikn5k/mnt/agents/output/tech-highlights/images/%E6%89%A9%E7%BC%A9%E5%AE%B9%E6%97%B6%E9%97%B4%E7%BA%BF.jpg"/>
          <p:cNvPicPr>
            <a:picLocks noChangeAspect="1"/>
          </p:cNvPicPr>
          <p:nvPr/>
        </p:nvPicPr>
        <p:blipFill>
          <a:blip r:embed="rId3"/>
          <a:srcRect/>
          <a:stretch/>
        </p:blipFill>
        <p:spPr>
          <a:xfrm>
            <a:off x="6334125" y="952500"/>
            <a:ext cx="5286375" cy="4619625"/>
          </a:xfrm>
          <a:prstGeom prst="roundRect">
            <a:avLst>
              <a:gd name="adj" fmla="val 8000"/>
            </a:avLst>
          </a:prstGeom>
        </p:spPr>
      </p:pic>
      <p:sp>
        <p:nvSpPr>
          <p:cNvPr id="12" name="Shape 9"/>
          <p:cNvSpPr/>
          <p:nvPr/>
        </p:nvSpPr>
        <p:spPr>
          <a:xfrm>
            <a:off x="6334125" y="952500"/>
            <a:ext cx="5286375" cy="4619625"/>
          </a:xfrm>
          <a:prstGeom prst="roundRect">
            <a:avLst>
              <a:gd name="adj" fmla="val 8000"/>
            </a:avLst>
          </a:prstGeom>
          <a:solidFill>
            <a:srgbClr val="FFFFFF">
              <a:alpha val="0"/>
            </a:srgbClr>
          </a:solidFill>
          <a:ln w="12700">
            <a:solidFill>
              <a:srgbClr val="E2E8F0"/>
            </a:solidFill>
            <a:prstDash val="solid"/>
          </a:ln>
        </p:spPr>
        <p:txBody>
          <a:bodyPr/>
          <a:lstStyle/>
          <a:p>
            <a:pPr defTabSz="685800"/>
            <a:endParaRPr lang="zh-CN" altLang="en-US" sz="1350">
              <a:solidFill>
                <a:srgbClr val="000000"/>
              </a:solidFill>
              <a:latin typeface="Calibri" panose="020F0502020204030204"/>
              <a:ea typeface="等线" panose="02010600030101010101" pitchFamily="2" charset="-122"/>
            </a:endParaRPr>
          </a:p>
        </p:txBody>
      </p:sp>
      <p:sp>
        <p:nvSpPr>
          <p:cNvPr id="13" name="Shape 10"/>
          <p:cNvSpPr/>
          <p:nvPr/>
        </p:nvSpPr>
        <p:spPr>
          <a:xfrm>
            <a:off x="571500" y="5715000"/>
            <a:ext cx="11049000" cy="762000"/>
          </a:xfrm>
          <a:prstGeom prst="roundRect">
            <a:avLst>
              <a:gd name="adj" fmla="val 6000"/>
            </a:avLst>
          </a:prstGeom>
          <a:solidFill>
            <a:srgbClr val="FEF3C7"/>
          </a:solidFill>
          <a:ln/>
        </p:spPr>
        <p:txBody>
          <a:bodyPr/>
          <a:lstStyle/>
          <a:p>
            <a:pPr defTabSz="685800"/>
            <a:endParaRPr lang="zh-CN" altLang="en-US" sz="1350">
              <a:solidFill>
                <a:srgbClr val="000000"/>
              </a:solidFill>
              <a:latin typeface="Calibri" panose="020F0502020204030204"/>
              <a:ea typeface="等线" panose="02010600030101010101" pitchFamily="2" charset="-122"/>
            </a:endParaRPr>
          </a:p>
        </p:txBody>
      </p:sp>
      <p:sp>
        <p:nvSpPr>
          <p:cNvPr id="14" name="Text 11"/>
          <p:cNvSpPr/>
          <p:nvPr/>
        </p:nvSpPr>
        <p:spPr>
          <a:xfrm>
            <a:off x="762000" y="5829300"/>
            <a:ext cx="10668000" cy="533400"/>
          </a:xfrm>
          <a:prstGeom prst="rect">
            <a:avLst/>
          </a:prstGeom>
          <a:noFill/>
          <a:ln/>
        </p:spPr>
        <p:txBody>
          <a:bodyPr wrap="square" lIns="0" tIns="0" rIns="0" bIns="0" rtlCol="0" anchor="t"/>
          <a:lstStyle/>
          <a:p>
            <a:pPr defTabSz="685800">
              <a:lnSpc>
                <a:spcPct val="160000"/>
              </a:lnSpc>
            </a:pPr>
            <a:r>
              <a:rPr lang="en-US" sz="1200" b="1" dirty="0">
                <a:solidFill>
                  <a:srgbClr val="F59E0B"/>
                </a:solidFill>
                <a:latin typeface="Liter" pitchFamily="34" charset="0"/>
                <a:ea typeface="Liter" pitchFamily="34" charset="-122"/>
                <a:cs typeface="Liter" pitchFamily="34" charset="-120"/>
              </a:rPr>
              <a:t>扩容宁可多扩，代价只是多花一点资源；缩容缩错了直接影响可用性。扩容快、缩容慢，是有意为之的非对称设计。</a:t>
            </a:r>
            <a:endParaRPr lang="en-US" sz="1200" dirty="0">
              <a:solidFill>
                <a:srgbClr val="000000"/>
              </a:solidFill>
              <a:latin typeface="Calibri" panose="020F0502020204030204"/>
            </a:endParaRP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71500" y="381000"/>
            <a:ext cx="11049000" cy="381000"/>
          </a:xfrm>
          <a:prstGeom prst="rect">
            <a:avLst/>
          </a:prstGeom>
          <a:noFill/>
          <a:ln/>
        </p:spPr>
        <p:txBody>
          <a:bodyPr wrap="none" lIns="0" tIns="0" rIns="0" bIns="0" rtlCol="0" anchor="ctr"/>
          <a:lstStyle/>
          <a:p>
            <a:pPr algn="ctr" defTabSz="685800">
              <a:lnSpc>
                <a:spcPct val="130000"/>
              </a:lnSpc>
            </a:pPr>
            <a:r>
              <a:rPr lang="en-US" sz="2100" b="1" dirty="0">
                <a:solidFill>
                  <a:srgbClr val="3B82F6"/>
                </a:solidFill>
                <a:latin typeface="Liter" pitchFamily="34" charset="0"/>
                <a:ea typeface="Liter" pitchFamily="34" charset="-122"/>
                <a:cs typeface="Liter" pitchFamily="34" charset="-120"/>
              </a:rPr>
              <a:t>闭环总结</a:t>
            </a:r>
            <a:endParaRPr lang="en-US" sz="2100" dirty="0">
              <a:solidFill>
                <a:srgbClr val="000000"/>
              </a:solidFill>
              <a:latin typeface="Calibri" panose="020F0502020204030204"/>
            </a:endParaRPr>
          </a:p>
        </p:txBody>
      </p:sp>
      <p:sp>
        <p:nvSpPr>
          <p:cNvPr id="3" name="Shape 1"/>
          <p:cNvSpPr/>
          <p:nvPr/>
        </p:nvSpPr>
        <p:spPr>
          <a:xfrm>
            <a:off x="5810250" y="809625"/>
            <a:ext cx="571500" cy="38100"/>
          </a:xfrm>
          <a:prstGeom prst="rect">
            <a:avLst/>
          </a:prstGeom>
          <a:solidFill>
            <a:srgbClr val="3B82F6"/>
          </a:solidFill>
          <a:ln/>
        </p:spPr>
        <p:txBody>
          <a:bodyPr/>
          <a:lstStyle/>
          <a:p>
            <a:pPr defTabSz="685800"/>
            <a:endParaRPr lang="zh-CN" altLang="en-US" sz="1350">
              <a:solidFill>
                <a:srgbClr val="000000"/>
              </a:solidFill>
              <a:latin typeface="Calibri" panose="020F0502020204030204"/>
              <a:ea typeface="等线" panose="02010600030101010101" pitchFamily="2" charset="-122"/>
            </a:endParaRPr>
          </a:p>
        </p:txBody>
      </p:sp>
      <p:pic>
        <p:nvPicPr>
          <p:cNvPr id="4" name="Image 0" descr="https://kimi-img.moonshot.cn/pub/slides/okc/c26ulxynikn5k/mnt/agents/output/tech-highlights/images/%E7%B3%BB%E7%BB%9F%E9%97%AD%E7%8E%AF%E7%8E%AF%E5%BD%A2%E5%9B%BE.jpg"/>
          <p:cNvPicPr>
            <a:picLocks noChangeAspect="1"/>
          </p:cNvPicPr>
          <p:nvPr/>
        </p:nvPicPr>
        <p:blipFill>
          <a:blip r:embed="rId3"/>
          <a:srcRect/>
          <a:stretch/>
        </p:blipFill>
        <p:spPr>
          <a:xfrm>
            <a:off x="1333500" y="1047750"/>
            <a:ext cx="9525000" cy="4191000"/>
          </a:xfrm>
          <a:prstGeom prst="roundRect">
            <a:avLst>
              <a:gd name="adj" fmla="val 8000"/>
            </a:avLst>
          </a:prstGeom>
        </p:spPr>
      </p:pic>
      <p:sp>
        <p:nvSpPr>
          <p:cNvPr id="5" name="Shape 2"/>
          <p:cNvSpPr/>
          <p:nvPr/>
        </p:nvSpPr>
        <p:spPr>
          <a:xfrm>
            <a:off x="571500" y="5429250"/>
            <a:ext cx="11049000" cy="1047750"/>
          </a:xfrm>
          <a:prstGeom prst="roundRect">
            <a:avLst>
              <a:gd name="adj" fmla="val 8000"/>
            </a:avLst>
          </a:prstGeom>
          <a:solidFill>
            <a:srgbClr val="DBEAFE"/>
          </a:solidFill>
          <a:ln/>
        </p:spPr>
        <p:txBody>
          <a:bodyPr/>
          <a:lstStyle/>
          <a:p>
            <a:pPr defTabSz="685800"/>
            <a:endParaRPr lang="zh-CN" altLang="en-US" sz="1350">
              <a:solidFill>
                <a:srgbClr val="000000"/>
              </a:solidFill>
              <a:latin typeface="Calibri" panose="020F0502020204030204"/>
              <a:ea typeface="等线" panose="02010600030101010101" pitchFamily="2" charset="-122"/>
            </a:endParaRPr>
          </a:p>
        </p:txBody>
      </p:sp>
      <p:sp>
        <p:nvSpPr>
          <p:cNvPr id="6" name="Text 3"/>
          <p:cNvSpPr/>
          <p:nvPr/>
        </p:nvSpPr>
        <p:spPr>
          <a:xfrm>
            <a:off x="952500" y="5543550"/>
            <a:ext cx="10287000" cy="819150"/>
          </a:xfrm>
          <a:prstGeom prst="rect">
            <a:avLst/>
          </a:prstGeom>
          <a:noFill/>
          <a:ln/>
        </p:spPr>
        <p:txBody>
          <a:bodyPr wrap="square" lIns="0" tIns="0" rIns="0" bIns="0" rtlCol="0" anchor="ctr"/>
          <a:lstStyle/>
          <a:p>
            <a:pPr algn="ctr" defTabSz="685800">
              <a:lnSpc>
                <a:spcPct val="160000"/>
              </a:lnSpc>
            </a:pPr>
            <a:r>
              <a:rPr lang="en-US" sz="1350" b="1" dirty="0">
                <a:solidFill>
                  <a:srgbClr val="1F2937"/>
                </a:solidFill>
                <a:latin typeface="Liter" pitchFamily="34" charset="0"/>
                <a:ea typeface="Liter" pitchFamily="34" charset="-122"/>
                <a:cs typeface="Liter" pitchFamily="34" charset="-120"/>
              </a:rPr>
              <a:t>singularity-core</a:t>
            </a:r>
            <a:r>
              <a:rPr lang="en-US" sz="1350" dirty="0">
                <a:solidFill>
                  <a:srgbClr val="1F2937"/>
                </a:solidFill>
                <a:latin typeface="Liter" pitchFamily="34" charset="0"/>
                <a:ea typeface="Liter" pitchFamily="34" charset="-122"/>
                <a:cs typeface="Liter" pitchFamily="34" charset="-120"/>
              </a:rPr>
              <a:t> 和 </a:t>
            </a:r>
            <a:r>
              <a:rPr lang="en-US" sz="1350" b="1" dirty="0">
                <a:solidFill>
                  <a:srgbClr val="1F2937"/>
                </a:solidFill>
                <a:latin typeface="Liter" pitchFamily="34" charset="0"/>
                <a:ea typeface="Liter" pitchFamily="34" charset="-122"/>
                <a:cs typeface="Liter" pitchFamily="34" charset="-120"/>
              </a:rPr>
              <a:t>scaler</a:t>
            </a:r>
            <a:r>
              <a:rPr lang="en-US" sz="1350" dirty="0">
                <a:solidFill>
                  <a:srgbClr val="1F2937"/>
                </a:solidFill>
                <a:latin typeface="Liter" pitchFamily="34" charset="0"/>
                <a:ea typeface="Liter" pitchFamily="34" charset="-122"/>
                <a:cs typeface="Liter" pitchFamily="34" charset="-120"/>
              </a:rPr>
              <a:t> 的设计都是通用的，秒杀只是我们选择的极端验证场景</a:t>
            </a:r>
            <a:endParaRPr lang="en-US" sz="1350" dirty="0">
              <a:solidFill>
                <a:srgbClr val="000000"/>
              </a:solidFill>
              <a:latin typeface="Calibri" panose="020F0502020204030204"/>
            </a:endParaRPr>
          </a:p>
          <a:p>
            <a:pPr algn="ctr" defTabSz="685800">
              <a:lnSpc>
                <a:spcPct val="160000"/>
              </a:lnSpc>
              <a:spcBef>
                <a:spcPts val="600"/>
              </a:spcBef>
            </a:pPr>
            <a:r>
              <a:rPr lang="en-US" sz="1350" dirty="0">
                <a:solidFill>
                  <a:srgbClr val="1F2937"/>
                </a:solidFill>
                <a:latin typeface="Liter" pitchFamily="34" charset="0"/>
                <a:ea typeface="Liter" pitchFamily="34" charset="-122"/>
                <a:cs typeface="Liter" pitchFamily="34" charset="-120"/>
              </a:rPr>
              <a:t>任何需要横向扩展资源分配的系统，都可以套用这套框架</a:t>
            </a:r>
            <a:endParaRPr lang="en-US" sz="1350" dirty="0">
              <a:solidFill>
                <a:srgbClr val="000000"/>
              </a:solidFill>
              <a:latin typeface="Calibri" panose="020F0502020204030204"/>
            </a:endParaRP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形" descr="E:\006包图网\素材\商务渐变\60215ca3e2090.jpg60215ca3e2090"/>
          <p:cNvPicPr>
            <a:picLocks noChangeAspect="1"/>
          </p:cNvPicPr>
          <p:nvPr/>
        </p:nvPicPr>
        <p:blipFill>
          <a:blip r:embed="rId3" cstate="screen"/>
          <a:srcRect/>
          <a:stretch>
            <a:fillRect/>
          </a:stretch>
        </p:blipFill>
        <p:spPr>
          <a:xfrm flipH="1">
            <a:off x="-76200" y="635"/>
            <a:ext cx="12343765" cy="6857365"/>
          </a:xfrm>
          <a:prstGeom prst="rect">
            <a:avLst/>
          </a:prstGeom>
        </p:spPr>
      </p:pic>
      <p:sp>
        <p:nvSpPr>
          <p:cNvPr id="38" name="图形"/>
          <p:cNvSpPr/>
          <p:nvPr/>
        </p:nvSpPr>
        <p:spPr>
          <a:xfrm>
            <a:off x="-97155" y="635"/>
            <a:ext cx="12342495" cy="6858000"/>
          </a:xfrm>
          <a:prstGeom prst="rect">
            <a:avLst/>
          </a:prstGeom>
          <a:gradFill>
            <a:gsLst>
              <a:gs pos="15000">
                <a:srgbClr val="070588">
                  <a:alpha val="0"/>
                </a:srgbClr>
              </a:gs>
              <a:gs pos="41000">
                <a:srgbClr val="070588">
                  <a:alpha val="100000"/>
                </a:srgbClr>
              </a:gs>
              <a:gs pos="67000">
                <a:srgbClr val="070588">
                  <a:alpha val="37000"/>
                </a:srgbClr>
              </a:gs>
            </a:gsLst>
            <a:lin ang="162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7" name="图形"/>
          <p:cNvGrpSpPr/>
          <p:nvPr/>
        </p:nvGrpSpPr>
        <p:grpSpPr>
          <a:xfrm>
            <a:off x="2134870" y="1228725"/>
            <a:ext cx="8194675" cy="3616960"/>
            <a:chOff x="3362" y="1935"/>
            <a:chExt cx="12905" cy="5696"/>
          </a:xfrm>
        </p:grpSpPr>
        <p:sp>
          <p:nvSpPr>
            <p:cNvPr id="6" name="图形"/>
            <p:cNvSpPr txBox="1"/>
            <p:nvPr/>
          </p:nvSpPr>
          <p:spPr>
            <a:xfrm>
              <a:off x="3362" y="4179"/>
              <a:ext cx="12905" cy="1888"/>
            </a:xfrm>
            <a:prstGeom prst="rect">
              <a:avLst/>
            </a:prstGeom>
            <a:noFill/>
          </p:spPr>
          <p:txBody>
            <a:bodyPr wrap="square" rtlCol="0">
              <a:spAutoFit/>
            </a:bodyPr>
            <a:lstStyle>
              <a:defPPr>
                <a:defRPr lang="zh-CN"/>
              </a:defPPr>
              <a:lvl1pPr algn="ctr">
                <a:defRPr sz="7200" b="1">
                  <a:ln>
                    <a:noFill/>
                  </a:ln>
                  <a:solidFill>
                    <a:schemeClr val="bg1"/>
                  </a:solidFill>
                  <a:effectLst/>
                  <a:uLnTx/>
                  <a:uFillTx/>
                  <a:cs typeface="+mn-ea"/>
                </a:defRPr>
              </a:lvl1pPr>
            </a:lstStyle>
            <a:p>
              <a:r>
                <a:rPr lang="zh-CN" altLang="en-US" dirty="0">
                  <a:sym typeface="+mn-lt"/>
                </a:rPr>
                <a:t>软件功能展示</a:t>
              </a:r>
            </a:p>
          </p:txBody>
        </p:sp>
        <p:sp>
          <p:nvSpPr>
            <p:cNvPr id="7" name="图形"/>
            <p:cNvSpPr txBox="1"/>
            <p:nvPr/>
          </p:nvSpPr>
          <p:spPr>
            <a:xfrm>
              <a:off x="5044" y="5910"/>
              <a:ext cx="9531" cy="530"/>
            </a:xfrm>
            <a:prstGeom prst="rect">
              <a:avLst/>
            </a:prstGeom>
            <a:noFill/>
          </p:spPr>
          <p:txBody>
            <a:bodyPr wrap="square" rtlCol="0">
              <a:spAutoFit/>
            </a:bodyPr>
            <a:lstStyle/>
            <a:p>
              <a:pPr marL="0" marR="0" lvl="0" indent="0" algn="ctr" defTabSz="913765" rtl="0" eaLnBrk="1" fontAlgn="auto" latinLnBrk="0" hangingPunct="1">
                <a:lnSpc>
                  <a:spcPct val="150000"/>
                </a:lnSpc>
                <a:spcBef>
                  <a:spcPts val="0"/>
                </a:spcBef>
                <a:spcAft>
                  <a:spcPts val="0"/>
                </a:spcAft>
                <a:buClrTx/>
                <a:buSzPct val="25000"/>
                <a:buFontTx/>
                <a:buNone/>
                <a:defRPr/>
              </a:pPr>
              <a:r>
                <a:rPr lang="en-US" altLang="zh-CN" sz="1200" kern="0" dirty="0">
                  <a:solidFill>
                    <a:schemeClr val="bg1">
                      <a:alpha val="83000"/>
                    </a:schemeClr>
                  </a:solidFill>
                  <a:cs typeface="+mn-ea"/>
                  <a:sym typeface="+mn-lt"/>
                </a:rPr>
                <a:t>It just work</a:t>
              </a:r>
              <a:endParaRPr lang="en-US" altLang="zh-CN" sz="1200" kern="0" dirty="0">
                <a:solidFill>
                  <a:schemeClr val="bg1">
                    <a:alpha val="83000"/>
                  </a:schemeClr>
                </a:solidFill>
                <a:uFillTx/>
                <a:cs typeface="+mn-ea"/>
                <a:sym typeface="+mn-lt"/>
              </a:endParaRPr>
            </a:p>
          </p:txBody>
        </p:sp>
        <p:sp>
          <p:nvSpPr>
            <p:cNvPr id="9" name="图形"/>
            <p:cNvSpPr txBox="1"/>
            <p:nvPr/>
          </p:nvSpPr>
          <p:spPr>
            <a:xfrm>
              <a:off x="7838" y="1935"/>
              <a:ext cx="4224" cy="4168"/>
            </a:xfrm>
            <a:prstGeom prst="rect">
              <a:avLst/>
            </a:prstGeom>
            <a:noFill/>
          </p:spPr>
          <p:txBody>
            <a:bodyPr wrap="none" rtlCol="0">
              <a:spAutoFit/>
            </a:bodyPr>
            <a:lstStyle/>
            <a:p>
              <a:r>
                <a:rPr lang="zh-CN" altLang="en-US" sz="16600" dirty="0">
                  <a:gradFill>
                    <a:gsLst>
                      <a:gs pos="39000">
                        <a:srgbClr val="37CEFF"/>
                      </a:gs>
                      <a:gs pos="74000">
                        <a:srgbClr val="161553">
                          <a:alpha val="0"/>
                        </a:srgbClr>
                      </a:gs>
                    </a:gsLst>
                    <a:lin ang="5400000" scaled="0"/>
                  </a:gradFill>
                  <a:cs typeface="+mn-ea"/>
                  <a:sym typeface="+mn-lt"/>
                </a:rPr>
                <a:t>0</a:t>
              </a:r>
              <a:r>
                <a:rPr lang="en-US" altLang="zh-CN" sz="16600" dirty="0">
                  <a:gradFill>
                    <a:gsLst>
                      <a:gs pos="39000">
                        <a:srgbClr val="37CEFF"/>
                      </a:gs>
                      <a:gs pos="74000">
                        <a:srgbClr val="161553">
                          <a:alpha val="0"/>
                        </a:srgbClr>
                      </a:gs>
                    </a:gsLst>
                    <a:lin ang="5400000" scaled="0"/>
                  </a:gradFill>
                  <a:cs typeface="+mn-ea"/>
                  <a:sym typeface="+mn-lt"/>
                </a:rPr>
                <a:t>2</a:t>
              </a:r>
            </a:p>
          </p:txBody>
        </p:sp>
        <p:grpSp>
          <p:nvGrpSpPr>
            <p:cNvPr id="3" name="组合 2"/>
            <p:cNvGrpSpPr/>
            <p:nvPr/>
          </p:nvGrpSpPr>
          <p:grpSpPr>
            <a:xfrm rot="10800000">
              <a:off x="9439" y="7404"/>
              <a:ext cx="996" cy="227"/>
              <a:chOff x="9270" y="2823"/>
              <a:chExt cx="799" cy="182"/>
            </a:xfrm>
            <a:solidFill>
              <a:schemeClr val="bg1"/>
            </a:solidFill>
          </p:grpSpPr>
          <p:sp>
            <p:nvSpPr>
              <p:cNvPr id="71" name="图形"/>
              <p:cNvSpPr/>
              <p:nvPr/>
            </p:nvSpPr>
            <p:spPr>
              <a:xfrm>
                <a:off x="9270" y="2823"/>
                <a:ext cx="183" cy="183"/>
              </a:xfrm>
              <a:prstGeom prst="ellipse">
                <a:avLst/>
              </a:prstGeom>
              <a:solidFill>
                <a:srgbClr val="75BAF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lumMod val="100000"/>
                    </a:prstClr>
                  </a:solidFill>
                  <a:effectLst/>
                  <a:uLnTx/>
                  <a:uFillTx/>
                  <a:cs typeface="+mn-ea"/>
                  <a:sym typeface="+mn-lt"/>
                </a:endParaRPr>
              </a:p>
            </p:txBody>
          </p:sp>
          <p:sp>
            <p:nvSpPr>
              <p:cNvPr id="72" name="图形"/>
              <p:cNvSpPr/>
              <p:nvPr/>
            </p:nvSpPr>
            <p:spPr>
              <a:xfrm>
                <a:off x="9578" y="2823"/>
                <a:ext cx="183" cy="183"/>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lumMod val="100000"/>
                    </a:prstClr>
                  </a:solidFill>
                  <a:effectLst/>
                  <a:uLnTx/>
                  <a:uFillTx/>
                  <a:cs typeface="+mn-ea"/>
                  <a:sym typeface="+mn-lt"/>
                </a:endParaRPr>
              </a:p>
            </p:txBody>
          </p:sp>
          <p:sp>
            <p:nvSpPr>
              <p:cNvPr id="65" name="图形"/>
              <p:cNvSpPr/>
              <p:nvPr/>
            </p:nvSpPr>
            <p:spPr>
              <a:xfrm>
                <a:off x="9887" y="2823"/>
                <a:ext cx="183" cy="183"/>
              </a:xfrm>
              <a:prstGeom prst="ellipse">
                <a:avLst/>
              </a:prstGeom>
              <a:solidFill>
                <a:srgbClr val="75BA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grpSp>
      <p:grpSp>
        <p:nvGrpSpPr>
          <p:cNvPr id="36" name="图形"/>
          <p:cNvGrpSpPr/>
          <p:nvPr/>
        </p:nvGrpSpPr>
        <p:grpSpPr>
          <a:xfrm flipV="1">
            <a:off x="2750185" y="6318250"/>
            <a:ext cx="8757920" cy="76200"/>
            <a:chOff x="2151" y="9388"/>
            <a:chExt cx="15996" cy="120"/>
          </a:xfrm>
        </p:grpSpPr>
        <p:sp>
          <p:nvSpPr>
            <p:cNvPr id="17" name="图形"/>
            <p:cNvSpPr/>
            <p:nvPr/>
          </p:nvSpPr>
          <p:spPr>
            <a:xfrm flipH="1">
              <a:off x="6120"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18" name="图形"/>
            <p:cNvSpPr/>
            <p:nvPr/>
          </p:nvSpPr>
          <p:spPr>
            <a:xfrm flipH="1">
              <a:off x="7443"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19" name="图形"/>
            <p:cNvSpPr/>
            <p:nvPr/>
          </p:nvSpPr>
          <p:spPr>
            <a:xfrm flipH="1">
              <a:off x="8766"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20" name="图形"/>
            <p:cNvSpPr/>
            <p:nvPr/>
          </p:nvSpPr>
          <p:spPr>
            <a:xfrm flipH="1">
              <a:off x="10089"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21" name="图形"/>
            <p:cNvSpPr/>
            <p:nvPr/>
          </p:nvSpPr>
          <p:spPr>
            <a:xfrm flipH="1">
              <a:off x="11412"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5" name="图形"/>
            <p:cNvSpPr/>
            <p:nvPr/>
          </p:nvSpPr>
          <p:spPr>
            <a:xfrm flipH="1">
              <a:off x="12735"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8" name="图形"/>
            <p:cNvSpPr/>
            <p:nvPr/>
          </p:nvSpPr>
          <p:spPr>
            <a:xfrm flipH="1">
              <a:off x="14058"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10" name="图形"/>
            <p:cNvSpPr/>
            <p:nvPr/>
          </p:nvSpPr>
          <p:spPr>
            <a:xfrm flipH="1">
              <a:off x="15381"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15" name="图形"/>
            <p:cNvSpPr/>
            <p:nvPr/>
          </p:nvSpPr>
          <p:spPr>
            <a:xfrm flipH="1">
              <a:off x="16704"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11" name="图形"/>
            <p:cNvSpPr/>
            <p:nvPr/>
          </p:nvSpPr>
          <p:spPr>
            <a:xfrm flipH="1">
              <a:off x="18027"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27" name="图形"/>
            <p:cNvSpPr/>
            <p:nvPr/>
          </p:nvSpPr>
          <p:spPr>
            <a:xfrm flipH="1">
              <a:off x="2151"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34" name="图形"/>
            <p:cNvSpPr/>
            <p:nvPr/>
          </p:nvSpPr>
          <p:spPr>
            <a:xfrm flipH="1">
              <a:off x="3474"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35" name="图形"/>
            <p:cNvSpPr/>
            <p:nvPr/>
          </p:nvSpPr>
          <p:spPr>
            <a:xfrm flipH="1">
              <a:off x="4797"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grpSp>
      <p:grpSp>
        <p:nvGrpSpPr>
          <p:cNvPr id="33" name="图形"/>
          <p:cNvGrpSpPr/>
          <p:nvPr/>
        </p:nvGrpSpPr>
        <p:grpSpPr>
          <a:xfrm>
            <a:off x="1493520" y="1847850"/>
            <a:ext cx="9018270" cy="1553210"/>
            <a:chOff x="2352" y="2910"/>
            <a:chExt cx="14202" cy="2446"/>
          </a:xfrm>
        </p:grpSpPr>
        <p:grpSp>
          <p:nvGrpSpPr>
            <p:cNvPr id="100" name="图形"/>
            <p:cNvGrpSpPr/>
            <p:nvPr/>
          </p:nvGrpSpPr>
          <p:grpSpPr>
            <a:xfrm>
              <a:off x="14829" y="3072"/>
              <a:ext cx="163" cy="1107"/>
              <a:chOff x="9993678" y="6703078"/>
              <a:chExt cx="81180" cy="553128"/>
            </a:xfrm>
          </p:grpSpPr>
          <p:cxnSp>
            <p:nvCxnSpPr>
              <p:cNvPr id="101" name="图形"/>
              <p:cNvCxnSpPr/>
              <p:nvPr/>
            </p:nvCxnSpPr>
            <p:spPr>
              <a:xfrm>
                <a:off x="10034268" y="6784258"/>
                <a:ext cx="0" cy="471948"/>
              </a:xfrm>
              <a:prstGeom prst="line">
                <a:avLst/>
              </a:prstGeom>
              <a:ln w="15875">
                <a:gradFill>
                  <a:gsLst>
                    <a:gs pos="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02" name="图形"/>
              <p:cNvSpPr/>
              <p:nvPr/>
            </p:nvSpPr>
            <p:spPr>
              <a:xfrm>
                <a:off x="9993678" y="6703078"/>
                <a:ext cx="81180" cy="81180"/>
              </a:xfrm>
              <a:prstGeom prst="ellipse">
                <a:avLst/>
              </a:prstGeom>
              <a:solidFill>
                <a:srgbClr val="75BAF9"/>
              </a:solidFill>
              <a:ln>
                <a:noFill/>
              </a:ln>
              <a:effectLst>
                <a:glow rad="203200">
                  <a:schemeClr val="accent1">
                    <a:alpha val="28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grpSp>
          <p:nvGrpSpPr>
            <p:cNvPr id="12" name="图形"/>
            <p:cNvGrpSpPr/>
            <p:nvPr/>
          </p:nvGrpSpPr>
          <p:grpSpPr>
            <a:xfrm>
              <a:off x="4352" y="2910"/>
              <a:ext cx="163" cy="1107"/>
              <a:chOff x="9993678" y="6703078"/>
              <a:chExt cx="81180" cy="553128"/>
            </a:xfrm>
          </p:grpSpPr>
          <p:cxnSp>
            <p:nvCxnSpPr>
              <p:cNvPr id="13" name="图形"/>
              <p:cNvCxnSpPr/>
              <p:nvPr/>
            </p:nvCxnSpPr>
            <p:spPr>
              <a:xfrm>
                <a:off x="10034268" y="6784258"/>
                <a:ext cx="0" cy="471948"/>
              </a:xfrm>
              <a:prstGeom prst="line">
                <a:avLst/>
              </a:prstGeom>
              <a:ln w="15875">
                <a:gradFill>
                  <a:gsLst>
                    <a:gs pos="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4" name="图形"/>
              <p:cNvSpPr/>
              <p:nvPr/>
            </p:nvSpPr>
            <p:spPr>
              <a:xfrm>
                <a:off x="9993678" y="6703078"/>
                <a:ext cx="81180" cy="81180"/>
              </a:xfrm>
              <a:prstGeom prst="ellipse">
                <a:avLst/>
              </a:prstGeom>
              <a:solidFill>
                <a:srgbClr val="75BAF9"/>
              </a:solidFill>
              <a:ln>
                <a:noFill/>
              </a:ln>
              <a:effectLst>
                <a:glow rad="203200">
                  <a:schemeClr val="accent1">
                    <a:alpha val="28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grpSp>
          <p:nvGrpSpPr>
            <p:cNvPr id="16" name="图形"/>
            <p:cNvGrpSpPr/>
            <p:nvPr/>
          </p:nvGrpSpPr>
          <p:grpSpPr>
            <a:xfrm>
              <a:off x="2352" y="4250"/>
              <a:ext cx="163" cy="1107"/>
              <a:chOff x="9993678" y="6703078"/>
              <a:chExt cx="81180" cy="553128"/>
            </a:xfrm>
          </p:grpSpPr>
          <p:cxnSp>
            <p:nvCxnSpPr>
              <p:cNvPr id="24" name="图形"/>
              <p:cNvCxnSpPr/>
              <p:nvPr/>
            </p:nvCxnSpPr>
            <p:spPr>
              <a:xfrm>
                <a:off x="10034268" y="6784258"/>
                <a:ext cx="0" cy="471948"/>
              </a:xfrm>
              <a:prstGeom prst="line">
                <a:avLst/>
              </a:prstGeom>
              <a:ln w="15875">
                <a:gradFill>
                  <a:gsLst>
                    <a:gs pos="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8" name="图形"/>
              <p:cNvSpPr/>
              <p:nvPr/>
            </p:nvSpPr>
            <p:spPr>
              <a:xfrm>
                <a:off x="9993678" y="6703078"/>
                <a:ext cx="81180" cy="81180"/>
              </a:xfrm>
              <a:prstGeom prst="ellipse">
                <a:avLst/>
              </a:prstGeom>
              <a:solidFill>
                <a:srgbClr val="75BAF9"/>
              </a:solidFill>
              <a:ln>
                <a:noFill/>
              </a:ln>
              <a:effectLst>
                <a:glow rad="203200">
                  <a:schemeClr val="accent1">
                    <a:alpha val="28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grpSp>
          <p:nvGrpSpPr>
            <p:cNvPr id="29" name="图形"/>
            <p:cNvGrpSpPr/>
            <p:nvPr/>
          </p:nvGrpSpPr>
          <p:grpSpPr>
            <a:xfrm>
              <a:off x="16392" y="4250"/>
              <a:ext cx="163" cy="1107"/>
              <a:chOff x="9993678" y="6703078"/>
              <a:chExt cx="81180" cy="553128"/>
            </a:xfrm>
          </p:grpSpPr>
          <p:cxnSp>
            <p:nvCxnSpPr>
              <p:cNvPr id="30" name="图形"/>
              <p:cNvCxnSpPr/>
              <p:nvPr/>
            </p:nvCxnSpPr>
            <p:spPr>
              <a:xfrm>
                <a:off x="10034268" y="6784258"/>
                <a:ext cx="0" cy="471948"/>
              </a:xfrm>
              <a:prstGeom prst="line">
                <a:avLst/>
              </a:prstGeom>
              <a:ln w="15875">
                <a:gradFill>
                  <a:gsLst>
                    <a:gs pos="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31" name="图形"/>
              <p:cNvSpPr/>
              <p:nvPr/>
            </p:nvSpPr>
            <p:spPr>
              <a:xfrm>
                <a:off x="9993678" y="6703078"/>
                <a:ext cx="81180" cy="81180"/>
              </a:xfrm>
              <a:prstGeom prst="ellipse">
                <a:avLst/>
              </a:prstGeom>
              <a:solidFill>
                <a:srgbClr val="75BAF9"/>
              </a:solidFill>
              <a:ln>
                <a:noFill/>
              </a:ln>
              <a:effectLst>
                <a:glow rad="203200">
                  <a:schemeClr val="accent1">
                    <a:alpha val="28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grpSp>
      <p:grpSp>
        <p:nvGrpSpPr>
          <p:cNvPr id="45" name="图形"/>
          <p:cNvGrpSpPr/>
          <p:nvPr/>
        </p:nvGrpSpPr>
        <p:grpSpPr>
          <a:xfrm>
            <a:off x="1020445" y="692150"/>
            <a:ext cx="10289540" cy="300990"/>
            <a:chOff x="1607" y="1090"/>
            <a:chExt cx="16204" cy="474"/>
          </a:xfrm>
        </p:grpSpPr>
        <p:grpSp>
          <p:nvGrpSpPr>
            <p:cNvPr id="46" name="图形"/>
            <p:cNvGrpSpPr/>
            <p:nvPr/>
          </p:nvGrpSpPr>
          <p:grpSpPr>
            <a:xfrm>
              <a:off x="1607" y="1090"/>
              <a:ext cx="368" cy="184"/>
              <a:chOff x="7542330" y="1176595"/>
              <a:chExt cx="180020" cy="90010"/>
            </a:xfrm>
          </p:grpSpPr>
          <p:cxnSp>
            <p:nvCxnSpPr>
              <p:cNvPr id="48" name="图形"/>
              <p:cNvCxnSpPr/>
              <p:nvPr/>
            </p:nvCxnSpPr>
            <p:spPr>
              <a:xfrm>
                <a:off x="7542330" y="1176595"/>
                <a:ext cx="1800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9" name="图形"/>
              <p:cNvCxnSpPr/>
              <p:nvPr/>
            </p:nvCxnSpPr>
            <p:spPr>
              <a:xfrm>
                <a:off x="7542330" y="1221600"/>
                <a:ext cx="1800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0" name="图形"/>
              <p:cNvCxnSpPr/>
              <p:nvPr/>
            </p:nvCxnSpPr>
            <p:spPr>
              <a:xfrm>
                <a:off x="7542330" y="1266605"/>
                <a:ext cx="1800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47" name="图形"/>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188" y="1182"/>
              <a:ext cx="623" cy="382"/>
            </a:xfrm>
            <a:prstGeom prst="rect">
              <a:avLst/>
            </a:prstGeom>
          </p:spPr>
        </p:pic>
      </p:grpSp>
    </p:spTree>
    <p:custDataLst>
      <p:tags r:id="rId1"/>
    </p:custDataLst>
  </p:cSld>
  <p:clrMapOvr>
    <a:masterClrMapping/>
  </p:clrMapOvr>
  <p:transition>
    <p:wheel spokes="2"/>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3" presetClass="entr" presetSubtype="16" fill="hold" nodeType="afterEffect">
                                  <p:stCondLst>
                                    <p:cond delay="0"/>
                                  </p:stCondLst>
                                  <p:childTnLst>
                                    <p:set>
                                      <p:cBhvr>
                                        <p:cTn id="6" dur="500" fill="hold">
                                          <p:stCondLst>
                                            <p:cond delay="0"/>
                                          </p:stCondLst>
                                        </p:cTn>
                                        <p:tgtEl>
                                          <p:spTgt spid="37"/>
                                        </p:tgtEl>
                                        <p:attrNameLst>
                                          <p:attrName>style.visibility</p:attrName>
                                        </p:attrNameLst>
                                      </p:cBhvr>
                                      <p:to>
                                        <p:strVal val="visible"/>
                                      </p:to>
                                    </p:set>
                                    <p:animEffect transition="in" filter="plus(in)">
                                      <p:cBhvr>
                                        <p:cTn id="7" dur="500"/>
                                        <p:tgtEl>
                                          <p:spTgt spid="37"/>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36"/>
                                        </p:tgtEl>
                                        <p:attrNameLst>
                                          <p:attrName>style.visibility</p:attrName>
                                        </p:attrNameLst>
                                      </p:cBhvr>
                                      <p:to>
                                        <p:strVal val="visible"/>
                                      </p:to>
                                    </p:set>
                                    <p:animEffect transition="in" filter="blinds(horizontal)">
                                      <p:cBhvr>
                                        <p:cTn id="11" dur="500"/>
                                        <p:tgtEl>
                                          <p:spTgt spid="36"/>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blinds(horizontal)">
                                      <p:cBhvr>
                                        <p:cTn id="15" dur="500"/>
                                        <p:tgtEl>
                                          <p:spTgt spid="33"/>
                                        </p:tgtEl>
                                      </p:cBhvr>
                                    </p:animEffect>
                                  </p:childTnLst>
                                </p:cTn>
                              </p:par>
                            </p:childTnLst>
                          </p:cTn>
                        </p:par>
                        <p:par>
                          <p:cTn id="16" fill="hold">
                            <p:stCondLst>
                              <p:cond delay="1500"/>
                            </p:stCondLst>
                            <p:childTnLst>
                              <p:par>
                                <p:cTn id="17" presetID="16" presetClass="entr" presetSubtype="21" fill="hold" nodeType="afterEffect">
                                  <p:stCondLst>
                                    <p:cond delay="0"/>
                                  </p:stCondLst>
                                  <p:childTnLst>
                                    <p:set>
                                      <p:cBhvr>
                                        <p:cTn id="18" dur="1000" fill="hold">
                                          <p:stCondLst>
                                            <p:cond delay="0"/>
                                          </p:stCondLst>
                                        </p:cTn>
                                        <p:tgtEl>
                                          <p:spTgt spid="45"/>
                                        </p:tgtEl>
                                        <p:attrNameLst>
                                          <p:attrName>style.visibility</p:attrName>
                                        </p:attrNameLst>
                                      </p:cBhvr>
                                      <p:to>
                                        <p:strVal val="visible"/>
                                      </p:to>
                                    </p:set>
                                    <p:animEffect transition="in" filter="barn(inVertical)">
                                      <p:cBhvr>
                                        <p:cTn id="19" dur="10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形" descr="E:\006包图网\素材\商务渐变\60215ca3e2090.jpg60215ca3e2090"/>
          <p:cNvPicPr>
            <a:picLocks noChangeAspect="1"/>
          </p:cNvPicPr>
          <p:nvPr/>
        </p:nvPicPr>
        <p:blipFill>
          <a:blip r:embed="rId3" cstate="screen"/>
          <a:srcRect/>
          <a:stretch>
            <a:fillRect/>
          </a:stretch>
        </p:blipFill>
        <p:spPr>
          <a:xfrm flipH="1">
            <a:off x="-97790" y="635"/>
            <a:ext cx="12343765" cy="6857365"/>
          </a:xfrm>
          <a:prstGeom prst="rect">
            <a:avLst/>
          </a:prstGeom>
        </p:spPr>
      </p:pic>
      <p:sp>
        <p:nvSpPr>
          <p:cNvPr id="38" name="图形"/>
          <p:cNvSpPr/>
          <p:nvPr/>
        </p:nvSpPr>
        <p:spPr>
          <a:xfrm>
            <a:off x="-74930" y="0"/>
            <a:ext cx="12342495" cy="6858000"/>
          </a:xfrm>
          <a:prstGeom prst="rect">
            <a:avLst/>
          </a:prstGeom>
          <a:gradFill>
            <a:gsLst>
              <a:gs pos="15000">
                <a:srgbClr val="070588">
                  <a:alpha val="0"/>
                </a:srgbClr>
              </a:gs>
              <a:gs pos="41000">
                <a:srgbClr val="070588">
                  <a:alpha val="100000"/>
                </a:srgbClr>
              </a:gs>
              <a:gs pos="67000">
                <a:srgbClr val="070588">
                  <a:alpha val="37000"/>
                </a:srgbClr>
              </a:gs>
            </a:gsLst>
            <a:lin ang="162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7" name="图形"/>
          <p:cNvGrpSpPr/>
          <p:nvPr/>
        </p:nvGrpSpPr>
        <p:grpSpPr>
          <a:xfrm>
            <a:off x="2134870" y="1228725"/>
            <a:ext cx="8194675" cy="3616960"/>
            <a:chOff x="3362" y="1935"/>
            <a:chExt cx="12905" cy="5696"/>
          </a:xfrm>
        </p:grpSpPr>
        <p:sp>
          <p:nvSpPr>
            <p:cNvPr id="6" name="图形"/>
            <p:cNvSpPr txBox="1"/>
            <p:nvPr/>
          </p:nvSpPr>
          <p:spPr>
            <a:xfrm>
              <a:off x="3362" y="4179"/>
              <a:ext cx="12905" cy="1888"/>
            </a:xfrm>
            <a:prstGeom prst="rect">
              <a:avLst/>
            </a:prstGeom>
            <a:noFill/>
          </p:spPr>
          <p:txBody>
            <a:bodyPr wrap="square" rtlCol="0">
              <a:spAutoFit/>
            </a:bodyPr>
            <a:lstStyle>
              <a:defPPr>
                <a:defRPr lang="zh-CN"/>
              </a:defPPr>
              <a:lvl1pPr algn="ctr">
                <a:defRPr sz="7200" b="1">
                  <a:ln>
                    <a:noFill/>
                  </a:ln>
                  <a:solidFill>
                    <a:schemeClr val="bg1"/>
                  </a:solidFill>
                  <a:effectLst/>
                  <a:uLnTx/>
                  <a:uFillTx/>
                  <a:cs typeface="+mn-ea"/>
                </a:defRPr>
              </a:lvl1pPr>
            </a:lstStyle>
            <a:p>
              <a:r>
                <a:rPr lang="zh-CN" altLang="en-US" dirty="0">
                  <a:sym typeface="+mn-lt"/>
                </a:rPr>
                <a:t>核心性能优势</a:t>
              </a:r>
            </a:p>
          </p:txBody>
        </p:sp>
        <p:sp>
          <p:nvSpPr>
            <p:cNvPr id="7" name="图形"/>
            <p:cNvSpPr txBox="1"/>
            <p:nvPr/>
          </p:nvSpPr>
          <p:spPr>
            <a:xfrm>
              <a:off x="5044" y="5910"/>
              <a:ext cx="9531" cy="530"/>
            </a:xfrm>
            <a:prstGeom prst="rect">
              <a:avLst/>
            </a:prstGeom>
            <a:noFill/>
          </p:spPr>
          <p:txBody>
            <a:bodyPr wrap="square" rtlCol="0">
              <a:spAutoFit/>
            </a:bodyPr>
            <a:lstStyle/>
            <a:p>
              <a:pPr marL="0" marR="0" lvl="0" indent="0" algn="ctr" defTabSz="913765" rtl="0" eaLnBrk="1" fontAlgn="auto" latinLnBrk="0" hangingPunct="1">
                <a:lnSpc>
                  <a:spcPct val="150000"/>
                </a:lnSpc>
                <a:spcBef>
                  <a:spcPts val="0"/>
                </a:spcBef>
                <a:spcAft>
                  <a:spcPts val="0"/>
                </a:spcAft>
                <a:buClrTx/>
                <a:buSzPct val="25000"/>
                <a:buFontTx/>
                <a:buNone/>
                <a:defRPr/>
              </a:pPr>
              <a:r>
                <a:rPr lang="zh-CN" altLang="en-US" sz="1200" kern="0" dirty="0">
                  <a:solidFill>
                    <a:schemeClr val="bg1">
                      <a:alpha val="83000"/>
                    </a:schemeClr>
                  </a:solidFill>
                  <a:uFillTx/>
                  <a:cs typeface="+mn-ea"/>
                  <a:sym typeface="+mn-lt"/>
                </a:rPr>
                <a:t>用数据说话</a:t>
              </a:r>
              <a:endParaRPr lang="en-US" altLang="zh-CN" sz="1200" kern="0" dirty="0">
                <a:solidFill>
                  <a:schemeClr val="bg1">
                    <a:alpha val="83000"/>
                  </a:schemeClr>
                </a:solidFill>
                <a:uFillTx/>
                <a:cs typeface="+mn-ea"/>
                <a:sym typeface="+mn-lt"/>
              </a:endParaRPr>
            </a:p>
          </p:txBody>
        </p:sp>
        <p:sp>
          <p:nvSpPr>
            <p:cNvPr id="9" name="图形"/>
            <p:cNvSpPr txBox="1"/>
            <p:nvPr/>
          </p:nvSpPr>
          <p:spPr>
            <a:xfrm>
              <a:off x="7838" y="1935"/>
              <a:ext cx="4224" cy="4168"/>
            </a:xfrm>
            <a:prstGeom prst="rect">
              <a:avLst/>
            </a:prstGeom>
            <a:noFill/>
          </p:spPr>
          <p:txBody>
            <a:bodyPr wrap="none" rtlCol="0">
              <a:spAutoFit/>
            </a:bodyPr>
            <a:lstStyle/>
            <a:p>
              <a:r>
                <a:rPr lang="zh-CN" altLang="en-US" sz="16600">
                  <a:gradFill>
                    <a:gsLst>
                      <a:gs pos="39000">
                        <a:srgbClr val="37CEFF"/>
                      </a:gs>
                      <a:gs pos="74000">
                        <a:srgbClr val="161553">
                          <a:alpha val="0"/>
                        </a:srgbClr>
                      </a:gs>
                    </a:gsLst>
                    <a:lin ang="5400000" scaled="0"/>
                  </a:gradFill>
                  <a:cs typeface="+mn-ea"/>
                  <a:sym typeface="+mn-lt"/>
                </a:rPr>
                <a:t>0</a:t>
              </a:r>
              <a:r>
                <a:rPr lang="en-US" altLang="zh-CN" sz="16600">
                  <a:gradFill>
                    <a:gsLst>
                      <a:gs pos="39000">
                        <a:srgbClr val="37CEFF"/>
                      </a:gs>
                      <a:gs pos="74000">
                        <a:srgbClr val="161553">
                          <a:alpha val="0"/>
                        </a:srgbClr>
                      </a:gs>
                    </a:gsLst>
                    <a:lin ang="5400000" scaled="0"/>
                  </a:gradFill>
                  <a:cs typeface="+mn-ea"/>
                  <a:sym typeface="+mn-lt"/>
                </a:rPr>
                <a:t>3</a:t>
              </a:r>
            </a:p>
          </p:txBody>
        </p:sp>
        <p:grpSp>
          <p:nvGrpSpPr>
            <p:cNvPr id="3" name="组合 2"/>
            <p:cNvGrpSpPr/>
            <p:nvPr/>
          </p:nvGrpSpPr>
          <p:grpSpPr>
            <a:xfrm rot="10800000">
              <a:off x="9439" y="7404"/>
              <a:ext cx="996" cy="227"/>
              <a:chOff x="9270" y="2823"/>
              <a:chExt cx="799" cy="182"/>
            </a:xfrm>
            <a:solidFill>
              <a:schemeClr val="bg1"/>
            </a:solidFill>
          </p:grpSpPr>
          <p:sp>
            <p:nvSpPr>
              <p:cNvPr id="71" name="图形"/>
              <p:cNvSpPr/>
              <p:nvPr/>
            </p:nvSpPr>
            <p:spPr>
              <a:xfrm>
                <a:off x="9270" y="2823"/>
                <a:ext cx="183" cy="183"/>
              </a:xfrm>
              <a:prstGeom prst="ellipse">
                <a:avLst/>
              </a:prstGeom>
              <a:solidFill>
                <a:srgbClr val="75BAF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lumMod val="100000"/>
                    </a:prstClr>
                  </a:solidFill>
                  <a:effectLst/>
                  <a:uLnTx/>
                  <a:uFillTx/>
                  <a:cs typeface="+mn-ea"/>
                  <a:sym typeface="+mn-lt"/>
                </a:endParaRPr>
              </a:p>
            </p:txBody>
          </p:sp>
          <p:sp>
            <p:nvSpPr>
              <p:cNvPr id="72" name="图形"/>
              <p:cNvSpPr/>
              <p:nvPr/>
            </p:nvSpPr>
            <p:spPr>
              <a:xfrm>
                <a:off x="9578" y="2823"/>
                <a:ext cx="183" cy="183"/>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lumMod val="100000"/>
                    </a:prstClr>
                  </a:solidFill>
                  <a:effectLst/>
                  <a:uLnTx/>
                  <a:uFillTx/>
                  <a:cs typeface="+mn-ea"/>
                  <a:sym typeface="+mn-lt"/>
                </a:endParaRPr>
              </a:p>
            </p:txBody>
          </p:sp>
          <p:sp>
            <p:nvSpPr>
              <p:cNvPr id="65" name="图形"/>
              <p:cNvSpPr/>
              <p:nvPr/>
            </p:nvSpPr>
            <p:spPr>
              <a:xfrm>
                <a:off x="9887" y="2823"/>
                <a:ext cx="183" cy="183"/>
              </a:xfrm>
              <a:prstGeom prst="ellipse">
                <a:avLst/>
              </a:prstGeom>
              <a:solidFill>
                <a:srgbClr val="75BA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grpSp>
      <p:grpSp>
        <p:nvGrpSpPr>
          <p:cNvPr id="36" name="图形"/>
          <p:cNvGrpSpPr/>
          <p:nvPr/>
        </p:nvGrpSpPr>
        <p:grpSpPr>
          <a:xfrm flipV="1">
            <a:off x="2750185" y="6318250"/>
            <a:ext cx="8757920" cy="76200"/>
            <a:chOff x="2151" y="9388"/>
            <a:chExt cx="15996" cy="120"/>
          </a:xfrm>
        </p:grpSpPr>
        <p:sp>
          <p:nvSpPr>
            <p:cNvPr id="17" name="图形"/>
            <p:cNvSpPr/>
            <p:nvPr/>
          </p:nvSpPr>
          <p:spPr>
            <a:xfrm flipH="1">
              <a:off x="6120"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18" name="图形"/>
            <p:cNvSpPr/>
            <p:nvPr/>
          </p:nvSpPr>
          <p:spPr>
            <a:xfrm flipH="1">
              <a:off x="7443"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19" name="图形"/>
            <p:cNvSpPr/>
            <p:nvPr/>
          </p:nvSpPr>
          <p:spPr>
            <a:xfrm flipH="1">
              <a:off x="8766"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20" name="图形"/>
            <p:cNvSpPr/>
            <p:nvPr/>
          </p:nvSpPr>
          <p:spPr>
            <a:xfrm flipH="1">
              <a:off x="10089"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21" name="图形"/>
            <p:cNvSpPr/>
            <p:nvPr/>
          </p:nvSpPr>
          <p:spPr>
            <a:xfrm flipH="1">
              <a:off x="11412"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5" name="图形"/>
            <p:cNvSpPr/>
            <p:nvPr/>
          </p:nvSpPr>
          <p:spPr>
            <a:xfrm flipH="1">
              <a:off x="12735"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8" name="图形"/>
            <p:cNvSpPr/>
            <p:nvPr/>
          </p:nvSpPr>
          <p:spPr>
            <a:xfrm flipH="1">
              <a:off x="14058"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10" name="图形"/>
            <p:cNvSpPr/>
            <p:nvPr/>
          </p:nvSpPr>
          <p:spPr>
            <a:xfrm flipH="1">
              <a:off x="15381"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15" name="图形"/>
            <p:cNvSpPr/>
            <p:nvPr/>
          </p:nvSpPr>
          <p:spPr>
            <a:xfrm flipH="1">
              <a:off x="16704"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11" name="图形"/>
            <p:cNvSpPr/>
            <p:nvPr/>
          </p:nvSpPr>
          <p:spPr>
            <a:xfrm flipH="1">
              <a:off x="18027"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27" name="图形"/>
            <p:cNvSpPr/>
            <p:nvPr/>
          </p:nvSpPr>
          <p:spPr>
            <a:xfrm flipH="1">
              <a:off x="2151"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34" name="图形"/>
            <p:cNvSpPr/>
            <p:nvPr/>
          </p:nvSpPr>
          <p:spPr>
            <a:xfrm flipH="1">
              <a:off x="3474"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35" name="图形"/>
            <p:cNvSpPr/>
            <p:nvPr/>
          </p:nvSpPr>
          <p:spPr>
            <a:xfrm flipH="1">
              <a:off x="4797"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grpSp>
      <p:grpSp>
        <p:nvGrpSpPr>
          <p:cNvPr id="33" name="图形"/>
          <p:cNvGrpSpPr/>
          <p:nvPr/>
        </p:nvGrpSpPr>
        <p:grpSpPr>
          <a:xfrm>
            <a:off x="1493520" y="1847850"/>
            <a:ext cx="9018270" cy="1553210"/>
            <a:chOff x="2352" y="2910"/>
            <a:chExt cx="14202" cy="2446"/>
          </a:xfrm>
        </p:grpSpPr>
        <p:grpSp>
          <p:nvGrpSpPr>
            <p:cNvPr id="100" name="图形"/>
            <p:cNvGrpSpPr/>
            <p:nvPr/>
          </p:nvGrpSpPr>
          <p:grpSpPr>
            <a:xfrm>
              <a:off x="14829" y="3072"/>
              <a:ext cx="163" cy="1107"/>
              <a:chOff x="9993678" y="6703078"/>
              <a:chExt cx="81180" cy="553128"/>
            </a:xfrm>
          </p:grpSpPr>
          <p:cxnSp>
            <p:nvCxnSpPr>
              <p:cNvPr id="101" name="图形"/>
              <p:cNvCxnSpPr/>
              <p:nvPr/>
            </p:nvCxnSpPr>
            <p:spPr>
              <a:xfrm>
                <a:off x="10034268" y="6784258"/>
                <a:ext cx="0" cy="471948"/>
              </a:xfrm>
              <a:prstGeom prst="line">
                <a:avLst/>
              </a:prstGeom>
              <a:ln w="15875">
                <a:gradFill>
                  <a:gsLst>
                    <a:gs pos="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02" name="图形"/>
              <p:cNvSpPr/>
              <p:nvPr/>
            </p:nvSpPr>
            <p:spPr>
              <a:xfrm>
                <a:off x="9993678" y="6703078"/>
                <a:ext cx="81180" cy="81180"/>
              </a:xfrm>
              <a:prstGeom prst="ellipse">
                <a:avLst/>
              </a:prstGeom>
              <a:solidFill>
                <a:srgbClr val="75BAF9"/>
              </a:solidFill>
              <a:ln>
                <a:noFill/>
              </a:ln>
              <a:effectLst>
                <a:glow rad="203200">
                  <a:schemeClr val="accent1">
                    <a:alpha val="28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grpSp>
          <p:nvGrpSpPr>
            <p:cNvPr id="12" name="图形"/>
            <p:cNvGrpSpPr/>
            <p:nvPr/>
          </p:nvGrpSpPr>
          <p:grpSpPr>
            <a:xfrm>
              <a:off x="4352" y="2910"/>
              <a:ext cx="163" cy="1107"/>
              <a:chOff x="9993678" y="6703078"/>
              <a:chExt cx="81180" cy="553128"/>
            </a:xfrm>
          </p:grpSpPr>
          <p:cxnSp>
            <p:nvCxnSpPr>
              <p:cNvPr id="13" name="图形"/>
              <p:cNvCxnSpPr/>
              <p:nvPr/>
            </p:nvCxnSpPr>
            <p:spPr>
              <a:xfrm>
                <a:off x="10034268" y="6784258"/>
                <a:ext cx="0" cy="471948"/>
              </a:xfrm>
              <a:prstGeom prst="line">
                <a:avLst/>
              </a:prstGeom>
              <a:ln w="15875">
                <a:gradFill>
                  <a:gsLst>
                    <a:gs pos="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4" name="图形"/>
              <p:cNvSpPr/>
              <p:nvPr/>
            </p:nvSpPr>
            <p:spPr>
              <a:xfrm>
                <a:off x="9993678" y="6703078"/>
                <a:ext cx="81180" cy="81180"/>
              </a:xfrm>
              <a:prstGeom prst="ellipse">
                <a:avLst/>
              </a:prstGeom>
              <a:solidFill>
                <a:srgbClr val="75BAF9"/>
              </a:solidFill>
              <a:ln>
                <a:noFill/>
              </a:ln>
              <a:effectLst>
                <a:glow rad="203200">
                  <a:schemeClr val="accent1">
                    <a:alpha val="28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grpSp>
          <p:nvGrpSpPr>
            <p:cNvPr id="16" name="图形"/>
            <p:cNvGrpSpPr/>
            <p:nvPr/>
          </p:nvGrpSpPr>
          <p:grpSpPr>
            <a:xfrm>
              <a:off x="2352" y="4250"/>
              <a:ext cx="163" cy="1107"/>
              <a:chOff x="9993678" y="6703078"/>
              <a:chExt cx="81180" cy="553128"/>
            </a:xfrm>
          </p:grpSpPr>
          <p:cxnSp>
            <p:nvCxnSpPr>
              <p:cNvPr id="24" name="图形"/>
              <p:cNvCxnSpPr/>
              <p:nvPr/>
            </p:nvCxnSpPr>
            <p:spPr>
              <a:xfrm>
                <a:off x="10034268" y="6784258"/>
                <a:ext cx="0" cy="471948"/>
              </a:xfrm>
              <a:prstGeom prst="line">
                <a:avLst/>
              </a:prstGeom>
              <a:ln w="15875">
                <a:gradFill>
                  <a:gsLst>
                    <a:gs pos="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8" name="图形"/>
              <p:cNvSpPr/>
              <p:nvPr/>
            </p:nvSpPr>
            <p:spPr>
              <a:xfrm>
                <a:off x="9993678" y="6703078"/>
                <a:ext cx="81180" cy="81180"/>
              </a:xfrm>
              <a:prstGeom prst="ellipse">
                <a:avLst/>
              </a:prstGeom>
              <a:solidFill>
                <a:srgbClr val="75BAF9"/>
              </a:solidFill>
              <a:ln>
                <a:noFill/>
              </a:ln>
              <a:effectLst>
                <a:glow rad="203200">
                  <a:schemeClr val="accent1">
                    <a:alpha val="28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grpSp>
          <p:nvGrpSpPr>
            <p:cNvPr id="29" name="图形"/>
            <p:cNvGrpSpPr/>
            <p:nvPr/>
          </p:nvGrpSpPr>
          <p:grpSpPr>
            <a:xfrm>
              <a:off x="16392" y="4250"/>
              <a:ext cx="163" cy="1107"/>
              <a:chOff x="9993678" y="6703078"/>
              <a:chExt cx="81180" cy="553128"/>
            </a:xfrm>
          </p:grpSpPr>
          <p:cxnSp>
            <p:nvCxnSpPr>
              <p:cNvPr id="30" name="图形"/>
              <p:cNvCxnSpPr/>
              <p:nvPr/>
            </p:nvCxnSpPr>
            <p:spPr>
              <a:xfrm>
                <a:off x="10034268" y="6784258"/>
                <a:ext cx="0" cy="471948"/>
              </a:xfrm>
              <a:prstGeom prst="line">
                <a:avLst/>
              </a:prstGeom>
              <a:ln w="15875">
                <a:gradFill>
                  <a:gsLst>
                    <a:gs pos="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31" name="图形"/>
              <p:cNvSpPr/>
              <p:nvPr/>
            </p:nvSpPr>
            <p:spPr>
              <a:xfrm>
                <a:off x="9993678" y="6703078"/>
                <a:ext cx="81180" cy="81180"/>
              </a:xfrm>
              <a:prstGeom prst="ellipse">
                <a:avLst/>
              </a:prstGeom>
              <a:solidFill>
                <a:srgbClr val="75BAF9"/>
              </a:solidFill>
              <a:ln>
                <a:noFill/>
              </a:ln>
              <a:effectLst>
                <a:glow rad="203200">
                  <a:schemeClr val="accent1">
                    <a:alpha val="28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grpSp>
      <p:grpSp>
        <p:nvGrpSpPr>
          <p:cNvPr id="45" name="图形"/>
          <p:cNvGrpSpPr/>
          <p:nvPr/>
        </p:nvGrpSpPr>
        <p:grpSpPr>
          <a:xfrm>
            <a:off x="1020445" y="692150"/>
            <a:ext cx="10289540" cy="300990"/>
            <a:chOff x="1607" y="1090"/>
            <a:chExt cx="16204" cy="474"/>
          </a:xfrm>
        </p:grpSpPr>
        <p:grpSp>
          <p:nvGrpSpPr>
            <p:cNvPr id="46" name="图形"/>
            <p:cNvGrpSpPr/>
            <p:nvPr/>
          </p:nvGrpSpPr>
          <p:grpSpPr>
            <a:xfrm>
              <a:off x="1607" y="1090"/>
              <a:ext cx="368" cy="184"/>
              <a:chOff x="7542330" y="1176595"/>
              <a:chExt cx="180020" cy="90010"/>
            </a:xfrm>
          </p:grpSpPr>
          <p:cxnSp>
            <p:nvCxnSpPr>
              <p:cNvPr id="48" name="图形"/>
              <p:cNvCxnSpPr/>
              <p:nvPr/>
            </p:nvCxnSpPr>
            <p:spPr>
              <a:xfrm>
                <a:off x="7542330" y="1176595"/>
                <a:ext cx="1800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9" name="图形"/>
              <p:cNvCxnSpPr/>
              <p:nvPr/>
            </p:nvCxnSpPr>
            <p:spPr>
              <a:xfrm>
                <a:off x="7542330" y="1221600"/>
                <a:ext cx="1800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0" name="图形"/>
              <p:cNvCxnSpPr/>
              <p:nvPr/>
            </p:nvCxnSpPr>
            <p:spPr>
              <a:xfrm>
                <a:off x="7542330" y="1266605"/>
                <a:ext cx="1800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47" name="图形"/>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188" y="1182"/>
              <a:ext cx="623" cy="382"/>
            </a:xfrm>
            <a:prstGeom prst="rect">
              <a:avLst/>
            </a:prstGeom>
          </p:spPr>
        </p:pic>
      </p:grpSp>
    </p:spTree>
    <p:custDataLst>
      <p:tags r:id="rId1"/>
    </p:custDataLst>
  </p:cSld>
  <p:clrMapOvr>
    <a:masterClrMapping/>
  </p:clrMapOvr>
  <p:transition>
    <p:split orient="ver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3" presetClass="entr" presetSubtype="16" fill="hold" nodeType="afterEffect">
                                  <p:stCondLst>
                                    <p:cond delay="0"/>
                                  </p:stCondLst>
                                  <p:childTnLst>
                                    <p:set>
                                      <p:cBhvr>
                                        <p:cTn id="6" dur="500" fill="hold">
                                          <p:stCondLst>
                                            <p:cond delay="0"/>
                                          </p:stCondLst>
                                        </p:cTn>
                                        <p:tgtEl>
                                          <p:spTgt spid="37"/>
                                        </p:tgtEl>
                                        <p:attrNameLst>
                                          <p:attrName>style.visibility</p:attrName>
                                        </p:attrNameLst>
                                      </p:cBhvr>
                                      <p:to>
                                        <p:strVal val="visible"/>
                                      </p:to>
                                    </p:set>
                                    <p:animEffect transition="in" filter="plus(in)">
                                      <p:cBhvr>
                                        <p:cTn id="7" dur="500"/>
                                        <p:tgtEl>
                                          <p:spTgt spid="37"/>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36"/>
                                        </p:tgtEl>
                                        <p:attrNameLst>
                                          <p:attrName>style.visibility</p:attrName>
                                        </p:attrNameLst>
                                      </p:cBhvr>
                                      <p:to>
                                        <p:strVal val="visible"/>
                                      </p:to>
                                    </p:set>
                                    <p:animEffect transition="in" filter="blinds(horizontal)">
                                      <p:cBhvr>
                                        <p:cTn id="11" dur="500"/>
                                        <p:tgtEl>
                                          <p:spTgt spid="36"/>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blinds(horizontal)">
                                      <p:cBhvr>
                                        <p:cTn id="15" dur="500"/>
                                        <p:tgtEl>
                                          <p:spTgt spid="33"/>
                                        </p:tgtEl>
                                      </p:cBhvr>
                                    </p:animEffect>
                                  </p:childTnLst>
                                </p:cTn>
                              </p:par>
                            </p:childTnLst>
                          </p:cTn>
                        </p:par>
                        <p:par>
                          <p:cTn id="16" fill="hold">
                            <p:stCondLst>
                              <p:cond delay="1500"/>
                            </p:stCondLst>
                            <p:childTnLst>
                              <p:par>
                                <p:cTn id="17" presetID="16" presetClass="entr" presetSubtype="21" fill="hold" nodeType="afterEffect">
                                  <p:stCondLst>
                                    <p:cond delay="0"/>
                                  </p:stCondLst>
                                  <p:childTnLst>
                                    <p:set>
                                      <p:cBhvr>
                                        <p:cTn id="18" dur="1000" fill="hold">
                                          <p:stCondLst>
                                            <p:cond delay="0"/>
                                          </p:stCondLst>
                                        </p:cTn>
                                        <p:tgtEl>
                                          <p:spTgt spid="45"/>
                                        </p:tgtEl>
                                        <p:attrNameLst>
                                          <p:attrName>style.visibility</p:attrName>
                                        </p:attrNameLst>
                                      </p:cBhvr>
                                      <p:to>
                                        <p:strVal val="visible"/>
                                      </p:to>
                                    </p:set>
                                    <p:animEffect transition="in" filter="barn(inVertical)">
                                      <p:cBhvr>
                                        <p:cTn id="19" dur="10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4516120" y="2251710"/>
            <a:ext cx="3255010" cy="3255010"/>
            <a:chOff x="3933210" y="1684101"/>
            <a:chExt cx="4408480" cy="4408481"/>
          </a:xfrm>
        </p:grpSpPr>
        <p:sp>
          <p:nvSpPr>
            <p:cNvPr id="3" name="图形"/>
            <p:cNvSpPr/>
            <p:nvPr/>
          </p:nvSpPr>
          <p:spPr>
            <a:xfrm>
              <a:off x="3933210" y="1684101"/>
              <a:ext cx="4408480" cy="4408481"/>
            </a:xfrm>
            <a:prstGeom prst="quadArrow">
              <a:avLst>
                <a:gd name="adj1" fmla="val 2000"/>
                <a:gd name="adj2" fmla="val 4000"/>
                <a:gd name="adj3" fmla="val 5000"/>
              </a:avLst>
            </a:prstGeom>
            <a:solidFill>
              <a:schemeClr val="bg2">
                <a:lumMod val="90000"/>
              </a:schemeClr>
            </a:solidFill>
            <a:ln>
              <a:noFill/>
            </a:ln>
            <a:effectLst/>
          </p:spPr>
          <p:style>
            <a:lnRef idx="0">
              <a:scrgbClr r="0" g="0" b="0"/>
            </a:lnRef>
            <a:fillRef idx="1">
              <a:scrgbClr r="0" g="0" b="0"/>
            </a:fillRef>
            <a:effectRef idx="2">
              <a:scrgbClr r="0" g="0" b="0"/>
            </a:effectRef>
            <a:fontRef idx="minor">
              <a:schemeClr val="dk1">
                <a:hueOff val="0"/>
                <a:satOff val="0"/>
                <a:lumOff val="0"/>
                <a:alphaOff val="0"/>
              </a:schemeClr>
            </a:fontRef>
          </p:style>
          <p:txBody>
            <a:bodyPr/>
            <a:lstStyle/>
            <a:p>
              <a:endParaRPr lang="zh-CN" altLang="en-US">
                <a:cs typeface="+mn-ea"/>
                <a:sym typeface="+mn-lt"/>
              </a:endParaRPr>
            </a:p>
          </p:txBody>
        </p:sp>
        <p:sp>
          <p:nvSpPr>
            <p:cNvPr id="4" name="图形"/>
            <p:cNvSpPr/>
            <p:nvPr/>
          </p:nvSpPr>
          <p:spPr>
            <a:xfrm>
              <a:off x="4219761" y="1969081"/>
              <a:ext cx="1763392" cy="1763392"/>
            </a:xfrm>
            <a:custGeom>
              <a:avLst/>
              <a:gdLst>
                <a:gd name="connsiteX0" fmla="*/ 0 w 3656647"/>
                <a:gd name="connsiteY0" fmla="*/ 0 h 3656647"/>
                <a:gd name="connsiteX1" fmla="*/ 3656647 w 3656647"/>
                <a:gd name="connsiteY1" fmla="*/ 0 h 3656647"/>
                <a:gd name="connsiteX2" fmla="*/ 3656647 w 3656647"/>
                <a:gd name="connsiteY2" fmla="*/ 3656647 h 3656647"/>
                <a:gd name="connsiteX3" fmla="*/ 0 w 3656647"/>
                <a:gd name="connsiteY3" fmla="*/ 3656647 h 3656647"/>
                <a:gd name="connsiteX4" fmla="*/ 0 w 3656647"/>
                <a:gd name="connsiteY4" fmla="*/ 0 h 365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6647" h="3656647">
                  <a:moveTo>
                    <a:pt x="0" y="0"/>
                  </a:moveTo>
                  <a:lnTo>
                    <a:pt x="3656647" y="0"/>
                  </a:lnTo>
                  <a:lnTo>
                    <a:pt x="3656647" y="3656647"/>
                  </a:lnTo>
                  <a:lnTo>
                    <a:pt x="0" y="3656647"/>
                  </a:lnTo>
                  <a:lnTo>
                    <a:pt x="0" y="0"/>
                  </a:lnTo>
                  <a:close/>
                </a:path>
              </a:pathLst>
            </a:custGeom>
            <a:gradFill>
              <a:gsLst>
                <a:gs pos="10000">
                  <a:schemeClr val="accent1"/>
                </a:gs>
                <a:gs pos="100000">
                  <a:schemeClr val="accent2"/>
                </a:gs>
              </a:gsLst>
              <a:lin ang="2700000" scaled="0"/>
            </a:gradFill>
            <a:effectLst/>
          </p:spPr>
          <p:style>
            <a:lnRef idx="0">
              <a:schemeClr val="lt1">
                <a:hueOff val="0"/>
                <a:satOff val="0"/>
                <a:lumOff val="0"/>
                <a:alphaOff val="0"/>
              </a:schemeClr>
            </a:lnRef>
            <a:fillRef idx="3">
              <a:scrgbClr r="0" g="0" b="0"/>
            </a:fillRef>
            <a:effectRef idx="2">
              <a:scrgbClr r="0" g="0" b="0"/>
            </a:effectRef>
            <a:fontRef idx="minor">
              <a:schemeClr val="lt1"/>
            </a:fontRef>
          </p:style>
          <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endParaRPr lang="en-US" sz="1200" kern="1200" dirty="0">
                <a:solidFill>
                  <a:schemeClr val="tx1">
                    <a:lumMod val="75000"/>
                    <a:lumOff val="25000"/>
                  </a:schemeClr>
                </a:solidFill>
                <a:cs typeface="+mn-ea"/>
                <a:sym typeface="+mn-lt"/>
              </a:endParaRPr>
            </a:p>
          </p:txBody>
        </p:sp>
        <p:sp>
          <p:nvSpPr>
            <p:cNvPr id="5" name="图形"/>
            <p:cNvSpPr/>
            <p:nvPr/>
          </p:nvSpPr>
          <p:spPr>
            <a:xfrm>
              <a:off x="6291747" y="1969081"/>
              <a:ext cx="1763392" cy="1763392"/>
            </a:xfrm>
            <a:custGeom>
              <a:avLst/>
              <a:gdLst>
                <a:gd name="connsiteX0" fmla="*/ 0 w 3656647"/>
                <a:gd name="connsiteY0" fmla="*/ 0 h 3656647"/>
                <a:gd name="connsiteX1" fmla="*/ 3656647 w 3656647"/>
                <a:gd name="connsiteY1" fmla="*/ 0 h 3656647"/>
                <a:gd name="connsiteX2" fmla="*/ 3656647 w 3656647"/>
                <a:gd name="connsiteY2" fmla="*/ 3656647 h 3656647"/>
                <a:gd name="connsiteX3" fmla="*/ 0 w 3656647"/>
                <a:gd name="connsiteY3" fmla="*/ 3656647 h 3656647"/>
                <a:gd name="connsiteX4" fmla="*/ 0 w 3656647"/>
                <a:gd name="connsiteY4" fmla="*/ 0 h 365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6647" h="3656647">
                  <a:moveTo>
                    <a:pt x="0" y="0"/>
                  </a:moveTo>
                  <a:lnTo>
                    <a:pt x="3656647" y="0"/>
                  </a:lnTo>
                  <a:lnTo>
                    <a:pt x="3656647" y="3656647"/>
                  </a:lnTo>
                  <a:lnTo>
                    <a:pt x="0" y="3656647"/>
                  </a:lnTo>
                  <a:lnTo>
                    <a:pt x="0" y="0"/>
                  </a:lnTo>
                  <a:close/>
                </a:path>
              </a:pathLst>
            </a:custGeom>
            <a:gradFill>
              <a:gsLst>
                <a:gs pos="10000">
                  <a:schemeClr val="accent1"/>
                </a:gs>
                <a:gs pos="100000">
                  <a:schemeClr val="accent2"/>
                </a:gs>
              </a:gsLst>
              <a:lin ang="2700000" scaled="0"/>
            </a:gradFill>
            <a:effectLst/>
          </p:spPr>
          <p:style>
            <a:lnRef idx="0">
              <a:schemeClr val="lt1">
                <a:hueOff val="0"/>
                <a:satOff val="0"/>
                <a:lumOff val="0"/>
                <a:alphaOff val="0"/>
              </a:schemeClr>
            </a:lnRef>
            <a:fillRef idx="3">
              <a:scrgbClr r="0" g="0" b="0"/>
            </a:fillRef>
            <a:effectRef idx="2">
              <a:scrgbClr r="0" g="0" b="0"/>
            </a:effectRef>
            <a:fontRef idx="minor">
              <a:schemeClr val="lt1"/>
            </a:fontRef>
          </p:style>
          <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endParaRPr lang="en-US" sz="1200" kern="1200" dirty="0">
                <a:solidFill>
                  <a:schemeClr val="tx1">
                    <a:lumMod val="75000"/>
                    <a:lumOff val="25000"/>
                  </a:schemeClr>
                </a:solidFill>
                <a:cs typeface="+mn-ea"/>
                <a:sym typeface="+mn-lt"/>
              </a:endParaRPr>
            </a:p>
          </p:txBody>
        </p:sp>
        <p:sp>
          <p:nvSpPr>
            <p:cNvPr id="6" name="图形"/>
            <p:cNvSpPr/>
            <p:nvPr/>
          </p:nvSpPr>
          <p:spPr>
            <a:xfrm>
              <a:off x="4219761" y="4041067"/>
              <a:ext cx="1763392" cy="1763392"/>
            </a:xfrm>
            <a:custGeom>
              <a:avLst/>
              <a:gdLst>
                <a:gd name="connsiteX0" fmla="*/ 0 w 3656647"/>
                <a:gd name="connsiteY0" fmla="*/ 0 h 3656647"/>
                <a:gd name="connsiteX1" fmla="*/ 3656647 w 3656647"/>
                <a:gd name="connsiteY1" fmla="*/ 0 h 3656647"/>
                <a:gd name="connsiteX2" fmla="*/ 3656647 w 3656647"/>
                <a:gd name="connsiteY2" fmla="*/ 3656647 h 3656647"/>
                <a:gd name="connsiteX3" fmla="*/ 0 w 3656647"/>
                <a:gd name="connsiteY3" fmla="*/ 3656647 h 3656647"/>
                <a:gd name="connsiteX4" fmla="*/ 0 w 3656647"/>
                <a:gd name="connsiteY4" fmla="*/ 0 h 365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6647" h="3656647">
                  <a:moveTo>
                    <a:pt x="0" y="0"/>
                  </a:moveTo>
                  <a:lnTo>
                    <a:pt x="3656647" y="0"/>
                  </a:lnTo>
                  <a:lnTo>
                    <a:pt x="3656647" y="3656647"/>
                  </a:lnTo>
                  <a:lnTo>
                    <a:pt x="0" y="3656647"/>
                  </a:lnTo>
                  <a:lnTo>
                    <a:pt x="0" y="0"/>
                  </a:lnTo>
                  <a:close/>
                </a:path>
              </a:pathLst>
            </a:custGeom>
            <a:gradFill>
              <a:gsLst>
                <a:gs pos="10000">
                  <a:schemeClr val="accent1"/>
                </a:gs>
                <a:gs pos="100000">
                  <a:schemeClr val="accent2"/>
                </a:gs>
              </a:gsLst>
              <a:lin ang="2700000" scaled="0"/>
            </a:gradFill>
            <a:effectLst/>
          </p:spPr>
          <p:style>
            <a:lnRef idx="0">
              <a:schemeClr val="lt1">
                <a:hueOff val="0"/>
                <a:satOff val="0"/>
                <a:lumOff val="0"/>
                <a:alphaOff val="0"/>
              </a:schemeClr>
            </a:lnRef>
            <a:fillRef idx="3">
              <a:scrgbClr r="0" g="0" b="0"/>
            </a:fillRef>
            <a:effectRef idx="2">
              <a:scrgbClr r="0" g="0" b="0"/>
            </a:effectRef>
            <a:fontRef idx="minor">
              <a:schemeClr val="lt1"/>
            </a:fontRef>
          </p:style>
          <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endParaRPr lang="en-US" sz="1200" kern="1200" dirty="0">
                <a:solidFill>
                  <a:schemeClr val="tx1">
                    <a:lumMod val="75000"/>
                    <a:lumOff val="25000"/>
                  </a:schemeClr>
                </a:solidFill>
                <a:cs typeface="+mn-ea"/>
                <a:sym typeface="+mn-lt"/>
              </a:endParaRPr>
            </a:p>
          </p:txBody>
        </p:sp>
        <p:sp>
          <p:nvSpPr>
            <p:cNvPr id="42" name="图形"/>
            <p:cNvSpPr/>
            <p:nvPr/>
          </p:nvSpPr>
          <p:spPr>
            <a:xfrm>
              <a:off x="6291747" y="4041067"/>
              <a:ext cx="1763392" cy="1763392"/>
            </a:xfrm>
            <a:custGeom>
              <a:avLst/>
              <a:gdLst>
                <a:gd name="connsiteX0" fmla="*/ 0 w 3656647"/>
                <a:gd name="connsiteY0" fmla="*/ 0 h 3656647"/>
                <a:gd name="connsiteX1" fmla="*/ 3656647 w 3656647"/>
                <a:gd name="connsiteY1" fmla="*/ 0 h 3656647"/>
                <a:gd name="connsiteX2" fmla="*/ 3656647 w 3656647"/>
                <a:gd name="connsiteY2" fmla="*/ 3656647 h 3656647"/>
                <a:gd name="connsiteX3" fmla="*/ 0 w 3656647"/>
                <a:gd name="connsiteY3" fmla="*/ 3656647 h 3656647"/>
                <a:gd name="connsiteX4" fmla="*/ 0 w 3656647"/>
                <a:gd name="connsiteY4" fmla="*/ 0 h 365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6647" h="3656647">
                  <a:moveTo>
                    <a:pt x="0" y="0"/>
                  </a:moveTo>
                  <a:lnTo>
                    <a:pt x="3656647" y="0"/>
                  </a:lnTo>
                  <a:lnTo>
                    <a:pt x="3656647" y="3656647"/>
                  </a:lnTo>
                  <a:lnTo>
                    <a:pt x="0" y="3656647"/>
                  </a:lnTo>
                  <a:lnTo>
                    <a:pt x="0" y="0"/>
                  </a:lnTo>
                  <a:close/>
                </a:path>
              </a:pathLst>
            </a:custGeom>
            <a:gradFill>
              <a:gsLst>
                <a:gs pos="10000">
                  <a:schemeClr val="accent1"/>
                </a:gs>
                <a:gs pos="100000">
                  <a:schemeClr val="accent2"/>
                </a:gs>
              </a:gsLst>
              <a:lin ang="2700000" scaled="0"/>
            </a:gradFill>
            <a:effectLst/>
          </p:spPr>
          <p:style>
            <a:lnRef idx="0">
              <a:schemeClr val="lt1">
                <a:hueOff val="0"/>
                <a:satOff val="0"/>
                <a:lumOff val="0"/>
                <a:alphaOff val="0"/>
              </a:schemeClr>
            </a:lnRef>
            <a:fillRef idx="3">
              <a:scrgbClr r="0" g="0" b="0"/>
            </a:fillRef>
            <a:effectRef idx="2">
              <a:scrgbClr r="0" g="0" b="0"/>
            </a:effectRef>
            <a:fontRef idx="minor">
              <a:schemeClr val="lt1"/>
            </a:fontRef>
          </p:style>
          <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endParaRPr lang="en-US" sz="1200" kern="1200" dirty="0">
                <a:solidFill>
                  <a:schemeClr val="tx1">
                    <a:lumMod val="75000"/>
                    <a:lumOff val="25000"/>
                  </a:schemeClr>
                </a:solidFill>
                <a:cs typeface="+mn-ea"/>
                <a:sym typeface="+mn-lt"/>
              </a:endParaRPr>
            </a:p>
          </p:txBody>
        </p:sp>
        <p:sp>
          <p:nvSpPr>
            <p:cNvPr id="43" name="图形"/>
            <p:cNvSpPr>
              <a:spLocks noChangeArrowheads="1"/>
            </p:cNvSpPr>
            <p:nvPr/>
          </p:nvSpPr>
          <p:spPr bwMode="auto">
            <a:xfrm>
              <a:off x="4764801" y="2384476"/>
              <a:ext cx="717357" cy="834138"/>
            </a:xfrm>
            <a:custGeom>
              <a:avLst/>
              <a:gdLst>
                <a:gd name="T0" fmla="*/ 434 w 453"/>
                <a:gd name="T1" fmla="*/ 186 h 533"/>
                <a:gd name="T2" fmla="*/ 434 w 453"/>
                <a:gd name="T3" fmla="*/ 186 h 533"/>
                <a:gd name="T4" fmla="*/ 44 w 453"/>
                <a:gd name="T5" fmla="*/ 160 h 533"/>
                <a:gd name="T6" fmla="*/ 0 w 453"/>
                <a:gd name="T7" fmla="*/ 178 h 533"/>
                <a:gd name="T8" fmla="*/ 88 w 453"/>
                <a:gd name="T9" fmla="*/ 532 h 533"/>
                <a:gd name="T10" fmla="*/ 141 w 453"/>
                <a:gd name="T11" fmla="*/ 532 h 533"/>
                <a:gd name="T12" fmla="*/ 97 w 453"/>
                <a:gd name="T13" fmla="*/ 355 h 533"/>
                <a:gd name="T14" fmla="*/ 443 w 453"/>
                <a:gd name="T15" fmla="*/ 195 h 533"/>
                <a:gd name="T16" fmla="*/ 434 w 453"/>
                <a:gd name="T17" fmla="*/ 186 h 5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3" h="533">
                  <a:moveTo>
                    <a:pt x="434" y="186"/>
                  </a:moveTo>
                  <a:lnTo>
                    <a:pt x="434" y="186"/>
                  </a:lnTo>
                  <a:cubicBezTo>
                    <a:pt x="151" y="301"/>
                    <a:pt x="266" y="0"/>
                    <a:pt x="44" y="160"/>
                  </a:cubicBezTo>
                  <a:cubicBezTo>
                    <a:pt x="0" y="178"/>
                    <a:pt x="0" y="178"/>
                    <a:pt x="0" y="178"/>
                  </a:cubicBezTo>
                  <a:cubicBezTo>
                    <a:pt x="88" y="532"/>
                    <a:pt x="88" y="532"/>
                    <a:pt x="88" y="532"/>
                  </a:cubicBezTo>
                  <a:cubicBezTo>
                    <a:pt x="141" y="532"/>
                    <a:pt x="141" y="532"/>
                    <a:pt x="141" y="532"/>
                  </a:cubicBezTo>
                  <a:cubicBezTo>
                    <a:pt x="97" y="355"/>
                    <a:pt x="97" y="355"/>
                    <a:pt x="97" y="355"/>
                  </a:cubicBezTo>
                  <a:cubicBezTo>
                    <a:pt x="293" y="195"/>
                    <a:pt x="213" y="532"/>
                    <a:pt x="443" y="195"/>
                  </a:cubicBezTo>
                  <a:cubicBezTo>
                    <a:pt x="452" y="195"/>
                    <a:pt x="443" y="186"/>
                    <a:pt x="434" y="186"/>
                  </a:cubicBezTo>
                </a:path>
              </a:pathLst>
            </a:custGeom>
            <a:solidFill>
              <a:schemeClr val="bg1"/>
            </a:solidFill>
            <a:ln>
              <a:noFill/>
            </a:ln>
            <a:effectLst/>
          </p:spPr>
          <p:txBody>
            <a:bodyPr wrap="none" lIns="34290" tIns="17145" rIns="34290" bIns="17145" anchor="ctr"/>
            <a:lstStyle/>
            <a:p>
              <a:pPr fontAlgn="auto">
                <a:spcBef>
                  <a:spcPts val="0"/>
                </a:spcBef>
                <a:spcAft>
                  <a:spcPts val="0"/>
                </a:spcAft>
                <a:defRPr/>
              </a:pPr>
              <a:endParaRPr lang="en-US" dirty="0">
                <a:solidFill>
                  <a:schemeClr val="tx1">
                    <a:lumMod val="75000"/>
                    <a:lumOff val="25000"/>
                  </a:schemeClr>
                </a:solidFill>
                <a:cs typeface="+mn-ea"/>
                <a:sym typeface="+mn-lt"/>
              </a:endParaRPr>
            </a:p>
          </p:txBody>
        </p:sp>
        <p:sp>
          <p:nvSpPr>
            <p:cNvPr id="44" name="图形"/>
            <p:cNvSpPr>
              <a:spLocks noChangeArrowheads="1"/>
            </p:cNvSpPr>
            <p:nvPr/>
          </p:nvSpPr>
          <p:spPr bwMode="auto">
            <a:xfrm>
              <a:off x="6803300" y="2487547"/>
              <a:ext cx="844977" cy="748223"/>
            </a:xfrm>
            <a:custGeom>
              <a:avLst/>
              <a:gdLst>
                <a:gd name="T0" fmla="*/ 451 w 461"/>
                <a:gd name="T1" fmla="*/ 213 h 409"/>
                <a:gd name="T2" fmla="*/ 451 w 461"/>
                <a:gd name="T3" fmla="*/ 213 h 409"/>
                <a:gd name="T4" fmla="*/ 247 w 461"/>
                <a:gd name="T5" fmla="*/ 17 h 409"/>
                <a:gd name="T6" fmla="*/ 212 w 461"/>
                <a:gd name="T7" fmla="*/ 17 h 409"/>
                <a:gd name="T8" fmla="*/ 9 w 461"/>
                <a:gd name="T9" fmla="*/ 213 h 409"/>
                <a:gd name="T10" fmla="*/ 18 w 461"/>
                <a:gd name="T11" fmla="*/ 230 h 409"/>
                <a:gd name="T12" fmla="*/ 62 w 461"/>
                <a:gd name="T13" fmla="*/ 230 h 409"/>
                <a:gd name="T14" fmla="*/ 62 w 461"/>
                <a:gd name="T15" fmla="*/ 390 h 409"/>
                <a:gd name="T16" fmla="*/ 79 w 461"/>
                <a:gd name="T17" fmla="*/ 408 h 409"/>
                <a:gd name="T18" fmla="*/ 177 w 461"/>
                <a:gd name="T19" fmla="*/ 408 h 409"/>
                <a:gd name="T20" fmla="*/ 177 w 461"/>
                <a:gd name="T21" fmla="*/ 248 h 409"/>
                <a:gd name="T22" fmla="*/ 283 w 461"/>
                <a:gd name="T23" fmla="*/ 248 h 409"/>
                <a:gd name="T24" fmla="*/ 283 w 461"/>
                <a:gd name="T25" fmla="*/ 408 h 409"/>
                <a:gd name="T26" fmla="*/ 381 w 461"/>
                <a:gd name="T27" fmla="*/ 408 h 409"/>
                <a:gd name="T28" fmla="*/ 398 w 461"/>
                <a:gd name="T29" fmla="*/ 390 h 409"/>
                <a:gd name="T30" fmla="*/ 398 w 461"/>
                <a:gd name="T31" fmla="*/ 230 h 409"/>
                <a:gd name="T32" fmla="*/ 443 w 461"/>
                <a:gd name="T33" fmla="*/ 230 h 409"/>
                <a:gd name="T34" fmla="*/ 451 w 461"/>
                <a:gd name="T35" fmla="*/ 213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61" h="409">
                  <a:moveTo>
                    <a:pt x="451" y="213"/>
                  </a:moveTo>
                  <a:lnTo>
                    <a:pt x="451" y="213"/>
                  </a:lnTo>
                  <a:cubicBezTo>
                    <a:pt x="247" y="17"/>
                    <a:pt x="247" y="17"/>
                    <a:pt x="247" y="17"/>
                  </a:cubicBezTo>
                  <a:cubicBezTo>
                    <a:pt x="238" y="0"/>
                    <a:pt x="221" y="0"/>
                    <a:pt x="212" y="17"/>
                  </a:cubicBezTo>
                  <a:cubicBezTo>
                    <a:pt x="9" y="213"/>
                    <a:pt x="9" y="213"/>
                    <a:pt x="9" y="213"/>
                  </a:cubicBezTo>
                  <a:cubicBezTo>
                    <a:pt x="0" y="221"/>
                    <a:pt x="9" y="230"/>
                    <a:pt x="18" y="230"/>
                  </a:cubicBezTo>
                  <a:cubicBezTo>
                    <a:pt x="62" y="230"/>
                    <a:pt x="62" y="230"/>
                    <a:pt x="62" y="230"/>
                  </a:cubicBezTo>
                  <a:cubicBezTo>
                    <a:pt x="62" y="390"/>
                    <a:pt x="62" y="390"/>
                    <a:pt x="62" y="390"/>
                  </a:cubicBezTo>
                  <a:cubicBezTo>
                    <a:pt x="62" y="399"/>
                    <a:pt x="62" y="408"/>
                    <a:pt x="79" y="408"/>
                  </a:cubicBezTo>
                  <a:cubicBezTo>
                    <a:pt x="177" y="408"/>
                    <a:pt x="177" y="408"/>
                    <a:pt x="177" y="408"/>
                  </a:cubicBezTo>
                  <a:cubicBezTo>
                    <a:pt x="177" y="248"/>
                    <a:pt x="177" y="248"/>
                    <a:pt x="177" y="248"/>
                  </a:cubicBezTo>
                  <a:cubicBezTo>
                    <a:pt x="283" y="248"/>
                    <a:pt x="283" y="248"/>
                    <a:pt x="283" y="248"/>
                  </a:cubicBezTo>
                  <a:cubicBezTo>
                    <a:pt x="283" y="408"/>
                    <a:pt x="283" y="408"/>
                    <a:pt x="283" y="408"/>
                  </a:cubicBezTo>
                  <a:cubicBezTo>
                    <a:pt x="381" y="408"/>
                    <a:pt x="381" y="408"/>
                    <a:pt x="381" y="408"/>
                  </a:cubicBezTo>
                  <a:cubicBezTo>
                    <a:pt x="398" y="408"/>
                    <a:pt x="398" y="399"/>
                    <a:pt x="398" y="390"/>
                  </a:cubicBezTo>
                  <a:cubicBezTo>
                    <a:pt x="398" y="230"/>
                    <a:pt x="398" y="230"/>
                    <a:pt x="398" y="230"/>
                  </a:cubicBezTo>
                  <a:cubicBezTo>
                    <a:pt x="443" y="230"/>
                    <a:pt x="443" y="230"/>
                    <a:pt x="443" y="230"/>
                  </a:cubicBezTo>
                  <a:cubicBezTo>
                    <a:pt x="451" y="230"/>
                    <a:pt x="460" y="221"/>
                    <a:pt x="451" y="213"/>
                  </a:cubicBezTo>
                </a:path>
              </a:pathLst>
            </a:custGeom>
            <a:solidFill>
              <a:schemeClr val="bg1"/>
            </a:solidFill>
            <a:ln>
              <a:noFill/>
            </a:ln>
            <a:effectLst/>
          </p:spPr>
          <p:txBody>
            <a:bodyPr wrap="none" lIns="34290" tIns="17145" rIns="34290" bIns="17145" anchor="ctr"/>
            <a:lstStyle/>
            <a:p>
              <a:pPr fontAlgn="auto">
                <a:spcBef>
                  <a:spcPts val="0"/>
                </a:spcBef>
                <a:spcAft>
                  <a:spcPts val="0"/>
                </a:spcAft>
                <a:defRPr/>
              </a:pPr>
              <a:endParaRPr lang="en-US" dirty="0">
                <a:solidFill>
                  <a:schemeClr val="tx1">
                    <a:lumMod val="75000"/>
                    <a:lumOff val="25000"/>
                  </a:schemeClr>
                </a:solidFill>
                <a:cs typeface="+mn-ea"/>
                <a:sym typeface="+mn-lt"/>
              </a:endParaRPr>
            </a:p>
          </p:txBody>
        </p:sp>
        <p:sp>
          <p:nvSpPr>
            <p:cNvPr id="45" name="图形"/>
            <p:cNvSpPr>
              <a:spLocks noChangeArrowheads="1"/>
            </p:cNvSpPr>
            <p:nvPr/>
          </p:nvSpPr>
          <p:spPr bwMode="auto">
            <a:xfrm>
              <a:off x="4725708" y="4489921"/>
              <a:ext cx="717357" cy="740124"/>
            </a:xfrm>
            <a:custGeom>
              <a:avLst/>
              <a:gdLst>
                <a:gd name="T0" fmla="*/ 400 w 445"/>
                <a:gd name="T1" fmla="*/ 159 h 462"/>
                <a:gd name="T2" fmla="*/ 400 w 445"/>
                <a:gd name="T3" fmla="*/ 159 h 462"/>
                <a:gd name="T4" fmla="*/ 266 w 445"/>
                <a:gd name="T5" fmla="*/ 8 h 462"/>
                <a:gd name="T6" fmla="*/ 36 w 445"/>
                <a:gd name="T7" fmla="*/ 248 h 462"/>
                <a:gd name="T8" fmla="*/ 9 w 445"/>
                <a:gd name="T9" fmla="*/ 319 h 462"/>
                <a:gd name="T10" fmla="*/ 81 w 445"/>
                <a:gd name="T11" fmla="*/ 355 h 462"/>
                <a:gd name="T12" fmla="*/ 98 w 445"/>
                <a:gd name="T13" fmla="*/ 346 h 462"/>
                <a:gd name="T14" fmla="*/ 134 w 445"/>
                <a:gd name="T15" fmla="*/ 372 h 462"/>
                <a:gd name="T16" fmla="*/ 160 w 445"/>
                <a:gd name="T17" fmla="*/ 434 h 462"/>
                <a:gd name="T18" fmla="*/ 187 w 445"/>
                <a:gd name="T19" fmla="*/ 452 h 462"/>
                <a:gd name="T20" fmla="*/ 240 w 445"/>
                <a:gd name="T21" fmla="*/ 434 h 462"/>
                <a:gd name="T22" fmla="*/ 249 w 445"/>
                <a:gd name="T23" fmla="*/ 416 h 462"/>
                <a:gd name="T24" fmla="*/ 231 w 445"/>
                <a:gd name="T25" fmla="*/ 390 h 462"/>
                <a:gd name="T26" fmla="*/ 204 w 445"/>
                <a:gd name="T27" fmla="*/ 337 h 462"/>
                <a:gd name="T28" fmla="*/ 231 w 445"/>
                <a:gd name="T29" fmla="*/ 310 h 462"/>
                <a:gd name="T30" fmla="*/ 417 w 445"/>
                <a:gd name="T31" fmla="*/ 355 h 462"/>
                <a:gd name="T32" fmla="*/ 400 w 445"/>
                <a:gd name="T33" fmla="*/ 159 h 462"/>
                <a:gd name="T34" fmla="*/ 390 w 445"/>
                <a:gd name="T35" fmla="*/ 310 h 462"/>
                <a:gd name="T36" fmla="*/ 390 w 445"/>
                <a:gd name="T37" fmla="*/ 310 h 462"/>
                <a:gd name="T38" fmla="*/ 302 w 445"/>
                <a:gd name="T39" fmla="*/ 204 h 462"/>
                <a:gd name="T40" fmla="*/ 284 w 445"/>
                <a:gd name="T41" fmla="*/ 62 h 462"/>
                <a:gd name="T42" fmla="*/ 364 w 445"/>
                <a:gd name="T43" fmla="*/ 177 h 462"/>
                <a:gd name="T44" fmla="*/ 390 w 445"/>
                <a:gd name="T45" fmla="*/ 310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45" h="462">
                  <a:moveTo>
                    <a:pt x="400" y="159"/>
                  </a:moveTo>
                  <a:lnTo>
                    <a:pt x="400" y="159"/>
                  </a:lnTo>
                  <a:cubicBezTo>
                    <a:pt x="364" y="71"/>
                    <a:pt x="302" y="0"/>
                    <a:pt x="266" y="8"/>
                  </a:cubicBezTo>
                  <a:cubicBezTo>
                    <a:pt x="213" y="36"/>
                    <a:pt x="302" y="142"/>
                    <a:pt x="36" y="248"/>
                  </a:cubicBezTo>
                  <a:cubicBezTo>
                    <a:pt x="9" y="257"/>
                    <a:pt x="0" y="292"/>
                    <a:pt x="9" y="319"/>
                  </a:cubicBezTo>
                  <a:cubicBezTo>
                    <a:pt x="18" y="337"/>
                    <a:pt x="53" y="363"/>
                    <a:pt x="81" y="355"/>
                  </a:cubicBezTo>
                  <a:lnTo>
                    <a:pt x="98" y="346"/>
                  </a:lnTo>
                  <a:cubicBezTo>
                    <a:pt x="116" y="372"/>
                    <a:pt x="134" y="355"/>
                    <a:pt x="134" y="372"/>
                  </a:cubicBezTo>
                  <a:cubicBezTo>
                    <a:pt x="143" y="390"/>
                    <a:pt x="160" y="425"/>
                    <a:pt x="160" y="434"/>
                  </a:cubicBezTo>
                  <a:cubicBezTo>
                    <a:pt x="169" y="443"/>
                    <a:pt x="178" y="461"/>
                    <a:pt x="187" y="452"/>
                  </a:cubicBezTo>
                  <a:cubicBezTo>
                    <a:pt x="196" y="452"/>
                    <a:pt x="231" y="443"/>
                    <a:pt x="240" y="434"/>
                  </a:cubicBezTo>
                  <a:cubicBezTo>
                    <a:pt x="257" y="434"/>
                    <a:pt x="257" y="425"/>
                    <a:pt x="249" y="416"/>
                  </a:cubicBezTo>
                  <a:cubicBezTo>
                    <a:pt x="249" y="408"/>
                    <a:pt x="231" y="399"/>
                    <a:pt x="231" y="390"/>
                  </a:cubicBezTo>
                  <a:cubicBezTo>
                    <a:pt x="222" y="381"/>
                    <a:pt x="213" y="346"/>
                    <a:pt x="204" y="337"/>
                  </a:cubicBezTo>
                  <a:cubicBezTo>
                    <a:pt x="196" y="328"/>
                    <a:pt x="213" y="310"/>
                    <a:pt x="231" y="310"/>
                  </a:cubicBezTo>
                  <a:cubicBezTo>
                    <a:pt x="355" y="302"/>
                    <a:pt x="373" y="372"/>
                    <a:pt x="417" y="355"/>
                  </a:cubicBezTo>
                  <a:cubicBezTo>
                    <a:pt x="444" y="346"/>
                    <a:pt x="444" y="248"/>
                    <a:pt x="400" y="159"/>
                  </a:cubicBezTo>
                  <a:close/>
                  <a:moveTo>
                    <a:pt x="390" y="310"/>
                  </a:moveTo>
                  <a:lnTo>
                    <a:pt x="390" y="310"/>
                  </a:lnTo>
                  <a:cubicBezTo>
                    <a:pt x="381" y="310"/>
                    <a:pt x="328" y="275"/>
                    <a:pt x="302" y="204"/>
                  </a:cubicBezTo>
                  <a:cubicBezTo>
                    <a:pt x="275" y="133"/>
                    <a:pt x="275" y="62"/>
                    <a:pt x="284" y="62"/>
                  </a:cubicBezTo>
                  <a:cubicBezTo>
                    <a:pt x="293" y="62"/>
                    <a:pt x="337" y="106"/>
                    <a:pt x="364" y="177"/>
                  </a:cubicBezTo>
                  <a:cubicBezTo>
                    <a:pt x="400" y="248"/>
                    <a:pt x="390" y="302"/>
                    <a:pt x="390" y="310"/>
                  </a:cubicBezTo>
                  <a:close/>
                </a:path>
              </a:pathLst>
            </a:custGeom>
            <a:solidFill>
              <a:schemeClr val="bg1"/>
            </a:solidFill>
            <a:ln>
              <a:noFill/>
            </a:ln>
            <a:effectLst/>
          </p:spPr>
          <p:txBody>
            <a:bodyPr wrap="none" lIns="34290" tIns="17145" rIns="34290" bIns="17145" anchor="ctr"/>
            <a:lstStyle/>
            <a:p>
              <a:pPr fontAlgn="auto">
                <a:spcBef>
                  <a:spcPts val="0"/>
                </a:spcBef>
                <a:spcAft>
                  <a:spcPts val="0"/>
                </a:spcAft>
                <a:defRPr/>
              </a:pPr>
              <a:endParaRPr lang="en-US" dirty="0">
                <a:solidFill>
                  <a:schemeClr val="tx1">
                    <a:lumMod val="75000"/>
                    <a:lumOff val="25000"/>
                  </a:schemeClr>
                </a:solidFill>
                <a:cs typeface="+mn-ea"/>
                <a:sym typeface="+mn-lt"/>
              </a:endParaRPr>
            </a:p>
          </p:txBody>
        </p:sp>
        <p:sp>
          <p:nvSpPr>
            <p:cNvPr id="46" name="图形"/>
            <p:cNvSpPr>
              <a:spLocks noChangeArrowheads="1"/>
            </p:cNvSpPr>
            <p:nvPr/>
          </p:nvSpPr>
          <p:spPr bwMode="auto">
            <a:xfrm>
              <a:off x="6642246" y="4489921"/>
              <a:ext cx="1016156" cy="778332"/>
            </a:xfrm>
            <a:custGeom>
              <a:avLst/>
              <a:gdLst>
                <a:gd name="T0" fmla="*/ 80 w 497"/>
                <a:gd name="T1" fmla="*/ 248 h 382"/>
                <a:gd name="T2" fmla="*/ 80 w 497"/>
                <a:gd name="T3" fmla="*/ 248 h 382"/>
                <a:gd name="T4" fmla="*/ 159 w 497"/>
                <a:gd name="T5" fmla="*/ 328 h 382"/>
                <a:gd name="T6" fmla="*/ 248 w 497"/>
                <a:gd name="T7" fmla="*/ 381 h 382"/>
                <a:gd name="T8" fmla="*/ 337 w 497"/>
                <a:gd name="T9" fmla="*/ 337 h 382"/>
                <a:gd name="T10" fmla="*/ 390 w 497"/>
                <a:gd name="T11" fmla="*/ 258 h 382"/>
                <a:gd name="T12" fmla="*/ 248 w 497"/>
                <a:gd name="T13" fmla="*/ 328 h 382"/>
                <a:gd name="T14" fmla="*/ 80 w 497"/>
                <a:gd name="T15" fmla="*/ 248 h 382"/>
                <a:gd name="T16" fmla="*/ 487 w 497"/>
                <a:gd name="T17" fmla="*/ 124 h 382"/>
                <a:gd name="T18" fmla="*/ 487 w 497"/>
                <a:gd name="T19" fmla="*/ 124 h 382"/>
                <a:gd name="T20" fmla="*/ 274 w 497"/>
                <a:gd name="T21" fmla="*/ 9 h 382"/>
                <a:gd name="T22" fmla="*/ 221 w 497"/>
                <a:gd name="T23" fmla="*/ 9 h 382"/>
                <a:gd name="T24" fmla="*/ 9 w 497"/>
                <a:gd name="T25" fmla="*/ 124 h 382"/>
                <a:gd name="T26" fmla="*/ 9 w 497"/>
                <a:gd name="T27" fmla="*/ 160 h 382"/>
                <a:gd name="T28" fmla="*/ 221 w 497"/>
                <a:gd name="T29" fmla="*/ 275 h 382"/>
                <a:gd name="T30" fmla="*/ 274 w 497"/>
                <a:gd name="T31" fmla="*/ 275 h 382"/>
                <a:gd name="T32" fmla="*/ 408 w 497"/>
                <a:gd name="T33" fmla="*/ 195 h 382"/>
                <a:gd name="T34" fmla="*/ 266 w 497"/>
                <a:gd name="T35" fmla="*/ 160 h 382"/>
                <a:gd name="T36" fmla="*/ 248 w 497"/>
                <a:gd name="T37" fmla="*/ 168 h 382"/>
                <a:gd name="T38" fmla="*/ 203 w 497"/>
                <a:gd name="T39" fmla="*/ 133 h 382"/>
                <a:gd name="T40" fmla="*/ 248 w 497"/>
                <a:gd name="T41" fmla="*/ 107 h 382"/>
                <a:gd name="T42" fmla="*/ 293 w 497"/>
                <a:gd name="T43" fmla="*/ 124 h 382"/>
                <a:gd name="T44" fmla="*/ 443 w 497"/>
                <a:gd name="T45" fmla="*/ 177 h 382"/>
                <a:gd name="T46" fmla="*/ 487 w 497"/>
                <a:gd name="T47" fmla="*/ 160 h 382"/>
                <a:gd name="T48" fmla="*/ 487 w 497"/>
                <a:gd name="T49" fmla="*/ 124 h 382"/>
                <a:gd name="T50" fmla="*/ 425 w 497"/>
                <a:gd name="T51" fmla="*/ 346 h 382"/>
                <a:gd name="T52" fmla="*/ 425 w 497"/>
                <a:gd name="T53" fmla="*/ 346 h 382"/>
                <a:gd name="T54" fmla="*/ 461 w 497"/>
                <a:gd name="T55" fmla="*/ 337 h 382"/>
                <a:gd name="T56" fmla="*/ 443 w 497"/>
                <a:gd name="T57" fmla="*/ 177 h 382"/>
                <a:gd name="T58" fmla="*/ 408 w 497"/>
                <a:gd name="T59" fmla="*/ 195 h 382"/>
                <a:gd name="T60" fmla="*/ 425 w 497"/>
                <a:gd name="T61" fmla="*/ 346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97" h="382">
                  <a:moveTo>
                    <a:pt x="80" y="248"/>
                  </a:moveTo>
                  <a:lnTo>
                    <a:pt x="80" y="248"/>
                  </a:lnTo>
                  <a:cubicBezTo>
                    <a:pt x="97" y="293"/>
                    <a:pt x="106" y="311"/>
                    <a:pt x="159" y="328"/>
                  </a:cubicBezTo>
                  <a:cubicBezTo>
                    <a:pt x="203" y="355"/>
                    <a:pt x="230" y="381"/>
                    <a:pt x="248" y="381"/>
                  </a:cubicBezTo>
                  <a:cubicBezTo>
                    <a:pt x="266" y="381"/>
                    <a:pt x="293" y="355"/>
                    <a:pt x="337" y="337"/>
                  </a:cubicBezTo>
                  <a:cubicBezTo>
                    <a:pt x="390" y="311"/>
                    <a:pt x="372" y="311"/>
                    <a:pt x="390" y="258"/>
                  </a:cubicBezTo>
                  <a:cubicBezTo>
                    <a:pt x="248" y="328"/>
                    <a:pt x="248" y="328"/>
                    <a:pt x="248" y="328"/>
                  </a:cubicBezTo>
                  <a:lnTo>
                    <a:pt x="80" y="248"/>
                  </a:lnTo>
                  <a:close/>
                  <a:moveTo>
                    <a:pt x="487" y="124"/>
                  </a:moveTo>
                  <a:lnTo>
                    <a:pt x="487" y="124"/>
                  </a:lnTo>
                  <a:cubicBezTo>
                    <a:pt x="274" y="9"/>
                    <a:pt x="274" y="9"/>
                    <a:pt x="274" y="9"/>
                  </a:cubicBezTo>
                  <a:cubicBezTo>
                    <a:pt x="266" y="0"/>
                    <a:pt x="239" y="0"/>
                    <a:pt x="221" y="9"/>
                  </a:cubicBezTo>
                  <a:cubicBezTo>
                    <a:pt x="9" y="124"/>
                    <a:pt x="9" y="124"/>
                    <a:pt x="9" y="124"/>
                  </a:cubicBezTo>
                  <a:cubicBezTo>
                    <a:pt x="0" y="133"/>
                    <a:pt x="0" y="142"/>
                    <a:pt x="9" y="160"/>
                  </a:cubicBezTo>
                  <a:cubicBezTo>
                    <a:pt x="221" y="275"/>
                    <a:pt x="221" y="275"/>
                    <a:pt x="221" y="275"/>
                  </a:cubicBezTo>
                  <a:cubicBezTo>
                    <a:pt x="239" y="284"/>
                    <a:pt x="266" y="284"/>
                    <a:pt x="274" y="275"/>
                  </a:cubicBezTo>
                  <a:cubicBezTo>
                    <a:pt x="408" y="195"/>
                    <a:pt x="408" y="195"/>
                    <a:pt x="408" y="195"/>
                  </a:cubicBezTo>
                  <a:cubicBezTo>
                    <a:pt x="266" y="160"/>
                    <a:pt x="266" y="160"/>
                    <a:pt x="266" y="160"/>
                  </a:cubicBezTo>
                  <a:cubicBezTo>
                    <a:pt x="257" y="160"/>
                    <a:pt x="257" y="168"/>
                    <a:pt x="248" y="168"/>
                  </a:cubicBezTo>
                  <a:cubicBezTo>
                    <a:pt x="221" y="168"/>
                    <a:pt x="203" y="151"/>
                    <a:pt x="203" y="133"/>
                  </a:cubicBezTo>
                  <a:cubicBezTo>
                    <a:pt x="203" y="124"/>
                    <a:pt x="221" y="107"/>
                    <a:pt x="248" y="107"/>
                  </a:cubicBezTo>
                  <a:cubicBezTo>
                    <a:pt x="266" y="107"/>
                    <a:pt x="284" y="115"/>
                    <a:pt x="293" y="124"/>
                  </a:cubicBezTo>
                  <a:cubicBezTo>
                    <a:pt x="443" y="177"/>
                    <a:pt x="443" y="177"/>
                    <a:pt x="443" y="177"/>
                  </a:cubicBezTo>
                  <a:cubicBezTo>
                    <a:pt x="487" y="160"/>
                    <a:pt x="487" y="160"/>
                    <a:pt x="487" y="160"/>
                  </a:cubicBezTo>
                  <a:cubicBezTo>
                    <a:pt x="496" y="142"/>
                    <a:pt x="496" y="133"/>
                    <a:pt x="487" y="124"/>
                  </a:cubicBezTo>
                  <a:close/>
                  <a:moveTo>
                    <a:pt x="425" y="346"/>
                  </a:moveTo>
                  <a:lnTo>
                    <a:pt x="425" y="346"/>
                  </a:lnTo>
                  <a:cubicBezTo>
                    <a:pt x="416" y="355"/>
                    <a:pt x="452" y="364"/>
                    <a:pt x="461" y="337"/>
                  </a:cubicBezTo>
                  <a:cubicBezTo>
                    <a:pt x="469" y="213"/>
                    <a:pt x="443" y="177"/>
                    <a:pt x="443" y="177"/>
                  </a:cubicBezTo>
                  <a:cubicBezTo>
                    <a:pt x="408" y="195"/>
                    <a:pt x="408" y="195"/>
                    <a:pt x="408" y="195"/>
                  </a:cubicBezTo>
                  <a:cubicBezTo>
                    <a:pt x="408" y="195"/>
                    <a:pt x="443" y="222"/>
                    <a:pt x="425" y="346"/>
                  </a:cubicBezTo>
                  <a:close/>
                </a:path>
              </a:pathLst>
            </a:custGeom>
            <a:solidFill>
              <a:schemeClr val="bg1"/>
            </a:solidFill>
            <a:ln>
              <a:noFill/>
            </a:ln>
            <a:effectLst/>
          </p:spPr>
          <p:txBody>
            <a:bodyPr wrap="none" lIns="34290" tIns="17145" rIns="34290" bIns="17145" anchor="ctr"/>
            <a:lstStyle/>
            <a:p>
              <a:pPr fontAlgn="auto">
                <a:spcBef>
                  <a:spcPts val="0"/>
                </a:spcBef>
                <a:spcAft>
                  <a:spcPts val="0"/>
                </a:spcAft>
                <a:defRPr/>
              </a:pPr>
              <a:endParaRPr lang="en-US" dirty="0">
                <a:solidFill>
                  <a:schemeClr val="tx1">
                    <a:lumMod val="75000"/>
                    <a:lumOff val="25000"/>
                  </a:schemeClr>
                </a:solidFill>
                <a:cs typeface="+mn-ea"/>
                <a:sym typeface="+mn-lt"/>
              </a:endParaRPr>
            </a:p>
          </p:txBody>
        </p:sp>
      </p:grpSp>
      <p:grpSp>
        <p:nvGrpSpPr>
          <p:cNvPr id="10" name="组合 9"/>
          <p:cNvGrpSpPr/>
          <p:nvPr/>
        </p:nvGrpSpPr>
        <p:grpSpPr>
          <a:xfrm>
            <a:off x="7771130" y="2393315"/>
            <a:ext cx="3681730" cy="2888615"/>
            <a:chOff x="12238" y="3769"/>
            <a:chExt cx="5798" cy="4549"/>
          </a:xfrm>
        </p:grpSpPr>
        <p:sp>
          <p:nvSpPr>
            <p:cNvPr id="47" name="图形"/>
            <p:cNvSpPr txBox="1"/>
            <p:nvPr/>
          </p:nvSpPr>
          <p:spPr>
            <a:xfrm>
              <a:off x="12253" y="4373"/>
              <a:ext cx="5254" cy="105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9pPr>
            </a:lstStyle>
            <a:p>
              <a:pPr algn="l">
                <a:lnSpc>
                  <a:spcPct val="150000"/>
                </a:lnSpc>
              </a:pPr>
              <a:r>
                <a:rPr lang="zh-CN" altLang="en-US" sz="1200" dirty="0">
                  <a:solidFill>
                    <a:schemeClr val="tx1">
                      <a:lumMod val="75000"/>
                      <a:lumOff val="25000"/>
                    </a:schemeClr>
                  </a:solidFill>
                  <a:cs typeface="+mn-ea"/>
                  <a:sym typeface="+mn-lt"/>
                </a:rPr>
                <a:t>同脚本同</a:t>
              </a:r>
              <a:r>
                <a:rPr lang="en-US" altLang="zh-CN" sz="1200" dirty="0">
                  <a:solidFill>
                    <a:schemeClr val="tx1">
                      <a:lumMod val="75000"/>
                      <a:lumOff val="25000"/>
                    </a:schemeClr>
                  </a:solidFill>
                  <a:cs typeface="+mn-ea"/>
                  <a:sym typeface="+mn-lt"/>
                </a:rPr>
                <a:t>~28k RPS</a:t>
              </a:r>
            </a:p>
            <a:p>
              <a:pPr algn="l">
                <a:lnSpc>
                  <a:spcPct val="150000"/>
                </a:lnSpc>
              </a:pPr>
              <a:r>
                <a:rPr lang="zh-CN" altLang="en-US" sz="1200" dirty="0">
                  <a:solidFill>
                    <a:schemeClr val="tx1">
                      <a:lumMod val="75000"/>
                      <a:lumOff val="25000"/>
                    </a:schemeClr>
                  </a:solidFill>
                  <a:cs typeface="+mn-ea"/>
                  <a:sym typeface="+mn-lt"/>
                </a:rPr>
                <a:t>对比生产镜像与 </a:t>
              </a:r>
              <a:r>
                <a:rPr lang="en-US" altLang="zh-CN" sz="1200" dirty="0">
                  <a:solidFill>
                    <a:schemeClr val="tx1">
                      <a:lumMod val="75000"/>
                      <a:lumOff val="25000"/>
                    </a:schemeClr>
                  </a:solidFill>
                  <a:cs typeface="+mn-ea"/>
                  <a:sym typeface="+mn-lt"/>
                </a:rPr>
                <a:t>baseline </a:t>
              </a:r>
              <a:r>
                <a:rPr lang="zh-CN" altLang="en-US" sz="1200" dirty="0">
                  <a:solidFill>
                    <a:schemeClr val="tx1">
                      <a:lumMod val="75000"/>
                      <a:lumOff val="25000"/>
                    </a:schemeClr>
                  </a:solidFill>
                  <a:cs typeface="+mn-ea"/>
                  <a:sym typeface="+mn-lt"/>
                </a:rPr>
                <a:t>镜像延迟差异</a:t>
              </a:r>
            </a:p>
          </p:txBody>
        </p:sp>
        <p:sp>
          <p:nvSpPr>
            <p:cNvPr id="48" name="图形"/>
            <p:cNvSpPr txBox="1"/>
            <p:nvPr/>
          </p:nvSpPr>
          <p:spPr>
            <a:xfrm>
              <a:off x="12238" y="3769"/>
              <a:ext cx="4603" cy="831"/>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9pPr>
            </a:lstStyle>
            <a:p>
              <a:pPr algn="ctr">
                <a:lnSpc>
                  <a:spcPct val="120000"/>
                </a:lnSpc>
              </a:pPr>
              <a:r>
                <a:rPr lang="en-US" altLang="zh-CN" sz="2000" kern="0" dirty="0">
                  <a:solidFill>
                    <a:schemeClr val="tx1">
                      <a:lumMod val="65000"/>
                      <a:lumOff val="35000"/>
                    </a:schemeClr>
                  </a:solidFill>
                  <a:uFillTx/>
                  <a:cs typeface="+mn-ea"/>
                  <a:sym typeface="+mn-lt"/>
                </a:rPr>
                <a:t>Order vs Baseline </a:t>
              </a:r>
              <a:r>
                <a:rPr lang="zh-CN" altLang="en-US" sz="2000" kern="0" dirty="0">
                  <a:solidFill>
                    <a:schemeClr val="tx1">
                      <a:lumMod val="65000"/>
                      <a:lumOff val="35000"/>
                    </a:schemeClr>
                  </a:solidFill>
                  <a:uFillTx/>
                  <a:cs typeface="+mn-ea"/>
                  <a:sym typeface="+mn-lt"/>
                </a:rPr>
                <a:t>对照</a:t>
              </a:r>
            </a:p>
          </p:txBody>
        </p:sp>
        <p:sp>
          <p:nvSpPr>
            <p:cNvPr id="49" name="图形"/>
            <p:cNvSpPr txBox="1"/>
            <p:nvPr/>
          </p:nvSpPr>
          <p:spPr>
            <a:xfrm>
              <a:off x="12268" y="7264"/>
              <a:ext cx="5768" cy="105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9pPr>
            </a:lstStyle>
            <a:p>
              <a:pPr algn="l">
                <a:lnSpc>
                  <a:spcPct val="150000"/>
                </a:lnSpc>
              </a:pPr>
              <a:r>
                <a:rPr lang="zh-CN" altLang="en-US" sz="1200" dirty="0">
                  <a:solidFill>
                    <a:schemeClr val="tx1">
                      <a:lumMod val="75000"/>
                      <a:lumOff val="25000"/>
                    </a:schemeClr>
                  </a:solidFill>
                  <a:cs typeface="+mn-ea"/>
                  <a:sym typeface="+mn-lt"/>
                </a:rPr>
                <a:t>经 </a:t>
              </a:r>
              <a:r>
                <a:rPr lang="en-US" altLang="zh-CN" sz="1200" dirty="0">
                  <a:solidFill>
                    <a:schemeClr val="tx1">
                      <a:lumMod val="75000"/>
                      <a:lumOff val="25000"/>
                    </a:schemeClr>
                  </a:solidFill>
                  <a:cs typeface="+mn-ea"/>
                  <a:sym typeface="+mn-lt"/>
                </a:rPr>
                <a:t>Gateway </a:t>
              </a:r>
              <a:r>
                <a:rPr lang="zh-CN" altLang="en-US" sz="1200" dirty="0">
                  <a:solidFill>
                    <a:schemeClr val="tx1">
                      <a:lumMod val="75000"/>
                      <a:lumOff val="25000"/>
                    </a:schemeClr>
                  </a:solidFill>
                  <a:cs typeface="+mn-ea"/>
                  <a:sym typeface="+mn-lt"/>
                </a:rPr>
                <a:t>入口，</a:t>
              </a:r>
              <a:r>
                <a:rPr lang="en-US" altLang="zh-CN" sz="1200" dirty="0">
                  <a:solidFill>
                    <a:schemeClr val="tx1">
                      <a:lumMod val="75000"/>
                      <a:lumOff val="25000"/>
                    </a:schemeClr>
                  </a:solidFill>
                  <a:cs typeface="+mn-ea"/>
                  <a:sym typeface="+mn-lt"/>
                </a:rPr>
                <a:t>RPS </a:t>
              </a:r>
              <a:r>
                <a:rPr lang="zh-CN" altLang="en-US" sz="1200" dirty="0">
                  <a:solidFill>
                    <a:schemeClr val="tx1">
                      <a:lumMod val="75000"/>
                      <a:lumOff val="25000"/>
                    </a:schemeClr>
                  </a:solidFill>
                  <a:cs typeface="+mn-ea"/>
                  <a:sym typeface="+mn-lt"/>
                </a:rPr>
                <a:t>阶梯</a:t>
              </a:r>
              <a:r>
                <a:rPr lang="en-US" altLang="zh-CN" sz="1200" dirty="0">
                  <a:solidFill>
                    <a:schemeClr val="tx1">
                      <a:lumMod val="75000"/>
                      <a:lumOff val="25000"/>
                    </a:schemeClr>
                  </a:solidFill>
                  <a:cs typeface="+mn-ea"/>
                  <a:sym typeface="+mn-lt"/>
                </a:rPr>
                <a:t>1500→2000→2500</a:t>
              </a:r>
            </a:p>
            <a:p>
              <a:pPr algn="l">
                <a:lnSpc>
                  <a:spcPct val="150000"/>
                </a:lnSpc>
              </a:pPr>
              <a:r>
                <a:rPr lang="zh-CN" altLang="en-US" sz="1200" dirty="0">
                  <a:solidFill>
                    <a:schemeClr val="tx1">
                      <a:lumMod val="75000"/>
                      <a:lumOff val="25000"/>
                    </a:schemeClr>
                  </a:solidFill>
                  <a:cs typeface="+mn-ea"/>
                  <a:sym typeface="+mn-lt"/>
                </a:rPr>
                <a:t>含 </a:t>
              </a:r>
              <a:r>
                <a:rPr lang="en-US" altLang="zh-CN" sz="1200" dirty="0">
                  <a:solidFill>
                    <a:schemeClr val="tx1">
                      <a:lumMod val="75000"/>
                      <a:lumOff val="25000"/>
                    </a:schemeClr>
                  </a:solidFill>
                  <a:cs typeface="+mn-ea"/>
                  <a:sym typeface="+mn-lt"/>
                </a:rPr>
                <a:t>Scaler </a:t>
              </a:r>
              <a:r>
                <a:rPr lang="zh-CN" altLang="en-US" sz="1200" dirty="0">
                  <a:solidFill>
                    <a:schemeClr val="tx1">
                      <a:lumMod val="75000"/>
                      <a:lumOff val="25000"/>
                    </a:schemeClr>
                  </a:solidFill>
                  <a:cs typeface="+mn-ea"/>
                  <a:sym typeface="+mn-lt"/>
                </a:rPr>
                <a:t>开</a:t>
              </a:r>
              <a:r>
                <a:rPr lang="en-US" altLang="zh-CN" sz="1200" dirty="0">
                  <a:solidFill>
                    <a:schemeClr val="tx1">
                      <a:lumMod val="75000"/>
                      <a:lumOff val="25000"/>
                    </a:schemeClr>
                  </a:solidFill>
                  <a:cs typeface="+mn-ea"/>
                  <a:sym typeface="+mn-lt"/>
                </a:rPr>
                <a:t>/</a:t>
              </a:r>
              <a:r>
                <a:rPr lang="zh-CN" altLang="en-US" sz="1200" dirty="0">
                  <a:solidFill>
                    <a:schemeClr val="tx1">
                      <a:lumMod val="75000"/>
                      <a:lumOff val="25000"/>
                    </a:schemeClr>
                  </a:solidFill>
                  <a:cs typeface="+mn-ea"/>
                  <a:sym typeface="+mn-lt"/>
                </a:rPr>
                <a:t>关对比，验证全链路容量</a:t>
              </a:r>
            </a:p>
          </p:txBody>
        </p:sp>
        <p:sp>
          <p:nvSpPr>
            <p:cNvPr id="50" name="图形"/>
            <p:cNvSpPr txBox="1"/>
            <p:nvPr/>
          </p:nvSpPr>
          <p:spPr>
            <a:xfrm>
              <a:off x="12253" y="6660"/>
              <a:ext cx="5768" cy="831"/>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9pPr>
            </a:lstStyle>
            <a:p>
              <a:pPr algn="ctr">
                <a:lnSpc>
                  <a:spcPct val="120000"/>
                </a:lnSpc>
              </a:pPr>
              <a:r>
                <a:rPr lang="en-US" altLang="zh-CN" sz="2000" kern="0" dirty="0">
                  <a:solidFill>
                    <a:schemeClr val="tx1">
                      <a:lumMod val="65000"/>
                      <a:lumOff val="35000"/>
                    </a:schemeClr>
                  </a:solidFill>
                  <a:uFillTx/>
                  <a:cs typeface="+mn-ea"/>
                  <a:sym typeface="+mn-lt"/>
                </a:rPr>
                <a:t>Gateway </a:t>
              </a:r>
              <a:r>
                <a:rPr lang="zh-CN" altLang="en-US" sz="2000" kern="0" dirty="0">
                  <a:solidFill>
                    <a:schemeClr val="tx1">
                      <a:lumMod val="65000"/>
                      <a:lumOff val="35000"/>
                    </a:schemeClr>
                  </a:solidFill>
                  <a:uFillTx/>
                  <a:cs typeface="+mn-ea"/>
                  <a:sym typeface="+mn-lt"/>
                </a:rPr>
                <a:t>全链路 </a:t>
              </a:r>
              <a:r>
                <a:rPr lang="en-US" altLang="zh-CN" sz="2000" kern="0" dirty="0">
                  <a:solidFill>
                    <a:schemeClr val="tx1">
                      <a:lumMod val="65000"/>
                      <a:lumOff val="35000"/>
                    </a:schemeClr>
                  </a:solidFill>
                  <a:uFillTx/>
                  <a:cs typeface="+mn-ea"/>
                  <a:sym typeface="+mn-lt"/>
                </a:rPr>
                <a:t>Fraud Ramp</a:t>
              </a:r>
            </a:p>
          </p:txBody>
        </p:sp>
      </p:grpSp>
      <p:grpSp>
        <p:nvGrpSpPr>
          <p:cNvPr id="9" name="组合 8"/>
          <p:cNvGrpSpPr/>
          <p:nvPr/>
        </p:nvGrpSpPr>
        <p:grpSpPr>
          <a:xfrm>
            <a:off x="739140" y="2393315"/>
            <a:ext cx="3513455" cy="2888615"/>
            <a:chOff x="1164" y="3769"/>
            <a:chExt cx="5533" cy="4549"/>
          </a:xfrm>
        </p:grpSpPr>
        <p:sp>
          <p:nvSpPr>
            <p:cNvPr id="51" name="图形"/>
            <p:cNvSpPr txBox="1"/>
            <p:nvPr/>
          </p:nvSpPr>
          <p:spPr>
            <a:xfrm>
              <a:off x="1428" y="4373"/>
              <a:ext cx="5254" cy="105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9pPr>
            </a:lstStyle>
            <a:p>
              <a:pPr algn="r">
                <a:lnSpc>
                  <a:spcPct val="150000"/>
                </a:lnSpc>
              </a:pPr>
              <a:r>
                <a:rPr lang="zh-CN" altLang="en-US" sz="1200" dirty="0">
                  <a:solidFill>
                    <a:schemeClr val="tx1">
                      <a:lumMod val="75000"/>
                      <a:lumOff val="25000"/>
                    </a:schemeClr>
                  </a:solidFill>
                  <a:cs typeface="+mn-ea"/>
                  <a:sym typeface="+mn-lt"/>
                </a:rPr>
                <a:t>在日志等级最小的情况下测试最短链路的极限承受程度，稳态</a:t>
              </a:r>
              <a:r>
                <a:rPr lang="en-US" altLang="zh-CN" sz="1200" dirty="0">
                  <a:solidFill>
                    <a:schemeClr val="tx1">
                      <a:lumMod val="75000"/>
                      <a:lumOff val="25000"/>
                    </a:schemeClr>
                  </a:solidFill>
                  <a:cs typeface="+mn-ea"/>
                  <a:sym typeface="+mn-lt"/>
                </a:rPr>
                <a:t>28k RPS/ </a:t>
              </a:r>
              <a:r>
                <a:rPr lang="zh-CN" altLang="en-US" sz="1200" dirty="0">
                  <a:solidFill>
                    <a:schemeClr val="tx1">
                      <a:lumMod val="75000"/>
                      <a:lumOff val="25000"/>
                    </a:schemeClr>
                  </a:solidFill>
                  <a:cs typeface="+mn-ea"/>
                  <a:sym typeface="+mn-lt"/>
                </a:rPr>
                <a:t>极限</a:t>
              </a:r>
              <a:r>
                <a:rPr lang="en-US" altLang="zh-CN" sz="1200" dirty="0">
                  <a:solidFill>
                    <a:schemeClr val="tx1">
                      <a:lumMod val="75000"/>
                      <a:lumOff val="25000"/>
                    </a:schemeClr>
                  </a:solidFill>
                  <a:cs typeface="+mn-ea"/>
                  <a:sym typeface="+mn-lt"/>
                </a:rPr>
                <a:t>65k RPS</a:t>
              </a:r>
            </a:p>
            <a:p>
              <a:pPr algn="r">
                <a:lnSpc>
                  <a:spcPct val="150000"/>
                </a:lnSpc>
              </a:pPr>
              <a:endParaRPr kumimoji="1" lang="zh-CN" altLang="en-US" sz="1200" spc="150" dirty="0">
                <a:solidFill>
                  <a:schemeClr val="tx1">
                    <a:lumMod val="50000"/>
                    <a:lumOff val="50000"/>
                  </a:schemeClr>
                </a:solidFill>
                <a:uFillTx/>
                <a:cs typeface="+mn-ea"/>
                <a:sym typeface="+mn-lt"/>
              </a:endParaRPr>
            </a:p>
          </p:txBody>
        </p:sp>
        <p:sp>
          <p:nvSpPr>
            <p:cNvPr id="52" name="图形"/>
            <p:cNvSpPr txBox="1"/>
            <p:nvPr/>
          </p:nvSpPr>
          <p:spPr>
            <a:xfrm>
              <a:off x="2016" y="3769"/>
              <a:ext cx="4464" cy="831"/>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9pPr>
            </a:lstStyle>
            <a:p>
              <a:pPr algn="ctr">
                <a:lnSpc>
                  <a:spcPct val="120000"/>
                </a:lnSpc>
              </a:pPr>
              <a:r>
                <a:rPr lang="en-US" altLang="zh-CN" sz="2000" kern="0" dirty="0">
                  <a:solidFill>
                    <a:schemeClr val="tx1">
                      <a:lumMod val="65000"/>
                      <a:lumOff val="35000"/>
                    </a:schemeClr>
                  </a:solidFill>
                  <a:uFillTx/>
                  <a:cs typeface="+mn-ea"/>
                  <a:sym typeface="+mn-lt"/>
                </a:rPr>
                <a:t>Docker </a:t>
              </a:r>
              <a:r>
                <a:rPr lang="zh-CN" altLang="en-US" sz="2000" kern="0" dirty="0">
                  <a:solidFill>
                    <a:schemeClr val="tx1">
                      <a:lumMod val="65000"/>
                      <a:lumOff val="35000"/>
                    </a:schemeClr>
                  </a:solidFill>
                  <a:uFillTx/>
                  <a:cs typeface="+mn-ea"/>
                  <a:sym typeface="+mn-lt"/>
                </a:rPr>
                <a:t>内网单 </a:t>
              </a:r>
              <a:r>
                <a:rPr lang="en-US" altLang="zh-CN" sz="2000" kern="0" dirty="0">
                  <a:solidFill>
                    <a:schemeClr val="tx1">
                      <a:lumMod val="65000"/>
                      <a:lumOff val="35000"/>
                    </a:schemeClr>
                  </a:solidFill>
                  <a:uFillTx/>
                  <a:cs typeface="+mn-ea"/>
                  <a:sym typeface="+mn-lt"/>
                </a:rPr>
                <a:t>Order</a:t>
              </a:r>
            </a:p>
          </p:txBody>
        </p:sp>
        <p:sp>
          <p:nvSpPr>
            <p:cNvPr id="53" name="图形"/>
            <p:cNvSpPr txBox="1"/>
            <p:nvPr/>
          </p:nvSpPr>
          <p:spPr>
            <a:xfrm>
              <a:off x="1164" y="7264"/>
              <a:ext cx="5533" cy="105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9pPr>
            </a:lstStyle>
            <a:p>
              <a:pPr algn="r">
                <a:lnSpc>
                  <a:spcPct val="150000"/>
                </a:lnSpc>
              </a:pPr>
              <a:r>
                <a:rPr lang="zh-CN" altLang="en-US" sz="1200" dirty="0">
                  <a:solidFill>
                    <a:schemeClr val="tx1">
                      <a:lumMod val="75000"/>
                      <a:lumOff val="25000"/>
                    </a:schemeClr>
                  </a:solidFill>
                  <a:cs typeface="+mn-ea"/>
                  <a:sym typeface="+mn-lt"/>
                </a:rPr>
                <a:t>同 </a:t>
              </a:r>
              <a:r>
                <a:rPr lang="en-US" altLang="zh-CN" sz="1200" dirty="0">
                  <a:solidFill>
                    <a:schemeClr val="tx1">
                      <a:lumMod val="75000"/>
                      <a:lumOff val="25000"/>
                    </a:schemeClr>
                  </a:solidFill>
                  <a:cs typeface="+mn-ea"/>
                  <a:sym typeface="+mn-lt"/>
                </a:rPr>
                <a:t>RPS </a:t>
              </a:r>
              <a:r>
                <a:rPr lang="zh-CN" altLang="en-US" sz="1200" dirty="0">
                  <a:solidFill>
                    <a:schemeClr val="tx1">
                      <a:lumMod val="75000"/>
                      <a:lumOff val="25000"/>
                    </a:schemeClr>
                  </a:solidFill>
                  <a:cs typeface="+mn-ea"/>
                  <a:sym typeface="+mn-lt"/>
                </a:rPr>
                <a:t>阶梯下对比自动扩缩容与固定副本</a:t>
              </a:r>
            </a:p>
            <a:p>
              <a:pPr algn="r">
                <a:lnSpc>
                  <a:spcPct val="150000"/>
                </a:lnSpc>
              </a:pPr>
              <a:r>
                <a:rPr lang="zh-CN" altLang="en-US" sz="1200" dirty="0">
                  <a:solidFill>
                    <a:schemeClr val="tx1">
                      <a:lumMod val="75000"/>
                      <a:lumOff val="25000"/>
                    </a:schemeClr>
                  </a:solidFill>
                  <a:cs typeface="+mn-ea"/>
                  <a:sym typeface="+mn-lt"/>
                </a:rPr>
                <a:t>尾延迟与成功率差异</a:t>
              </a:r>
            </a:p>
          </p:txBody>
        </p:sp>
        <p:sp>
          <p:nvSpPr>
            <p:cNvPr id="54" name="图形"/>
            <p:cNvSpPr txBox="1"/>
            <p:nvPr/>
          </p:nvSpPr>
          <p:spPr>
            <a:xfrm>
              <a:off x="2661" y="6660"/>
              <a:ext cx="3834" cy="831"/>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9pPr>
            </a:lstStyle>
            <a:p>
              <a:pPr algn="ctr">
                <a:lnSpc>
                  <a:spcPct val="120000"/>
                </a:lnSpc>
              </a:pPr>
              <a:r>
                <a:rPr lang="en-US" altLang="zh-CN" sz="2000" kern="0" dirty="0">
                  <a:solidFill>
                    <a:schemeClr val="tx1">
                      <a:lumMod val="65000"/>
                      <a:lumOff val="35000"/>
                    </a:schemeClr>
                  </a:solidFill>
                  <a:uFillTx/>
                  <a:cs typeface="+mn-ea"/>
                  <a:sym typeface="+mn-lt"/>
                </a:rPr>
                <a:t>Scaler </a:t>
              </a:r>
              <a:r>
                <a:rPr lang="zh-CN" altLang="en-US" sz="2000" kern="0" dirty="0">
                  <a:solidFill>
                    <a:schemeClr val="tx1">
                      <a:lumMod val="65000"/>
                      <a:lumOff val="35000"/>
                    </a:schemeClr>
                  </a:solidFill>
                  <a:uFillTx/>
                  <a:cs typeface="+mn-ea"/>
                  <a:sym typeface="+mn-lt"/>
                </a:rPr>
                <a:t>开</a:t>
              </a:r>
              <a:r>
                <a:rPr lang="en-US" altLang="zh-CN" sz="2000" kern="0" dirty="0">
                  <a:solidFill>
                    <a:schemeClr val="tx1">
                      <a:lumMod val="65000"/>
                      <a:lumOff val="35000"/>
                    </a:schemeClr>
                  </a:solidFill>
                  <a:uFillTx/>
                  <a:cs typeface="+mn-ea"/>
                  <a:sym typeface="+mn-lt"/>
                </a:rPr>
                <a:t>/</a:t>
              </a:r>
              <a:r>
                <a:rPr lang="zh-CN" altLang="en-US" sz="2000" kern="0" dirty="0">
                  <a:solidFill>
                    <a:schemeClr val="tx1">
                      <a:lumMod val="65000"/>
                      <a:lumOff val="35000"/>
                    </a:schemeClr>
                  </a:solidFill>
                  <a:uFillTx/>
                  <a:cs typeface="+mn-ea"/>
                  <a:sym typeface="+mn-lt"/>
                </a:rPr>
                <a:t>关对比</a:t>
              </a:r>
            </a:p>
          </p:txBody>
        </p:sp>
      </p:grpSp>
      <p:sp>
        <p:nvSpPr>
          <p:cNvPr id="8" name="图形"/>
          <p:cNvSpPr txBox="1"/>
          <p:nvPr/>
        </p:nvSpPr>
        <p:spPr>
          <a:xfrm>
            <a:off x="987110" y="615950"/>
            <a:ext cx="2954655" cy="646331"/>
          </a:xfrm>
          <a:prstGeom prst="rect">
            <a:avLst/>
          </a:prstGeom>
          <a:noFill/>
        </p:spPr>
        <p:txBody>
          <a:bodyPr wrap="none" rtlCol="0">
            <a:spAutoFit/>
          </a:bodyPr>
          <a:lstStyle/>
          <a:p>
            <a:pPr algn="ctr"/>
            <a:r>
              <a:rPr lang="zh-CN" altLang="en-US" sz="3600" noProof="0" dirty="0">
                <a:ln>
                  <a:noFill/>
                </a:ln>
                <a:solidFill>
                  <a:schemeClr val="tx1">
                    <a:lumMod val="75000"/>
                    <a:lumOff val="25000"/>
                  </a:schemeClr>
                </a:solidFill>
                <a:effectLst/>
                <a:uLnTx/>
                <a:uFillTx/>
                <a:cs typeface="+mn-ea"/>
                <a:sym typeface="+mn-lt"/>
              </a:rPr>
              <a:t>压测方案设计</a:t>
            </a:r>
          </a:p>
        </p:txBody>
      </p:sp>
      <p:sp>
        <p:nvSpPr>
          <p:cNvPr id="25" name="图形"/>
          <p:cNvSpPr/>
          <p:nvPr/>
        </p:nvSpPr>
        <p:spPr>
          <a:xfrm>
            <a:off x="0" y="680085"/>
            <a:ext cx="939800" cy="535940"/>
          </a:xfrm>
          <a:prstGeom prst="rect">
            <a:avLst/>
          </a:prstGeom>
          <a:gradFill>
            <a:gsLst>
              <a:gs pos="0">
                <a:schemeClr val="accent2"/>
              </a:gs>
              <a:gs pos="91000">
                <a:schemeClr val="accent1"/>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图形"/>
          <p:cNvSpPr/>
          <p:nvPr/>
        </p:nvSpPr>
        <p:spPr>
          <a:xfrm>
            <a:off x="146685" y="651510"/>
            <a:ext cx="76200" cy="607060"/>
          </a:xfrm>
          <a:prstGeom prst="rect">
            <a:avLst/>
          </a:prstGeom>
          <a:solidFill>
            <a:schemeClr val="bg1"/>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图形"/>
          <p:cNvSpPr/>
          <p:nvPr/>
        </p:nvSpPr>
        <p:spPr>
          <a:xfrm>
            <a:off x="333375" y="608965"/>
            <a:ext cx="76200" cy="607060"/>
          </a:xfrm>
          <a:prstGeom prst="rect">
            <a:avLst/>
          </a:prstGeom>
          <a:solidFill>
            <a:schemeClr val="bg1"/>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ustDataLst>
      <p:tags r:id="rId1"/>
    </p:custDataLst>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500"/>
                                        <p:tgtEl>
                                          <p:spTgt spid="9"/>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图形"/>
          <p:cNvSpPr/>
          <p:nvPr/>
        </p:nvSpPr>
        <p:spPr>
          <a:xfrm>
            <a:off x="6462395" y="5285013"/>
            <a:ext cx="4671060" cy="566512"/>
          </a:xfrm>
          <a:prstGeom prst="rect">
            <a:avLst/>
          </a:prstGeom>
          <a:gradFill>
            <a:gsLst>
              <a:gs pos="22000">
                <a:schemeClr val="accent1"/>
              </a:gs>
              <a:gs pos="100000">
                <a:schemeClr val="accent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cs typeface="+mn-ea"/>
                <a:sym typeface="+mn-lt"/>
              </a:rPr>
              <a:t>单实例</a:t>
            </a:r>
            <a:r>
              <a:rPr lang="en-US" altLang="zh-CN" dirty="0">
                <a:solidFill>
                  <a:schemeClr val="bg1"/>
                </a:solidFill>
                <a:cs typeface="+mn-ea"/>
                <a:sym typeface="+mn-lt"/>
              </a:rPr>
              <a:t>65k</a:t>
            </a:r>
            <a:endParaRPr lang="zh-CN" altLang="en-US" dirty="0">
              <a:solidFill>
                <a:schemeClr val="bg1"/>
              </a:solidFill>
              <a:cs typeface="+mn-ea"/>
              <a:sym typeface="+mn-lt"/>
            </a:endParaRPr>
          </a:p>
        </p:txBody>
      </p:sp>
      <p:sp>
        <p:nvSpPr>
          <p:cNvPr id="62" name="图形"/>
          <p:cNvSpPr/>
          <p:nvPr/>
        </p:nvSpPr>
        <p:spPr>
          <a:xfrm>
            <a:off x="6383655" y="1864995"/>
            <a:ext cx="4850765" cy="613694"/>
          </a:xfrm>
          <a:prstGeom prst="rect">
            <a:avLst/>
          </a:prstGeom>
        </p:spPr>
        <p:txBody>
          <a:bodyPr wrap="square">
            <a:spAutoFit/>
          </a:bodyPr>
          <a:lstStyle/>
          <a:p>
            <a:pPr>
              <a:lnSpc>
                <a:spcPct val="150000"/>
              </a:lnSpc>
            </a:pPr>
            <a:r>
              <a:rPr lang="en-US" altLang="zh-CN" sz="1200" dirty="0">
                <a:solidFill>
                  <a:schemeClr val="tx1">
                    <a:lumMod val="75000"/>
                    <a:lumOff val="25000"/>
                  </a:schemeClr>
                </a:solidFill>
                <a:cs typeface="+mn-ea"/>
                <a:sym typeface="+mn-lt"/>
              </a:rPr>
              <a:t>6W</a:t>
            </a:r>
            <a:endParaRPr lang="zh-CN" altLang="en-US" sz="1200" dirty="0">
              <a:solidFill>
                <a:schemeClr val="tx1">
                  <a:lumMod val="85000"/>
                  <a:lumOff val="15000"/>
                </a:schemeClr>
              </a:solidFill>
              <a:cs typeface="+mn-ea"/>
              <a:sym typeface="+mn-lt"/>
            </a:endParaRPr>
          </a:p>
          <a:p>
            <a:pPr>
              <a:lnSpc>
                <a:spcPct val="150000"/>
              </a:lnSpc>
            </a:pPr>
            <a:endParaRPr lang="zh-CN" altLang="zh-CN" sz="1200" dirty="0">
              <a:solidFill>
                <a:schemeClr val="tx1">
                  <a:lumMod val="50000"/>
                  <a:lumOff val="50000"/>
                </a:schemeClr>
              </a:solidFill>
              <a:cs typeface="+mn-ea"/>
              <a:sym typeface="+mn-lt"/>
            </a:endParaRPr>
          </a:p>
        </p:txBody>
      </p:sp>
      <p:grpSp>
        <p:nvGrpSpPr>
          <p:cNvPr id="3" name="组合 2"/>
          <p:cNvGrpSpPr/>
          <p:nvPr/>
        </p:nvGrpSpPr>
        <p:grpSpPr>
          <a:xfrm>
            <a:off x="857885" y="1864995"/>
            <a:ext cx="5191760" cy="4124960"/>
            <a:chOff x="1351" y="2937"/>
            <a:chExt cx="8176" cy="6496"/>
          </a:xfrm>
        </p:grpSpPr>
        <p:sp>
          <p:nvSpPr>
            <p:cNvPr id="47" name="图形"/>
            <p:cNvSpPr/>
            <p:nvPr/>
          </p:nvSpPr>
          <p:spPr>
            <a:xfrm>
              <a:off x="1351" y="3194"/>
              <a:ext cx="1024" cy="1024"/>
            </a:xfrm>
            <a:prstGeom prst="ellipse">
              <a:avLst/>
            </a:prstGeom>
            <a:gradFill>
              <a:gsLst>
                <a:gs pos="22000">
                  <a:schemeClr val="accent1"/>
                </a:gs>
                <a:gs pos="100000">
                  <a:schemeClr val="accent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cs typeface="+mn-ea"/>
                  <a:sym typeface="+mn-lt"/>
                </a:rPr>
                <a:t>01</a:t>
              </a:r>
              <a:endParaRPr lang="zh-CN" altLang="en-US" dirty="0">
                <a:cs typeface="+mn-ea"/>
                <a:sym typeface="+mn-lt"/>
              </a:endParaRPr>
            </a:p>
          </p:txBody>
        </p:sp>
        <p:sp>
          <p:nvSpPr>
            <p:cNvPr id="50" name="图形"/>
            <p:cNvSpPr/>
            <p:nvPr/>
          </p:nvSpPr>
          <p:spPr>
            <a:xfrm>
              <a:off x="1351" y="5469"/>
              <a:ext cx="1024" cy="1024"/>
            </a:xfrm>
            <a:prstGeom prst="ellipse">
              <a:avLst/>
            </a:prstGeom>
            <a:gradFill>
              <a:gsLst>
                <a:gs pos="22000">
                  <a:schemeClr val="accent1"/>
                </a:gs>
                <a:gs pos="100000">
                  <a:schemeClr val="accent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cs typeface="+mn-ea"/>
                  <a:sym typeface="+mn-lt"/>
                </a:rPr>
                <a:t>02</a:t>
              </a:r>
              <a:endParaRPr lang="zh-CN" altLang="en-US" dirty="0">
                <a:cs typeface="+mn-ea"/>
                <a:sym typeface="+mn-lt"/>
              </a:endParaRPr>
            </a:p>
          </p:txBody>
        </p:sp>
        <p:sp>
          <p:nvSpPr>
            <p:cNvPr id="53" name="图形"/>
            <p:cNvSpPr/>
            <p:nvPr/>
          </p:nvSpPr>
          <p:spPr>
            <a:xfrm>
              <a:off x="1351" y="7744"/>
              <a:ext cx="1024" cy="1024"/>
            </a:xfrm>
            <a:prstGeom prst="ellipse">
              <a:avLst/>
            </a:prstGeom>
            <a:gradFill>
              <a:gsLst>
                <a:gs pos="22000">
                  <a:schemeClr val="accent1"/>
                </a:gs>
                <a:gs pos="100000">
                  <a:schemeClr val="accent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cs typeface="+mn-ea"/>
                  <a:sym typeface="+mn-lt"/>
                </a:rPr>
                <a:t>03</a:t>
              </a:r>
              <a:endParaRPr lang="zh-CN" altLang="en-US" dirty="0">
                <a:cs typeface="+mn-ea"/>
                <a:sym typeface="+mn-lt"/>
              </a:endParaRPr>
            </a:p>
          </p:txBody>
        </p:sp>
        <p:cxnSp>
          <p:nvCxnSpPr>
            <p:cNvPr id="58" name="图形"/>
            <p:cNvCxnSpPr/>
            <p:nvPr/>
          </p:nvCxnSpPr>
          <p:spPr>
            <a:xfrm>
              <a:off x="9527" y="3105"/>
              <a:ext cx="0" cy="6138"/>
            </a:xfrm>
            <a:prstGeom prst="line">
              <a:avLst/>
            </a:prstGeom>
            <a:ln w="3175" cap="rnd">
              <a:solidFill>
                <a:schemeClr val="bg1">
                  <a:lumMod val="75000"/>
                </a:schemeClr>
              </a:solidFill>
              <a:prstDash val="sysDash"/>
              <a:round/>
            </a:ln>
          </p:spPr>
          <p:style>
            <a:lnRef idx="1">
              <a:schemeClr val="accent1"/>
            </a:lnRef>
            <a:fillRef idx="0">
              <a:schemeClr val="accent1"/>
            </a:fillRef>
            <a:effectRef idx="0">
              <a:schemeClr val="accent1"/>
            </a:effectRef>
            <a:fontRef idx="minor">
              <a:schemeClr val="tx1"/>
            </a:fontRef>
          </p:style>
        </p:cxnSp>
        <p:sp>
          <p:nvSpPr>
            <p:cNvPr id="34" name="图形"/>
            <p:cNvSpPr txBox="1"/>
            <p:nvPr/>
          </p:nvSpPr>
          <p:spPr>
            <a:xfrm>
              <a:off x="2402" y="3460"/>
              <a:ext cx="7005" cy="1403"/>
            </a:xfrm>
            <a:prstGeom prst="rect">
              <a:avLst/>
            </a:prstGeom>
            <a:noFill/>
          </p:spPr>
          <p:txBody>
            <a:bodyPr wrap="square" rtlCol="0">
              <a:spAutoFit/>
            </a:bodyPr>
            <a:lstStyle/>
            <a:p>
              <a:pPr>
                <a:lnSpc>
                  <a:spcPct val="150000"/>
                </a:lnSpc>
              </a:pPr>
              <a:r>
                <a:rPr lang="zh-CN" altLang="en-US" sz="1200" dirty="0">
                  <a:solidFill>
                    <a:schemeClr val="tx1">
                      <a:lumMod val="75000"/>
                      <a:lumOff val="25000"/>
                    </a:schemeClr>
                  </a:solidFill>
                  <a:cs typeface="+mn-ea"/>
                  <a:sym typeface="+mn-lt"/>
                </a:rPr>
                <a:t>经过测试，在极限环境下</a:t>
              </a:r>
              <a:r>
                <a:rPr lang="en-US" altLang="zh-CN" sz="1200" dirty="0">
                  <a:solidFill>
                    <a:schemeClr val="tx1">
                      <a:lumMod val="75000"/>
                      <a:lumOff val="25000"/>
                    </a:schemeClr>
                  </a:solidFill>
                  <a:cs typeface="+mn-ea"/>
                  <a:sym typeface="+mn-lt"/>
                </a:rPr>
                <a:t>65kQPS</a:t>
              </a:r>
              <a:r>
                <a:rPr lang="zh-CN" altLang="en-US" sz="1200" dirty="0">
                  <a:solidFill>
                    <a:schemeClr val="tx1">
                      <a:lumMod val="75000"/>
                      <a:lumOff val="25000"/>
                    </a:schemeClr>
                  </a:solidFill>
                  <a:cs typeface="+mn-ea"/>
                  <a:sym typeface="+mn-lt"/>
                </a:rPr>
                <a:t>是一个极限接收量，此时已出现部分请求被丢弃，但服务端总体还可控。更高的请求会导致服务器出现不可控情况，或者被大量丢弃。</a:t>
              </a:r>
              <a:endParaRPr lang="zh-CN" altLang="en-US" sz="1200" dirty="0">
                <a:solidFill>
                  <a:schemeClr val="tx1">
                    <a:lumMod val="85000"/>
                    <a:lumOff val="15000"/>
                  </a:schemeClr>
                </a:solidFill>
                <a:cs typeface="+mn-ea"/>
                <a:sym typeface="+mn-lt"/>
              </a:endParaRPr>
            </a:p>
          </p:txBody>
        </p:sp>
        <p:sp>
          <p:nvSpPr>
            <p:cNvPr id="35" name="图形"/>
            <p:cNvSpPr txBox="1"/>
            <p:nvPr/>
          </p:nvSpPr>
          <p:spPr>
            <a:xfrm>
              <a:off x="2439" y="2937"/>
              <a:ext cx="5594" cy="628"/>
            </a:xfrm>
            <a:prstGeom prst="rect">
              <a:avLst/>
            </a:prstGeom>
            <a:noFill/>
          </p:spPr>
          <p:txBody>
            <a:bodyPr wrap="square" rtlCol="0">
              <a:spAutoFit/>
            </a:bodyPr>
            <a:lstStyle/>
            <a:p>
              <a:pPr algn="l"/>
              <a:r>
                <a:rPr lang="zh-CN" altLang="en-US" sz="2000" dirty="0">
                  <a:solidFill>
                    <a:schemeClr val="tx1">
                      <a:lumMod val="75000"/>
                      <a:lumOff val="25000"/>
                    </a:schemeClr>
                  </a:solidFill>
                  <a:cs typeface="+mn-ea"/>
                  <a:sym typeface="+mn-lt"/>
                </a:rPr>
                <a:t>单实例极限承压</a:t>
              </a:r>
              <a:r>
                <a:rPr lang="en-US" altLang="zh-CN" sz="2000" dirty="0">
                  <a:solidFill>
                    <a:schemeClr val="tx1">
                      <a:lumMod val="75000"/>
                      <a:lumOff val="25000"/>
                    </a:schemeClr>
                  </a:solidFill>
                  <a:cs typeface="+mn-ea"/>
                  <a:sym typeface="+mn-lt"/>
                </a:rPr>
                <a:t>65kQPS</a:t>
              </a:r>
              <a:endParaRPr lang="zh-CN" altLang="en-US" sz="2000" dirty="0">
                <a:solidFill>
                  <a:schemeClr val="tx1">
                    <a:lumMod val="75000"/>
                    <a:lumOff val="25000"/>
                  </a:schemeClr>
                </a:solidFill>
                <a:cs typeface="+mn-ea"/>
                <a:sym typeface="+mn-lt"/>
              </a:endParaRPr>
            </a:p>
          </p:txBody>
        </p:sp>
        <p:sp>
          <p:nvSpPr>
            <p:cNvPr id="18" name="图形"/>
            <p:cNvSpPr txBox="1"/>
            <p:nvPr/>
          </p:nvSpPr>
          <p:spPr>
            <a:xfrm>
              <a:off x="2370" y="5758"/>
              <a:ext cx="7005" cy="966"/>
            </a:xfrm>
            <a:prstGeom prst="rect">
              <a:avLst/>
            </a:prstGeom>
            <a:noFill/>
          </p:spPr>
          <p:txBody>
            <a:bodyPr wrap="square" rtlCol="0">
              <a:spAutoFit/>
            </a:bodyPr>
            <a:lstStyle/>
            <a:p>
              <a:pPr>
                <a:lnSpc>
                  <a:spcPct val="150000"/>
                </a:lnSpc>
              </a:pPr>
              <a:r>
                <a:rPr lang="en-US" altLang="zh-CN" sz="1200" dirty="0">
                  <a:solidFill>
                    <a:schemeClr val="tx1">
                      <a:lumMod val="75000"/>
                      <a:lumOff val="25000"/>
                    </a:schemeClr>
                  </a:solidFill>
                  <a:cs typeface="+mn-ea"/>
                  <a:sym typeface="+mn-lt"/>
                </a:rPr>
                <a:t>Order</a:t>
              </a:r>
              <a:r>
                <a:rPr lang="zh-CN" altLang="en-US" sz="1200" dirty="0">
                  <a:solidFill>
                    <a:schemeClr val="tx1">
                      <a:lumMod val="75000"/>
                      <a:lumOff val="25000"/>
                    </a:schemeClr>
                  </a:solidFill>
                  <a:cs typeface="+mn-ea"/>
                  <a:sym typeface="+mn-lt"/>
                </a:rPr>
                <a:t>内部处理的极限大概在</a:t>
              </a:r>
              <a:r>
                <a:rPr lang="en-US" altLang="zh-CN" sz="1200" dirty="0">
                  <a:solidFill>
                    <a:schemeClr val="tx1">
                      <a:lumMod val="75000"/>
                      <a:lumOff val="25000"/>
                    </a:schemeClr>
                  </a:solidFill>
                  <a:cs typeface="+mn-ea"/>
                  <a:sym typeface="+mn-lt"/>
                </a:rPr>
                <a:t>28KQPS</a:t>
              </a:r>
              <a:r>
                <a:rPr lang="zh-CN" altLang="en-US" sz="1200" dirty="0">
                  <a:solidFill>
                    <a:schemeClr val="tx1">
                      <a:lumMod val="75000"/>
                      <a:lumOff val="25000"/>
                    </a:schemeClr>
                  </a:solidFill>
                  <a:cs typeface="+mn-ea"/>
                  <a:sym typeface="+mn-lt"/>
                </a:rPr>
                <a:t>，可以在</a:t>
              </a:r>
              <a:r>
                <a:rPr lang="en-US" altLang="zh-CN" sz="1200" dirty="0">
                  <a:solidFill>
                    <a:schemeClr val="tx1">
                      <a:lumMod val="75000"/>
                      <a:lumOff val="25000"/>
                    </a:schemeClr>
                  </a:solidFill>
                  <a:cs typeface="+mn-ea"/>
                  <a:sym typeface="+mn-lt"/>
                </a:rPr>
                <a:t>28KQPS</a:t>
              </a:r>
              <a:r>
                <a:rPr lang="zh-CN" altLang="en-US" sz="1200" dirty="0">
                  <a:solidFill>
                    <a:schemeClr val="tx1">
                      <a:lumMod val="75000"/>
                      <a:lumOff val="25000"/>
                    </a:schemeClr>
                  </a:solidFill>
                  <a:cs typeface="+mn-ea"/>
                  <a:sym typeface="+mn-lt"/>
                </a:rPr>
                <a:t>的情况下稳定提供服务且不会导致丢弃与积压</a:t>
              </a:r>
            </a:p>
          </p:txBody>
        </p:sp>
        <p:sp>
          <p:nvSpPr>
            <p:cNvPr id="8" name="图形"/>
            <p:cNvSpPr txBox="1"/>
            <p:nvPr/>
          </p:nvSpPr>
          <p:spPr>
            <a:xfrm>
              <a:off x="2407" y="5235"/>
              <a:ext cx="5594" cy="628"/>
            </a:xfrm>
            <a:prstGeom prst="rect">
              <a:avLst/>
            </a:prstGeom>
            <a:noFill/>
          </p:spPr>
          <p:txBody>
            <a:bodyPr wrap="square" rtlCol="0">
              <a:spAutoFit/>
            </a:bodyPr>
            <a:lstStyle/>
            <a:p>
              <a:pPr algn="l"/>
              <a:r>
                <a:rPr lang="zh-CN" altLang="en-US" sz="2000" dirty="0">
                  <a:solidFill>
                    <a:schemeClr val="tx1">
                      <a:lumMod val="75000"/>
                      <a:lumOff val="25000"/>
                    </a:schemeClr>
                  </a:solidFill>
                  <a:cs typeface="+mn-ea"/>
                  <a:sym typeface="+mn-lt"/>
                </a:rPr>
                <a:t>稳态服务</a:t>
              </a:r>
              <a:r>
                <a:rPr lang="en-US" altLang="zh-CN" sz="2000" dirty="0">
                  <a:solidFill>
                    <a:schemeClr val="tx1">
                      <a:lumMod val="75000"/>
                      <a:lumOff val="25000"/>
                    </a:schemeClr>
                  </a:solidFill>
                  <a:cs typeface="+mn-ea"/>
                  <a:sym typeface="+mn-lt"/>
                </a:rPr>
                <a:t>28KQPS</a:t>
              </a:r>
              <a:endParaRPr lang="zh-CN" altLang="en-US" sz="2000" dirty="0">
                <a:solidFill>
                  <a:schemeClr val="tx1">
                    <a:lumMod val="75000"/>
                    <a:lumOff val="25000"/>
                  </a:schemeClr>
                </a:solidFill>
                <a:cs typeface="+mn-ea"/>
                <a:sym typeface="+mn-lt"/>
              </a:endParaRPr>
            </a:p>
          </p:txBody>
        </p:sp>
        <p:sp>
          <p:nvSpPr>
            <p:cNvPr id="22" name="图形"/>
            <p:cNvSpPr txBox="1"/>
            <p:nvPr/>
          </p:nvSpPr>
          <p:spPr>
            <a:xfrm>
              <a:off x="2365" y="8056"/>
              <a:ext cx="7005" cy="1377"/>
            </a:xfrm>
            <a:prstGeom prst="rect">
              <a:avLst/>
            </a:prstGeom>
            <a:noFill/>
          </p:spPr>
          <p:txBody>
            <a:bodyPr wrap="square" rtlCol="0">
              <a:spAutoFit/>
            </a:bodyPr>
            <a:lstStyle/>
            <a:p>
              <a:pPr>
                <a:lnSpc>
                  <a:spcPct val="150000"/>
                </a:lnSpc>
              </a:pPr>
              <a:r>
                <a:rPr lang="en-US" altLang="zh-CN" dirty="0"/>
                <a:t>med / p95 / p99</a:t>
              </a:r>
              <a:r>
                <a:rPr lang="zh-CN" altLang="en-US" dirty="0"/>
                <a:t>能控制在</a:t>
              </a:r>
              <a:r>
                <a:rPr lang="en-US" altLang="zh-CN" dirty="0"/>
                <a:t>0.69 / 26.01 / 64.81 </a:t>
              </a:r>
              <a:r>
                <a:rPr lang="en-US" altLang="zh-CN" dirty="0" err="1"/>
                <a:t>ms</a:t>
              </a:r>
              <a:endParaRPr lang="zh-CN" altLang="en-US" sz="1200" dirty="0">
                <a:solidFill>
                  <a:schemeClr val="tx1">
                    <a:lumMod val="75000"/>
                    <a:lumOff val="25000"/>
                  </a:schemeClr>
                </a:solidFill>
                <a:cs typeface="+mn-ea"/>
                <a:sym typeface="+mn-lt"/>
              </a:endParaRPr>
            </a:p>
          </p:txBody>
        </p:sp>
        <p:sp>
          <p:nvSpPr>
            <p:cNvPr id="23" name="图形"/>
            <p:cNvSpPr txBox="1"/>
            <p:nvPr/>
          </p:nvSpPr>
          <p:spPr>
            <a:xfrm>
              <a:off x="2402" y="7533"/>
              <a:ext cx="5594" cy="628"/>
            </a:xfrm>
            <a:prstGeom prst="rect">
              <a:avLst/>
            </a:prstGeom>
            <a:noFill/>
          </p:spPr>
          <p:txBody>
            <a:bodyPr wrap="square" rtlCol="0">
              <a:spAutoFit/>
            </a:bodyPr>
            <a:lstStyle/>
            <a:p>
              <a:pPr algn="l"/>
              <a:r>
                <a:rPr lang="zh-CN" altLang="en-US" sz="2000" dirty="0">
                  <a:solidFill>
                    <a:schemeClr val="tx1">
                      <a:lumMod val="75000"/>
                      <a:lumOff val="25000"/>
                    </a:schemeClr>
                  </a:solidFill>
                  <a:cs typeface="+mn-ea"/>
                  <a:sym typeface="+mn-lt"/>
                </a:rPr>
                <a:t>稳态下的高性能</a:t>
              </a:r>
            </a:p>
          </p:txBody>
        </p:sp>
      </p:grpSp>
      <p:sp>
        <p:nvSpPr>
          <p:cNvPr id="2" name="图形"/>
          <p:cNvSpPr txBox="1"/>
          <p:nvPr/>
        </p:nvSpPr>
        <p:spPr>
          <a:xfrm>
            <a:off x="1183005" y="562110"/>
            <a:ext cx="9047670" cy="700769"/>
          </a:xfrm>
          <a:prstGeom prst="rect">
            <a:avLst/>
          </a:prstGeom>
          <a:noFill/>
        </p:spPr>
        <p:txBody>
          <a:bodyPr wrap="none" rtlCol="0">
            <a:spAutoFit/>
          </a:bodyPr>
          <a:lstStyle/>
          <a:p>
            <a:pPr algn="ctr">
              <a:lnSpc>
                <a:spcPct val="120000"/>
              </a:lnSpc>
            </a:pPr>
            <a:r>
              <a:rPr lang="en-US" altLang="zh-CN" sz="3600" kern="0" dirty="0">
                <a:solidFill>
                  <a:schemeClr val="tx1">
                    <a:lumMod val="65000"/>
                    <a:lumOff val="35000"/>
                  </a:schemeClr>
                </a:solidFill>
                <a:cs typeface="+mn-ea"/>
                <a:sym typeface="+mn-lt"/>
              </a:rPr>
              <a:t>Docker </a:t>
            </a:r>
            <a:r>
              <a:rPr lang="zh-CN" altLang="en-US" sz="3600" kern="0" dirty="0">
                <a:solidFill>
                  <a:schemeClr val="tx1">
                    <a:lumMod val="65000"/>
                    <a:lumOff val="35000"/>
                  </a:schemeClr>
                </a:solidFill>
                <a:cs typeface="+mn-ea"/>
                <a:sym typeface="+mn-lt"/>
              </a:rPr>
              <a:t>内网单 </a:t>
            </a:r>
            <a:r>
              <a:rPr lang="en-US" altLang="zh-CN" sz="3600" kern="0" dirty="0">
                <a:solidFill>
                  <a:schemeClr val="tx1">
                    <a:lumMod val="65000"/>
                    <a:lumOff val="35000"/>
                  </a:schemeClr>
                </a:solidFill>
                <a:cs typeface="+mn-ea"/>
                <a:sym typeface="+mn-lt"/>
              </a:rPr>
              <a:t>Order-</a:t>
            </a:r>
            <a:r>
              <a:rPr lang="zh-CN" altLang="en-US" sz="3600" kern="0" dirty="0">
                <a:solidFill>
                  <a:schemeClr val="tx1">
                    <a:lumMod val="65000"/>
                    <a:lumOff val="35000"/>
                  </a:schemeClr>
                </a:solidFill>
                <a:cs typeface="+mn-ea"/>
                <a:sym typeface="+mn-lt"/>
              </a:rPr>
              <a:t>单实例最短链路测试</a:t>
            </a:r>
            <a:endParaRPr lang="en-US" altLang="zh-CN" sz="3600" kern="0" dirty="0">
              <a:solidFill>
                <a:schemeClr val="tx1">
                  <a:lumMod val="65000"/>
                  <a:lumOff val="35000"/>
                </a:schemeClr>
              </a:solidFill>
              <a:cs typeface="+mn-ea"/>
              <a:sym typeface="+mn-lt"/>
            </a:endParaRPr>
          </a:p>
        </p:txBody>
      </p:sp>
      <p:sp>
        <p:nvSpPr>
          <p:cNvPr id="25" name="图形"/>
          <p:cNvSpPr/>
          <p:nvPr/>
        </p:nvSpPr>
        <p:spPr>
          <a:xfrm>
            <a:off x="0" y="680085"/>
            <a:ext cx="939800" cy="535940"/>
          </a:xfrm>
          <a:prstGeom prst="rect">
            <a:avLst/>
          </a:prstGeom>
          <a:gradFill>
            <a:gsLst>
              <a:gs pos="0">
                <a:schemeClr val="accent2"/>
              </a:gs>
              <a:gs pos="91000">
                <a:schemeClr val="accent1"/>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图形"/>
          <p:cNvSpPr/>
          <p:nvPr/>
        </p:nvSpPr>
        <p:spPr>
          <a:xfrm>
            <a:off x="146685" y="651510"/>
            <a:ext cx="76200" cy="607060"/>
          </a:xfrm>
          <a:prstGeom prst="rect">
            <a:avLst/>
          </a:prstGeom>
          <a:solidFill>
            <a:schemeClr val="bg1"/>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图形"/>
          <p:cNvSpPr/>
          <p:nvPr/>
        </p:nvSpPr>
        <p:spPr>
          <a:xfrm>
            <a:off x="333375" y="608965"/>
            <a:ext cx="76200" cy="607060"/>
          </a:xfrm>
          <a:prstGeom prst="rect">
            <a:avLst/>
          </a:prstGeom>
          <a:solidFill>
            <a:schemeClr val="bg1"/>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5" name="图片 4">
            <a:extLst>
              <a:ext uri="{FF2B5EF4-FFF2-40B4-BE49-F238E27FC236}">
                <a16:creationId xmlns:a16="http://schemas.microsoft.com/office/drawing/2014/main" id="{A7DA18D7-F778-C2C3-CEE3-D4DE059961B7}"/>
              </a:ext>
            </a:extLst>
          </p:cNvPr>
          <p:cNvPicPr>
            <a:picLocks noChangeAspect="1"/>
          </p:cNvPicPr>
          <p:nvPr/>
        </p:nvPicPr>
        <p:blipFill>
          <a:blip r:embed="rId4"/>
          <a:stretch>
            <a:fillRect/>
          </a:stretch>
        </p:blipFill>
        <p:spPr>
          <a:xfrm>
            <a:off x="6360160" y="2810510"/>
            <a:ext cx="4850765" cy="2475593"/>
          </a:xfrm>
          <a:prstGeom prst="rect">
            <a:avLst/>
          </a:prstGeom>
        </p:spPr>
      </p:pic>
    </p:spTree>
    <p:custDataLst>
      <p:tags r:id="rId1"/>
    </p:custDataLst>
  </p:cSld>
  <p:clrMapOvr>
    <a:masterClrMapping/>
  </p:clrMapOvr>
  <p:transition>
    <p:wedg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62"/>
                                        </p:tgtEl>
                                        <p:attrNameLst>
                                          <p:attrName>style.visibility</p:attrName>
                                        </p:attrNameLst>
                                      </p:cBhvr>
                                      <p:to>
                                        <p:strVal val="visible"/>
                                      </p:to>
                                    </p:set>
                                    <p:animEffect transition="in" filter="blinds(horizontal)">
                                      <p:cBhvr>
                                        <p:cTn id="11"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p:bldP spid="62"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1107440" y="1860550"/>
            <a:ext cx="4775835" cy="3795395"/>
            <a:chOff x="1744" y="2930"/>
            <a:chExt cx="7521" cy="5977"/>
          </a:xfrm>
        </p:grpSpPr>
        <p:pic>
          <p:nvPicPr>
            <p:cNvPr id="24" name="图形" descr="C:/Users/Administrator/AppData/Local/Temp/picturecompress_20220208145452/output_1.jpgoutput_1"/>
            <p:cNvPicPr>
              <a:picLocks noChangeAspect="1"/>
            </p:cNvPicPr>
            <p:nvPr/>
          </p:nvPicPr>
          <p:blipFill rotWithShape="1">
            <a:blip r:embed="rId3" cstate="screen"/>
            <a:srcRect/>
            <a:stretch>
              <a:fillRect/>
            </a:stretch>
          </p:blipFill>
          <p:spPr>
            <a:xfrm>
              <a:off x="5164" y="2931"/>
              <a:ext cx="4100" cy="2734"/>
            </a:xfrm>
            <a:prstGeom prst="rect">
              <a:avLst/>
            </a:prstGeom>
          </p:spPr>
        </p:pic>
        <p:sp>
          <p:nvSpPr>
            <p:cNvPr id="25" name="图形"/>
            <p:cNvSpPr/>
            <p:nvPr/>
          </p:nvSpPr>
          <p:spPr>
            <a:xfrm>
              <a:off x="1744" y="2930"/>
              <a:ext cx="3413" cy="2735"/>
            </a:xfrm>
            <a:prstGeom prst="rect">
              <a:avLst/>
            </a:prstGeom>
            <a:gradFill>
              <a:gsLst>
                <a:gs pos="11000">
                  <a:schemeClr val="accent1"/>
                </a:gs>
                <a:gs pos="100000">
                  <a:schemeClr val="accent2"/>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cs typeface="+mn-ea"/>
                <a:sym typeface="+mn-lt"/>
              </a:endParaRPr>
            </a:p>
          </p:txBody>
        </p:sp>
        <p:sp>
          <p:nvSpPr>
            <p:cNvPr id="26" name="图形"/>
            <p:cNvSpPr/>
            <p:nvPr/>
          </p:nvSpPr>
          <p:spPr>
            <a:xfrm>
              <a:off x="1744" y="6009"/>
              <a:ext cx="7521" cy="1153"/>
            </a:xfrm>
            <a:prstGeom prst="rect">
              <a:avLst/>
            </a:prstGeom>
            <a:noFill/>
          </p:spPr>
          <p:txBody>
            <a:bodyPr wrap="square" lIns="0" tIns="0" rIns="0" bIns="0" rtlCol="0">
              <a:spAutoFit/>
            </a:bodyPr>
            <a:lstStyle/>
            <a:p>
              <a:pPr>
                <a:lnSpc>
                  <a:spcPct val="150000"/>
                </a:lnSpc>
              </a:pPr>
              <a:r>
                <a:rPr lang="en-US" altLang="zh-CN" sz="1100" dirty="0">
                  <a:solidFill>
                    <a:schemeClr val="tx1">
                      <a:lumMod val="75000"/>
                      <a:lumOff val="25000"/>
                    </a:schemeClr>
                  </a:solidFill>
                  <a:cs typeface="+mn-ea"/>
                  <a:sym typeface="+mn-lt"/>
                </a:rPr>
                <a:t>baseline</a:t>
              </a:r>
              <a:r>
                <a:rPr lang="zh-CN" altLang="en-US" sz="1100" dirty="0">
                  <a:solidFill>
                    <a:schemeClr val="tx1">
                      <a:lumMod val="75000"/>
                      <a:lumOff val="25000"/>
                    </a:schemeClr>
                  </a:solidFill>
                  <a:cs typeface="+mn-ea"/>
                  <a:sym typeface="+mn-lt"/>
                </a:rPr>
                <a:t>不支持</a:t>
              </a:r>
              <a:r>
                <a:rPr lang="en-US" altLang="zh-CN" sz="1100" dirty="0" err="1">
                  <a:solidFill>
                    <a:schemeClr val="tx1">
                      <a:lumMod val="75000"/>
                      <a:lumOff val="25000"/>
                    </a:schemeClr>
                  </a:solidFill>
                  <a:cs typeface="+mn-ea"/>
                  <a:sym typeface="+mn-lt"/>
                </a:rPr>
                <a:t>redis</a:t>
              </a:r>
              <a:r>
                <a:rPr lang="zh-CN" altLang="en-US" sz="1100" dirty="0">
                  <a:solidFill>
                    <a:schemeClr val="tx1">
                      <a:lumMod val="75000"/>
                      <a:lumOff val="25000"/>
                    </a:schemeClr>
                  </a:solidFill>
                  <a:cs typeface="+mn-ea"/>
                  <a:sym typeface="+mn-lt"/>
                </a:rPr>
                <a:t>多</a:t>
              </a:r>
              <a:r>
                <a:rPr lang="en-US" altLang="zh-CN" sz="1100" dirty="0">
                  <a:solidFill>
                    <a:schemeClr val="tx1">
                      <a:lumMod val="75000"/>
                      <a:lumOff val="25000"/>
                    </a:schemeClr>
                  </a:solidFill>
                  <a:cs typeface="+mn-ea"/>
                  <a:sym typeface="+mn-lt"/>
                </a:rPr>
                <a:t>slot</a:t>
              </a:r>
              <a:r>
                <a:rPr lang="zh-CN" altLang="en-US" sz="1100" dirty="0">
                  <a:solidFill>
                    <a:schemeClr val="tx1">
                      <a:lumMod val="75000"/>
                      <a:lumOff val="25000"/>
                    </a:schemeClr>
                  </a:solidFill>
                  <a:cs typeface="+mn-ea"/>
                  <a:sym typeface="+mn-lt"/>
                </a:rPr>
                <a:t>分流和</a:t>
              </a:r>
              <a:r>
                <a:rPr lang="en-US" altLang="zh-CN" sz="1100" dirty="0" err="1">
                  <a:solidFill>
                    <a:schemeClr val="tx1">
                      <a:lumMod val="75000"/>
                      <a:lumOff val="25000"/>
                    </a:schemeClr>
                  </a:solidFill>
                  <a:cs typeface="+mn-ea"/>
                  <a:sym typeface="+mn-lt"/>
                </a:rPr>
                <a:t>mq</a:t>
              </a:r>
              <a:r>
                <a:rPr lang="zh-CN" altLang="en-US" sz="1100" dirty="0">
                  <a:solidFill>
                    <a:schemeClr val="tx1">
                      <a:lumMod val="75000"/>
                      <a:lumOff val="25000"/>
                    </a:schemeClr>
                  </a:solidFill>
                  <a:cs typeface="+mn-ea"/>
                  <a:sym typeface="+mn-lt"/>
                </a:rPr>
                <a:t>的多</a:t>
              </a:r>
              <a:r>
                <a:rPr lang="en-US" altLang="zh-CN" sz="1100" dirty="0">
                  <a:solidFill>
                    <a:schemeClr val="tx1">
                      <a:lumMod val="75000"/>
                      <a:lumOff val="25000"/>
                    </a:schemeClr>
                  </a:solidFill>
                  <a:cs typeface="+mn-ea"/>
                  <a:sym typeface="+mn-lt"/>
                </a:rPr>
                <a:t>topic</a:t>
              </a:r>
              <a:r>
                <a:rPr lang="zh-CN" altLang="en-US" sz="1100" dirty="0">
                  <a:solidFill>
                    <a:schemeClr val="tx1">
                      <a:lumMod val="75000"/>
                      <a:lumOff val="25000"/>
                    </a:schemeClr>
                  </a:solidFill>
                  <a:cs typeface="+mn-ea"/>
                  <a:sym typeface="+mn-lt"/>
                </a:rPr>
                <a:t>分流</a:t>
              </a:r>
              <a:r>
                <a:rPr lang="en-US" altLang="zh-CN" sz="1100" dirty="0">
                  <a:solidFill>
                    <a:schemeClr val="tx1">
                      <a:lumMod val="75000"/>
                      <a:lumOff val="25000"/>
                    </a:schemeClr>
                  </a:solidFill>
                  <a:cs typeface="+mn-ea"/>
                  <a:sym typeface="+mn-lt"/>
                </a:rPr>
                <a:t>,</a:t>
              </a:r>
              <a:r>
                <a:rPr lang="zh-CN" altLang="en-US" sz="1100" dirty="0">
                  <a:solidFill>
                    <a:schemeClr val="tx1">
                      <a:lumMod val="75000"/>
                      <a:lumOff val="25000"/>
                    </a:schemeClr>
                  </a:solidFill>
                  <a:cs typeface="+mn-ea"/>
                  <a:sym typeface="+mn-lt"/>
                </a:rPr>
                <a:t>且</a:t>
              </a:r>
              <a:r>
                <a:rPr lang="en-US" altLang="zh-CN" sz="1100" dirty="0">
                  <a:solidFill>
                    <a:schemeClr val="tx1">
                      <a:lumMod val="75000"/>
                      <a:lumOff val="25000"/>
                    </a:schemeClr>
                  </a:solidFill>
                  <a:cs typeface="+mn-ea"/>
                  <a:sym typeface="+mn-lt"/>
                </a:rPr>
                <a:t>baseline</a:t>
              </a:r>
              <a:r>
                <a:rPr lang="zh-CN" altLang="en-US" sz="1100" dirty="0">
                  <a:solidFill>
                    <a:schemeClr val="tx1">
                      <a:lumMod val="75000"/>
                      <a:lumOff val="25000"/>
                    </a:schemeClr>
                  </a:solidFill>
                  <a:cs typeface="+mn-ea"/>
                  <a:sym typeface="+mn-lt"/>
                </a:rPr>
                <a:t>的</a:t>
              </a:r>
              <a:r>
                <a:rPr lang="en-US" altLang="zh-CN" sz="1100" dirty="0">
                  <a:solidFill>
                    <a:schemeClr val="tx1">
                      <a:lumMod val="75000"/>
                      <a:lumOff val="25000"/>
                    </a:schemeClr>
                  </a:solidFill>
                  <a:cs typeface="+mn-ea"/>
                  <a:sym typeface="+mn-lt"/>
                </a:rPr>
                <a:t>tomcat</a:t>
              </a:r>
              <a:r>
                <a:rPr lang="zh-CN" altLang="en-US" sz="1100" dirty="0">
                  <a:solidFill>
                    <a:schemeClr val="tx1">
                      <a:lumMod val="75000"/>
                      <a:lumOff val="25000"/>
                    </a:schemeClr>
                  </a:solidFill>
                  <a:cs typeface="+mn-ea"/>
                  <a:sym typeface="+mn-lt"/>
                </a:rPr>
                <a:t>线程池是同步阻塞的设计，</a:t>
              </a:r>
              <a:r>
                <a:rPr lang="en-US" altLang="zh-CN" sz="1100" dirty="0">
                  <a:solidFill>
                    <a:schemeClr val="tx1">
                      <a:lumMod val="75000"/>
                      <a:lumOff val="25000"/>
                    </a:schemeClr>
                  </a:solidFill>
                  <a:cs typeface="+mn-ea"/>
                  <a:sym typeface="+mn-lt"/>
                </a:rPr>
                <a:t>200 </a:t>
              </a:r>
              <a:r>
                <a:rPr lang="zh-CN" altLang="en-US" sz="1100" dirty="0">
                  <a:solidFill>
                    <a:schemeClr val="tx1">
                      <a:lumMod val="75000"/>
                      <a:lumOff val="25000"/>
                    </a:schemeClr>
                  </a:solidFill>
                  <a:cs typeface="+mn-ea"/>
                  <a:sym typeface="+mn-lt"/>
                </a:rPr>
                <a:t>个 </a:t>
              </a:r>
              <a:r>
                <a:rPr lang="en-US" altLang="zh-CN" sz="1100" dirty="0">
                  <a:solidFill>
                    <a:schemeClr val="tx1">
                      <a:lumMod val="75000"/>
                      <a:lumOff val="25000"/>
                    </a:schemeClr>
                  </a:solidFill>
                  <a:cs typeface="+mn-ea"/>
                  <a:sym typeface="+mn-lt"/>
                </a:rPr>
                <a:t>Tomcat </a:t>
              </a:r>
              <a:r>
                <a:rPr lang="zh-CN" altLang="en-US" sz="1100" dirty="0">
                  <a:solidFill>
                    <a:schemeClr val="tx1">
                      <a:lumMod val="75000"/>
                      <a:lumOff val="25000"/>
                    </a:schemeClr>
                  </a:solidFill>
                  <a:cs typeface="+mn-ea"/>
                  <a:sym typeface="+mn-lt"/>
                </a:rPr>
                <a:t>线程长期阻塞在 </a:t>
              </a:r>
              <a:r>
                <a:rPr lang="en-US" altLang="zh-CN" sz="1100" dirty="0">
                  <a:solidFill>
                    <a:schemeClr val="tx1">
                      <a:lumMod val="75000"/>
                      <a:lumOff val="25000"/>
                    </a:schemeClr>
                  </a:solidFill>
                  <a:cs typeface="+mn-ea"/>
                  <a:sym typeface="+mn-lt"/>
                </a:rPr>
                <a:t>Redis/MQ I/O </a:t>
              </a:r>
              <a:r>
                <a:rPr lang="zh-CN" altLang="en-US" sz="1100" dirty="0">
                  <a:solidFill>
                    <a:schemeClr val="tx1">
                      <a:lumMod val="75000"/>
                      <a:lumOff val="25000"/>
                    </a:schemeClr>
                  </a:solidFill>
                  <a:cs typeface="+mn-ea"/>
                  <a:sym typeface="+mn-lt"/>
                </a:rPr>
                <a:t>上 导致新请求在连接器层排队，因此面对同时涌入的海量流量效果不佳。</a:t>
              </a:r>
              <a:endParaRPr lang="zh-CN" altLang="en-US" sz="1100" dirty="0">
                <a:solidFill>
                  <a:schemeClr val="tx1">
                    <a:lumMod val="65000"/>
                    <a:lumOff val="35000"/>
                  </a:schemeClr>
                </a:solidFill>
                <a:cs typeface="+mn-ea"/>
                <a:sym typeface="+mn-lt"/>
              </a:endParaRPr>
            </a:p>
          </p:txBody>
        </p:sp>
        <p:sp>
          <p:nvSpPr>
            <p:cNvPr id="27" name="图形"/>
            <p:cNvSpPr txBox="1"/>
            <p:nvPr/>
          </p:nvSpPr>
          <p:spPr>
            <a:xfrm>
              <a:off x="2851" y="8035"/>
              <a:ext cx="4118" cy="872"/>
            </a:xfrm>
            <a:prstGeom prst="rect">
              <a:avLst/>
            </a:prstGeom>
            <a:noFill/>
          </p:spPr>
          <p:txBody>
            <a:bodyPr wrap="square" lIns="0" tIns="0" rIns="0" bIns="0" rtlCol="0" anchor="ctr">
              <a:spAutoFit/>
            </a:bodyPr>
            <a:lstStyle/>
            <a:p>
              <a:r>
                <a:rPr lang="en-US" altLang="zh-CN" sz="3600" b="1" dirty="0">
                  <a:gradFill>
                    <a:gsLst>
                      <a:gs pos="39000">
                        <a:schemeClr val="accent1"/>
                      </a:gs>
                      <a:gs pos="100000">
                        <a:schemeClr val="accent2"/>
                      </a:gs>
                    </a:gsLst>
                    <a:lin ang="5400000" scaled="0"/>
                  </a:gradFill>
                  <a:cs typeface="+mn-ea"/>
                  <a:sym typeface="+mn-lt"/>
                </a:rPr>
                <a:t>BASELINE</a:t>
              </a:r>
              <a:endParaRPr lang="en-US" sz="3600" b="1" dirty="0">
                <a:gradFill>
                  <a:gsLst>
                    <a:gs pos="39000">
                      <a:schemeClr val="accent1"/>
                    </a:gs>
                    <a:gs pos="100000">
                      <a:schemeClr val="accent2"/>
                    </a:gs>
                  </a:gsLst>
                  <a:lin ang="5400000" scaled="0"/>
                </a:gradFill>
                <a:cs typeface="+mn-ea"/>
                <a:sym typeface="+mn-lt"/>
              </a:endParaRPr>
            </a:p>
          </p:txBody>
        </p:sp>
        <p:sp>
          <p:nvSpPr>
            <p:cNvPr id="34" name="图形"/>
            <p:cNvSpPr>
              <a:spLocks noEditPoints="1"/>
            </p:cNvSpPr>
            <p:nvPr/>
          </p:nvSpPr>
          <p:spPr>
            <a:xfrm>
              <a:off x="2851" y="3387"/>
              <a:ext cx="1200" cy="1199"/>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55" h="55">
                  <a:moveTo>
                    <a:pt x="55" y="31"/>
                  </a:moveTo>
                  <a:cubicBezTo>
                    <a:pt x="55" y="32"/>
                    <a:pt x="54" y="33"/>
                    <a:pt x="54" y="33"/>
                  </a:cubicBezTo>
                  <a:cubicBezTo>
                    <a:pt x="47" y="34"/>
                    <a:pt x="47" y="34"/>
                    <a:pt x="47" y="34"/>
                  </a:cubicBezTo>
                  <a:cubicBezTo>
                    <a:pt x="47" y="35"/>
                    <a:pt x="46" y="36"/>
                    <a:pt x="46" y="37"/>
                  </a:cubicBezTo>
                  <a:cubicBezTo>
                    <a:pt x="47" y="39"/>
                    <a:pt x="48" y="40"/>
                    <a:pt x="49" y="42"/>
                  </a:cubicBezTo>
                  <a:cubicBezTo>
                    <a:pt x="50" y="42"/>
                    <a:pt x="50" y="42"/>
                    <a:pt x="50" y="43"/>
                  </a:cubicBezTo>
                  <a:cubicBezTo>
                    <a:pt x="50" y="43"/>
                    <a:pt x="50" y="43"/>
                    <a:pt x="49" y="44"/>
                  </a:cubicBezTo>
                  <a:cubicBezTo>
                    <a:pt x="49" y="45"/>
                    <a:pt x="44" y="50"/>
                    <a:pt x="43" y="50"/>
                  </a:cubicBezTo>
                  <a:cubicBezTo>
                    <a:pt x="42" y="50"/>
                    <a:pt x="42" y="50"/>
                    <a:pt x="42" y="50"/>
                  </a:cubicBezTo>
                  <a:cubicBezTo>
                    <a:pt x="37" y="46"/>
                    <a:pt x="37" y="46"/>
                    <a:pt x="37" y="46"/>
                  </a:cubicBezTo>
                  <a:cubicBezTo>
                    <a:pt x="36" y="46"/>
                    <a:pt x="35" y="47"/>
                    <a:pt x="33" y="47"/>
                  </a:cubicBezTo>
                  <a:cubicBezTo>
                    <a:pt x="33" y="49"/>
                    <a:pt x="33" y="52"/>
                    <a:pt x="32" y="54"/>
                  </a:cubicBezTo>
                  <a:cubicBezTo>
                    <a:pt x="32" y="54"/>
                    <a:pt x="32" y="55"/>
                    <a:pt x="31" y="55"/>
                  </a:cubicBezTo>
                  <a:cubicBezTo>
                    <a:pt x="23" y="55"/>
                    <a:pt x="23" y="55"/>
                    <a:pt x="23" y="55"/>
                  </a:cubicBezTo>
                  <a:cubicBezTo>
                    <a:pt x="23" y="55"/>
                    <a:pt x="22" y="54"/>
                    <a:pt x="22" y="54"/>
                  </a:cubicBezTo>
                  <a:cubicBezTo>
                    <a:pt x="21" y="47"/>
                    <a:pt x="21" y="47"/>
                    <a:pt x="21" y="47"/>
                  </a:cubicBezTo>
                  <a:cubicBezTo>
                    <a:pt x="20" y="47"/>
                    <a:pt x="19" y="46"/>
                    <a:pt x="18" y="46"/>
                  </a:cubicBezTo>
                  <a:cubicBezTo>
                    <a:pt x="13" y="50"/>
                    <a:pt x="13" y="50"/>
                    <a:pt x="13" y="50"/>
                  </a:cubicBezTo>
                  <a:cubicBezTo>
                    <a:pt x="12" y="50"/>
                    <a:pt x="12" y="50"/>
                    <a:pt x="12" y="50"/>
                  </a:cubicBezTo>
                  <a:cubicBezTo>
                    <a:pt x="11" y="50"/>
                    <a:pt x="11" y="50"/>
                    <a:pt x="11" y="50"/>
                  </a:cubicBezTo>
                  <a:cubicBezTo>
                    <a:pt x="9" y="48"/>
                    <a:pt x="7" y="46"/>
                    <a:pt x="5" y="44"/>
                  </a:cubicBezTo>
                  <a:cubicBezTo>
                    <a:pt x="5" y="43"/>
                    <a:pt x="5" y="43"/>
                    <a:pt x="5" y="43"/>
                  </a:cubicBezTo>
                  <a:cubicBezTo>
                    <a:pt x="5" y="42"/>
                    <a:pt x="5" y="42"/>
                    <a:pt x="5" y="42"/>
                  </a:cubicBezTo>
                  <a:cubicBezTo>
                    <a:pt x="6" y="40"/>
                    <a:pt x="8" y="39"/>
                    <a:pt x="9" y="37"/>
                  </a:cubicBezTo>
                  <a:cubicBezTo>
                    <a:pt x="8" y="36"/>
                    <a:pt x="8" y="35"/>
                    <a:pt x="7" y="33"/>
                  </a:cubicBezTo>
                  <a:cubicBezTo>
                    <a:pt x="1" y="33"/>
                    <a:pt x="1" y="33"/>
                    <a:pt x="1" y="33"/>
                  </a:cubicBezTo>
                  <a:cubicBezTo>
                    <a:pt x="0" y="32"/>
                    <a:pt x="0" y="32"/>
                    <a:pt x="0" y="31"/>
                  </a:cubicBezTo>
                  <a:cubicBezTo>
                    <a:pt x="0" y="23"/>
                    <a:pt x="0" y="23"/>
                    <a:pt x="0" y="23"/>
                  </a:cubicBezTo>
                  <a:cubicBezTo>
                    <a:pt x="0" y="23"/>
                    <a:pt x="0" y="22"/>
                    <a:pt x="1" y="22"/>
                  </a:cubicBezTo>
                  <a:cubicBezTo>
                    <a:pt x="7" y="21"/>
                    <a:pt x="7" y="21"/>
                    <a:pt x="7" y="21"/>
                  </a:cubicBezTo>
                  <a:cubicBezTo>
                    <a:pt x="8" y="20"/>
                    <a:pt x="8" y="19"/>
                    <a:pt x="9" y="18"/>
                  </a:cubicBezTo>
                  <a:cubicBezTo>
                    <a:pt x="8" y="16"/>
                    <a:pt x="6" y="14"/>
                    <a:pt x="5" y="13"/>
                  </a:cubicBezTo>
                  <a:cubicBezTo>
                    <a:pt x="5" y="13"/>
                    <a:pt x="5" y="12"/>
                    <a:pt x="5" y="12"/>
                  </a:cubicBezTo>
                  <a:cubicBezTo>
                    <a:pt x="5" y="12"/>
                    <a:pt x="5" y="11"/>
                    <a:pt x="5" y="11"/>
                  </a:cubicBezTo>
                  <a:cubicBezTo>
                    <a:pt x="6" y="10"/>
                    <a:pt x="11" y="5"/>
                    <a:pt x="12" y="5"/>
                  </a:cubicBezTo>
                  <a:cubicBezTo>
                    <a:pt x="12" y="5"/>
                    <a:pt x="12" y="5"/>
                    <a:pt x="13" y="5"/>
                  </a:cubicBezTo>
                  <a:cubicBezTo>
                    <a:pt x="18" y="9"/>
                    <a:pt x="18" y="9"/>
                    <a:pt x="18" y="9"/>
                  </a:cubicBezTo>
                  <a:cubicBezTo>
                    <a:pt x="19" y="8"/>
                    <a:pt x="20" y="8"/>
                    <a:pt x="21" y="8"/>
                  </a:cubicBezTo>
                  <a:cubicBezTo>
                    <a:pt x="21" y="5"/>
                    <a:pt x="21" y="3"/>
                    <a:pt x="22" y="1"/>
                  </a:cubicBezTo>
                  <a:cubicBezTo>
                    <a:pt x="22" y="0"/>
                    <a:pt x="23" y="0"/>
                    <a:pt x="23" y="0"/>
                  </a:cubicBezTo>
                  <a:cubicBezTo>
                    <a:pt x="31" y="0"/>
                    <a:pt x="31" y="0"/>
                    <a:pt x="31" y="0"/>
                  </a:cubicBezTo>
                  <a:cubicBezTo>
                    <a:pt x="32" y="0"/>
                    <a:pt x="32" y="0"/>
                    <a:pt x="32" y="1"/>
                  </a:cubicBezTo>
                  <a:cubicBezTo>
                    <a:pt x="33" y="8"/>
                    <a:pt x="33" y="8"/>
                    <a:pt x="33" y="8"/>
                  </a:cubicBezTo>
                  <a:cubicBezTo>
                    <a:pt x="35" y="8"/>
                    <a:pt x="36" y="8"/>
                    <a:pt x="37" y="9"/>
                  </a:cubicBezTo>
                  <a:cubicBezTo>
                    <a:pt x="42" y="5"/>
                    <a:pt x="42" y="5"/>
                    <a:pt x="42" y="5"/>
                  </a:cubicBezTo>
                  <a:cubicBezTo>
                    <a:pt x="42" y="5"/>
                    <a:pt x="42" y="5"/>
                    <a:pt x="43" y="5"/>
                  </a:cubicBezTo>
                  <a:cubicBezTo>
                    <a:pt x="43" y="5"/>
                    <a:pt x="43" y="5"/>
                    <a:pt x="43" y="5"/>
                  </a:cubicBezTo>
                  <a:cubicBezTo>
                    <a:pt x="45" y="7"/>
                    <a:pt x="48" y="9"/>
                    <a:pt x="49" y="11"/>
                  </a:cubicBezTo>
                  <a:cubicBezTo>
                    <a:pt x="50" y="11"/>
                    <a:pt x="50" y="12"/>
                    <a:pt x="50" y="12"/>
                  </a:cubicBezTo>
                  <a:cubicBezTo>
                    <a:pt x="50" y="12"/>
                    <a:pt x="49" y="13"/>
                    <a:pt x="49" y="13"/>
                  </a:cubicBezTo>
                  <a:cubicBezTo>
                    <a:pt x="48" y="14"/>
                    <a:pt x="47" y="16"/>
                    <a:pt x="46" y="18"/>
                  </a:cubicBezTo>
                  <a:cubicBezTo>
                    <a:pt x="46" y="19"/>
                    <a:pt x="47" y="20"/>
                    <a:pt x="47" y="21"/>
                  </a:cubicBezTo>
                  <a:cubicBezTo>
                    <a:pt x="54" y="22"/>
                    <a:pt x="54" y="22"/>
                    <a:pt x="54" y="22"/>
                  </a:cubicBezTo>
                  <a:cubicBezTo>
                    <a:pt x="54" y="22"/>
                    <a:pt x="55" y="23"/>
                    <a:pt x="55" y="23"/>
                  </a:cubicBezTo>
                  <a:lnTo>
                    <a:pt x="55" y="31"/>
                  </a:lnTo>
                  <a:close/>
                  <a:moveTo>
                    <a:pt x="27" y="18"/>
                  </a:moveTo>
                  <a:cubicBezTo>
                    <a:pt x="22" y="18"/>
                    <a:pt x="18" y="22"/>
                    <a:pt x="18" y="27"/>
                  </a:cubicBezTo>
                  <a:cubicBezTo>
                    <a:pt x="18" y="32"/>
                    <a:pt x="22" y="36"/>
                    <a:pt x="27" y="36"/>
                  </a:cubicBezTo>
                  <a:cubicBezTo>
                    <a:pt x="32" y="36"/>
                    <a:pt x="36" y="32"/>
                    <a:pt x="36" y="27"/>
                  </a:cubicBezTo>
                  <a:cubicBezTo>
                    <a:pt x="36" y="22"/>
                    <a:pt x="32" y="18"/>
                    <a:pt x="27" y="18"/>
                  </a:cubicBezTo>
                  <a:close/>
                </a:path>
              </a:pathLst>
            </a:custGeom>
            <a:solidFill>
              <a:srgbClr val="FFFFFF">
                <a:alpha val="100000"/>
              </a:srgbClr>
            </a:solidFill>
            <a:ln w="9525">
              <a:noFill/>
            </a:ln>
          </p:spPr>
          <p:txBody>
            <a:bodyPr/>
            <a:lstStyle/>
            <a:p>
              <a:endParaRPr lang="zh-CN" altLang="en-US">
                <a:cs typeface="+mn-ea"/>
                <a:sym typeface="+mn-lt"/>
              </a:endParaRPr>
            </a:p>
          </p:txBody>
        </p:sp>
        <p:sp>
          <p:nvSpPr>
            <p:cNvPr id="41" name="图形"/>
            <p:cNvSpPr txBox="1"/>
            <p:nvPr/>
          </p:nvSpPr>
          <p:spPr>
            <a:xfrm>
              <a:off x="2103" y="4705"/>
              <a:ext cx="2688" cy="628"/>
            </a:xfrm>
            <a:prstGeom prst="rect">
              <a:avLst/>
            </a:prstGeom>
            <a:noFill/>
          </p:spPr>
          <p:txBody>
            <a:bodyPr wrap="none" rtlCol="0">
              <a:spAutoFit/>
            </a:bodyPr>
            <a:lstStyle/>
            <a:p>
              <a:r>
                <a:rPr lang="zh-CN" altLang="en-US" sz="2000">
                  <a:solidFill>
                    <a:schemeClr val="bg1"/>
                  </a:solidFill>
                  <a:cs typeface="+mn-ea"/>
                  <a:sym typeface="+mn-lt"/>
                </a:rPr>
                <a:t>预设标题文本</a:t>
              </a:r>
            </a:p>
          </p:txBody>
        </p:sp>
      </p:grpSp>
      <p:grpSp>
        <p:nvGrpSpPr>
          <p:cNvPr id="7" name="组合 6"/>
          <p:cNvGrpSpPr/>
          <p:nvPr/>
        </p:nvGrpSpPr>
        <p:grpSpPr>
          <a:xfrm>
            <a:off x="6384290" y="1860550"/>
            <a:ext cx="5259070" cy="3743960"/>
            <a:chOff x="10054" y="2930"/>
            <a:chExt cx="8282" cy="5896"/>
          </a:xfrm>
        </p:grpSpPr>
        <p:sp>
          <p:nvSpPr>
            <p:cNvPr id="30" name="图形"/>
            <p:cNvSpPr/>
            <p:nvPr/>
          </p:nvSpPr>
          <p:spPr>
            <a:xfrm>
              <a:off x="10054" y="2930"/>
              <a:ext cx="3413" cy="2735"/>
            </a:xfrm>
            <a:prstGeom prst="rect">
              <a:avLst/>
            </a:prstGeom>
            <a:gradFill>
              <a:gsLst>
                <a:gs pos="11000">
                  <a:schemeClr val="accent1"/>
                </a:gs>
                <a:gs pos="100000">
                  <a:schemeClr val="accent2"/>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cs typeface="+mn-ea"/>
                <a:sym typeface="+mn-lt"/>
              </a:endParaRPr>
            </a:p>
          </p:txBody>
        </p:sp>
        <p:sp>
          <p:nvSpPr>
            <p:cNvPr id="31" name="图形"/>
            <p:cNvSpPr/>
            <p:nvPr/>
          </p:nvSpPr>
          <p:spPr>
            <a:xfrm>
              <a:off x="10056" y="6009"/>
              <a:ext cx="7521" cy="1153"/>
            </a:xfrm>
            <a:prstGeom prst="rect">
              <a:avLst/>
            </a:prstGeom>
            <a:noFill/>
          </p:spPr>
          <p:txBody>
            <a:bodyPr wrap="square" lIns="0" tIns="0" rIns="0" bIns="0" rtlCol="0">
              <a:spAutoFit/>
            </a:bodyPr>
            <a:lstStyle/>
            <a:p>
              <a:pPr>
                <a:lnSpc>
                  <a:spcPct val="150000"/>
                </a:lnSpc>
              </a:pPr>
              <a:r>
                <a:rPr lang="zh-CN" altLang="zh-CN" sz="1100" dirty="0"/>
                <a:t>order不仅有分流，还有事务保障</a:t>
              </a:r>
              <a:r>
                <a:rPr lang="zh-CN" altLang="en-US" sz="1100" dirty="0"/>
                <a:t>，能确保高压下的可靠性。且</a:t>
              </a:r>
              <a:r>
                <a:rPr lang="en-US" altLang="zh-CN" sz="1100" dirty="0"/>
                <a:t>Order</a:t>
              </a:r>
              <a:r>
                <a:rPr lang="zh-CN" altLang="en-US" sz="1100" dirty="0"/>
                <a:t>的</a:t>
              </a:r>
              <a:r>
                <a:rPr lang="en-US" altLang="zh-CN" sz="1100" dirty="0"/>
                <a:t>tomcat</a:t>
              </a:r>
              <a:r>
                <a:rPr lang="zh-CN" altLang="en-US" sz="1100" dirty="0"/>
                <a:t>线程池实现异步卸载，</a:t>
              </a:r>
              <a:r>
                <a:rPr lang="en-US" altLang="zh-CN" sz="1100" dirty="0"/>
                <a:t>Tomcat </a:t>
              </a:r>
              <a:r>
                <a:rPr lang="zh-CN" altLang="en-US" sz="1100" dirty="0"/>
                <a:t>只负责接入和调度，阻塞 </a:t>
              </a:r>
              <a:r>
                <a:rPr lang="en-US" altLang="zh-CN" sz="1100" dirty="0"/>
                <a:t>I/O </a:t>
              </a:r>
              <a:r>
                <a:rPr lang="zh-CN" altLang="en-US" sz="1100" dirty="0"/>
                <a:t>在独立线程池，排队极短。</a:t>
              </a:r>
              <a:endParaRPr lang="zh-CN" altLang="en-US" sz="1100" dirty="0">
                <a:solidFill>
                  <a:schemeClr val="tx1">
                    <a:lumMod val="65000"/>
                    <a:lumOff val="35000"/>
                  </a:schemeClr>
                </a:solidFill>
                <a:cs typeface="+mn-ea"/>
                <a:sym typeface="+mn-lt"/>
              </a:endParaRPr>
            </a:p>
          </p:txBody>
        </p:sp>
        <p:sp>
          <p:nvSpPr>
            <p:cNvPr id="32" name="图形"/>
            <p:cNvSpPr txBox="1"/>
            <p:nvPr/>
          </p:nvSpPr>
          <p:spPr>
            <a:xfrm>
              <a:off x="12686" y="7954"/>
              <a:ext cx="5650" cy="872"/>
            </a:xfrm>
            <a:prstGeom prst="rect">
              <a:avLst/>
            </a:prstGeom>
            <a:noFill/>
          </p:spPr>
          <p:txBody>
            <a:bodyPr wrap="square" lIns="0" tIns="0" rIns="0" bIns="0" rtlCol="0" anchor="ctr">
              <a:spAutoFit/>
            </a:bodyPr>
            <a:lstStyle/>
            <a:p>
              <a:r>
                <a:rPr lang="en-US" altLang="zh-CN" sz="3600" b="1" dirty="0">
                  <a:gradFill>
                    <a:gsLst>
                      <a:gs pos="39000">
                        <a:schemeClr val="accent1"/>
                      </a:gs>
                      <a:gs pos="100000">
                        <a:schemeClr val="accent2"/>
                      </a:gs>
                    </a:gsLst>
                    <a:lin ang="5400000" scaled="0"/>
                  </a:gradFill>
                  <a:cs typeface="+mn-ea"/>
                  <a:sym typeface="+mn-lt"/>
                </a:rPr>
                <a:t>ORDER</a:t>
              </a:r>
              <a:endParaRPr lang="en-US" sz="3600" b="1" dirty="0">
                <a:gradFill>
                  <a:gsLst>
                    <a:gs pos="39000">
                      <a:schemeClr val="accent1"/>
                    </a:gs>
                    <a:gs pos="100000">
                      <a:schemeClr val="accent2"/>
                    </a:gs>
                  </a:gsLst>
                  <a:lin ang="5400000" scaled="0"/>
                </a:gradFill>
                <a:cs typeface="+mn-ea"/>
                <a:sym typeface="+mn-lt"/>
              </a:endParaRPr>
            </a:p>
          </p:txBody>
        </p:sp>
        <p:sp>
          <p:nvSpPr>
            <p:cNvPr id="35" name="图形"/>
            <p:cNvSpPr>
              <a:spLocks noEditPoints="1"/>
            </p:cNvSpPr>
            <p:nvPr/>
          </p:nvSpPr>
          <p:spPr>
            <a:xfrm>
              <a:off x="11151" y="3387"/>
              <a:ext cx="1219" cy="1059"/>
            </a:xfrm>
            <a:custGeom>
              <a:avLst/>
              <a:gdLst/>
              <a:ahLst/>
              <a:cxnLst>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0"/>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73" h="63">
                  <a:moveTo>
                    <a:pt x="73" y="19"/>
                  </a:moveTo>
                  <a:cubicBezTo>
                    <a:pt x="73" y="53"/>
                    <a:pt x="73" y="53"/>
                    <a:pt x="73" y="53"/>
                  </a:cubicBezTo>
                  <a:cubicBezTo>
                    <a:pt x="73" y="58"/>
                    <a:pt x="69" y="63"/>
                    <a:pt x="64" y="63"/>
                  </a:cubicBezTo>
                  <a:cubicBezTo>
                    <a:pt x="10" y="63"/>
                    <a:pt x="10" y="63"/>
                    <a:pt x="10" y="63"/>
                  </a:cubicBezTo>
                  <a:cubicBezTo>
                    <a:pt x="5" y="63"/>
                    <a:pt x="0" y="58"/>
                    <a:pt x="0" y="53"/>
                  </a:cubicBezTo>
                  <a:cubicBezTo>
                    <a:pt x="0" y="19"/>
                    <a:pt x="0" y="19"/>
                    <a:pt x="0" y="19"/>
                  </a:cubicBezTo>
                  <a:cubicBezTo>
                    <a:pt x="0" y="14"/>
                    <a:pt x="5" y="9"/>
                    <a:pt x="10" y="9"/>
                  </a:cubicBezTo>
                  <a:cubicBezTo>
                    <a:pt x="19" y="9"/>
                    <a:pt x="19" y="9"/>
                    <a:pt x="19" y="9"/>
                  </a:cubicBezTo>
                  <a:cubicBezTo>
                    <a:pt x="21" y="4"/>
                    <a:pt x="21" y="4"/>
                    <a:pt x="21" y="4"/>
                  </a:cubicBezTo>
                  <a:cubicBezTo>
                    <a:pt x="22" y="2"/>
                    <a:pt x="25" y="0"/>
                    <a:pt x="27" y="0"/>
                  </a:cubicBezTo>
                  <a:cubicBezTo>
                    <a:pt x="47" y="0"/>
                    <a:pt x="47" y="0"/>
                    <a:pt x="47" y="0"/>
                  </a:cubicBezTo>
                  <a:cubicBezTo>
                    <a:pt x="49" y="0"/>
                    <a:pt x="52" y="2"/>
                    <a:pt x="53" y="4"/>
                  </a:cubicBezTo>
                  <a:cubicBezTo>
                    <a:pt x="55" y="9"/>
                    <a:pt x="55" y="9"/>
                    <a:pt x="55" y="9"/>
                  </a:cubicBezTo>
                  <a:cubicBezTo>
                    <a:pt x="64" y="9"/>
                    <a:pt x="64" y="9"/>
                    <a:pt x="64" y="9"/>
                  </a:cubicBezTo>
                  <a:cubicBezTo>
                    <a:pt x="69" y="9"/>
                    <a:pt x="73" y="14"/>
                    <a:pt x="73" y="19"/>
                  </a:cubicBezTo>
                  <a:close/>
                  <a:moveTo>
                    <a:pt x="54" y="36"/>
                  </a:moveTo>
                  <a:cubicBezTo>
                    <a:pt x="54" y="27"/>
                    <a:pt x="46" y="19"/>
                    <a:pt x="37" y="19"/>
                  </a:cubicBezTo>
                  <a:cubicBezTo>
                    <a:pt x="28" y="19"/>
                    <a:pt x="20" y="27"/>
                    <a:pt x="20" y="36"/>
                  </a:cubicBezTo>
                  <a:cubicBezTo>
                    <a:pt x="20" y="46"/>
                    <a:pt x="28" y="53"/>
                    <a:pt x="37" y="53"/>
                  </a:cubicBezTo>
                  <a:cubicBezTo>
                    <a:pt x="46" y="53"/>
                    <a:pt x="54" y="46"/>
                    <a:pt x="54" y="36"/>
                  </a:cubicBezTo>
                  <a:close/>
                  <a:moveTo>
                    <a:pt x="48" y="36"/>
                  </a:moveTo>
                  <a:cubicBezTo>
                    <a:pt x="48" y="42"/>
                    <a:pt x="43" y="47"/>
                    <a:pt x="37" y="47"/>
                  </a:cubicBezTo>
                  <a:cubicBezTo>
                    <a:pt x="31" y="47"/>
                    <a:pt x="26" y="42"/>
                    <a:pt x="26" y="36"/>
                  </a:cubicBezTo>
                  <a:cubicBezTo>
                    <a:pt x="26" y="30"/>
                    <a:pt x="31" y="25"/>
                    <a:pt x="37" y="25"/>
                  </a:cubicBezTo>
                  <a:cubicBezTo>
                    <a:pt x="43" y="25"/>
                    <a:pt x="48" y="30"/>
                    <a:pt x="48" y="36"/>
                  </a:cubicBezTo>
                  <a:close/>
                </a:path>
              </a:pathLst>
            </a:custGeom>
            <a:solidFill>
              <a:srgbClr val="FFFFFF">
                <a:alpha val="100000"/>
              </a:srgbClr>
            </a:solidFill>
            <a:ln w="9525">
              <a:noFill/>
            </a:ln>
          </p:spPr>
          <p:txBody>
            <a:bodyPr/>
            <a:lstStyle/>
            <a:p>
              <a:endParaRPr lang="zh-CN" altLang="en-US">
                <a:cs typeface="+mn-ea"/>
                <a:sym typeface="+mn-lt"/>
              </a:endParaRPr>
            </a:p>
          </p:txBody>
        </p:sp>
        <p:sp>
          <p:nvSpPr>
            <p:cNvPr id="42" name="图形"/>
            <p:cNvSpPr txBox="1"/>
            <p:nvPr/>
          </p:nvSpPr>
          <p:spPr>
            <a:xfrm>
              <a:off x="10412" y="4705"/>
              <a:ext cx="2688" cy="628"/>
            </a:xfrm>
            <a:prstGeom prst="rect">
              <a:avLst/>
            </a:prstGeom>
            <a:noFill/>
          </p:spPr>
          <p:txBody>
            <a:bodyPr wrap="none" rtlCol="0">
              <a:spAutoFit/>
            </a:bodyPr>
            <a:lstStyle/>
            <a:p>
              <a:r>
                <a:rPr lang="zh-CN" altLang="en-US" sz="2000">
                  <a:solidFill>
                    <a:schemeClr val="bg1"/>
                  </a:solidFill>
                  <a:cs typeface="+mn-ea"/>
                  <a:sym typeface="+mn-lt"/>
                </a:rPr>
                <a:t>预设标题文本</a:t>
              </a:r>
            </a:p>
          </p:txBody>
        </p:sp>
      </p:grpSp>
      <p:sp>
        <p:nvSpPr>
          <p:cNvPr id="5" name="图形"/>
          <p:cNvSpPr txBox="1"/>
          <p:nvPr/>
        </p:nvSpPr>
        <p:spPr>
          <a:xfrm>
            <a:off x="939800" y="589329"/>
            <a:ext cx="5043112" cy="646331"/>
          </a:xfrm>
          <a:prstGeom prst="rect">
            <a:avLst/>
          </a:prstGeom>
          <a:noFill/>
        </p:spPr>
        <p:txBody>
          <a:bodyPr wrap="none" rtlCol="0">
            <a:spAutoFit/>
          </a:bodyPr>
          <a:lstStyle/>
          <a:p>
            <a:pPr algn="ctr"/>
            <a:r>
              <a:rPr lang="en-US" altLang="zh-CN" sz="3600" noProof="0" dirty="0">
                <a:ln>
                  <a:noFill/>
                </a:ln>
                <a:solidFill>
                  <a:schemeClr val="tx1">
                    <a:lumMod val="75000"/>
                    <a:lumOff val="25000"/>
                  </a:schemeClr>
                </a:solidFill>
                <a:effectLst/>
                <a:uLnTx/>
                <a:uFillTx/>
                <a:cs typeface="+mn-ea"/>
                <a:sym typeface="+mn-lt"/>
              </a:rPr>
              <a:t>Order VS Baseline</a:t>
            </a:r>
            <a:r>
              <a:rPr lang="zh-CN" altLang="en-US" sz="3600" noProof="0" dirty="0">
                <a:ln>
                  <a:noFill/>
                </a:ln>
                <a:solidFill>
                  <a:schemeClr val="tx1">
                    <a:lumMod val="75000"/>
                    <a:lumOff val="25000"/>
                  </a:schemeClr>
                </a:solidFill>
                <a:effectLst/>
                <a:uLnTx/>
                <a:uFillTx/>
                <a:cs typeface="+mn-ea"/>
                <a:sym typeface="+mn-lt"/>
              </a:rPr>
              <a:t>对照</a:t>
            </a:r>
          </a:p>
        </p:txBody>
      </p:sp>
      <p:sp>
        <p:nvSpPr>
          <p:cNvPr id="2" name="图形"/>
          <p:cNvSpPr/>
          <p:nvPr/>
        </p:nvSpPr>
        <p:spPr>
          <a:xfrm>
            <a:off x="0" y="680085"/>
            <a:ext cx="939800" cy="535940"/>
          </a:xfrm>
          <a:prstGeom prst="rect">
            <a:avLst/>
          </a:prstGeom>
          <a:gradFill>
            <a:gsLst>
              <a:gs pos="0">
                <a:schemeClr val="accent2"/>
              </a:gs>
              <a:gs pos="91000">
                <a:schemeClr val="accent1"/>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图形"/>
          <p:cNvSpPr/>
          <p:nvPr/>
        </p:nvSpPr>
        <p:spPr>
          <a:xfrm>
            <a:off x="146685" y="651510"/>
            <a:ext cx="76200" cy="607060"/>
          </a:xfrm>
          <a:prstGeom prst="rect">
            <a:avLst/>
          </a:prstGeom>
          <a:solidFill>
            <a:schemeClr val="bg1"/>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图形"/>
          <p:cNvSpPr/>
          <p:nvPr/>
        </p:nvSpPr>
        <p:spPr>
          <a:xfrm>
            <a:off x="333375" y="608965"/>
            <a:ext cx="76200" cy="607060"/>
          </a:xfrm>
          <a:prstGeom prst="rect">
            <a:avLst/>
          </a:prstGeom>
          <a:solidFill>
            <a:schemeClr val="bg1"/>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9" name="图片 8">
            <a:extLst>
              <a:ext uri="{FF2B5EF4-FFF2-40B4-BE49-F238E27FC236}">
                <a16:creationId xmlns:a16="http://schemas.microsoft.com/office/drawing/2014/main" id="{2EB23337-87A8-F354-2FAB-A675621648D1}"/>
              </a:ext>
            </a:extLst>
          </p:cNvPr>
          <p:cNvPicPr>
            <a:picLocks noChangeAspect="1"/>
          </p:cNvPicPr>
          <p:nvPr/>
        </p:nvPicPr>
        <p:blipFill>
          <a:blip r:embed="rId4"/>
          <a:stretch>
            <a:fillRect/>
          </a:stretch>
        </p:blipFill>
        <p:spPr>
          <a:xfrm>
            <a:off x="6381750" y="1209675"/>
            <a:ext cx="4707431" cy="2508159"/>
          </a:xfrm>
          <a:prstGeom prst="rect">
            <a:avLst/>
          </a:prstGeom>
        </p:spPr>
      </p:pic>
      <p:pic>
        <p:nvPicPr>
          <p:cNvPr id="11" name="图片 10">
            <a:extLst>
              <a:ext uri="{FF2B5EF4-FFF2-40B4-BE49-F238E27FC236}">
                <a16:creationId xmlns:a16="http://schemas.microsoft.com/office/drawing/2014/main" id="{929C14D8-D787-3080-9D02-C866A9E65F5E}"/>
              </a:ext>
            </a:extLst>
          </p:cNvPr>
          <p:cNvPicPr>
            <a:picLocks noChangeAspect="1"/>
          </p:cNvPicPr>
          <p:nvPr/>
        </p:nvPicPr>
        <p:blipFill>
          <a:blip r:embed="rId5"/>
          <a:stretch>
            <a:fillRect/>
          </a:stretch>
        </p:blipFill>
        <p:spPr>
          <a:xfrm>
            <a:off x="1050290" y="1202250"/>
            <a:ext cx="4973792" cy="2515583"/>
          </a:xfrm>
          <a:prstGeom prst="rect">
            <a:avLst/>
          </a:prstGeom>
        </p:spPr>
      </p:pic>
      <p:sp>
        <p:nvSpPr>
          <p:cNvPr id="13" name="文本框 12">
            <a:extLst>
              <a:ext uri="{FF2B5EF4-FFF2-40B4-BE49-F238E27FC236}">
                <a16:creationId xmlns:a16="http://schemas.microsoft.com/office/drawing/2014/main" id="{9D36E215-4511-0254-A1A4-952DD70694B3}"/>
              </a:ext>
            </a:extLst>
          </p:cNvPr>
          <p:cNvSpPr txBox="1"/>
          <p:nvPr/>
        </p:nvSpPr>
        <p:spPr>
          <a:xfrm>
            <a:off x="0" y="5604273"/>
            <a:ext cx="8055429" cy="461665"/>
          </a:xfrm>
          <a:prstGeom prst="rect">
            <a:avLst/>
          </a:prstGeom>
          <a:noFill/>
        </p:spPr>
        <p:txBody>
          <a:bodyPr wrap="square">
            <a:spAutoFit/>
          </a:bodyPr>
          <a:lstStyle/>
          <a:p>
            <a:r>
              <a:rPr lang="zh-CN" altLang="en-US" sz="1200" dirty="0"/>
              <a:t>k6 → Tomcat 线程 → Redis Lua → MQ convertAndSend(等 ACK) → 返回</a:t>
            </a:r>
            <a:endParaRPr lang="en-US" altLang="zh-CN" sz="1200" dirty="0"/>
          </a:p>
          <a:p>
            <a:r>
              <a:rPr lang="zh-CN" altLang="en-US" sz="1200" dirty="0"/>
              <a:t>            └─ 整条链路占住一个 Tomcat 工作线程 ─┘</a:t>
            </a:r>
          </a:p>
        </p:txBody>
      </p:sp>
      <p:sp>
        <p:nvSpPr>
          <p:cNvPr id="15" name="文本框 14">
            <a:extLst>
              <a:ext uri="{FF2B5EF4-FFF2-40B4-BE49-F238E27FC236}">
                <a16:creationId xmlns:a16="http://schemas.microsoft.com/office/drawing/2014/main" id="{8F2A51E9-E836-A7B4-F1EB-0D8D8AD6E07C}"/>
              </a:ext>
            </a:extLst>
          </p:cNvPr>
          <p:cNvSpPr txBox="1"/>
          <p:nvPr/>
        </p:nvSpPr>
        <p:spPr>
          <a:xfrm>
            <a:off x="5312229" y="5627440"/>
            <a:ext cx="7184571" cy="461665"/>
          </a:xfrm>
          <a:prstGeom prst="rect">
            <a:avLst/>
          </a:prstGeom>
          <a:noFill/>
        </p:spPr>
        <p:txBody>
          <a:bodyPr wrap="square">
            <a:spAutoFit/>
          </a:bodyPr>
          <a:lstStyle/>
          <a:p>
            <a:r>
              <a:rPr lang="zh-CN" altLang="en-US" sz="1200" dirty="0"/>
              <a:t>k6 → Tomcat 快速接请求 → 业务线程池(20~50) → 半消息 + Redis Lua + endTransaction → 返回     </a:t>
            </a:r>
            <a:endParaRPr lang="en-US" altLang="zh-CN" sz="1200" dirty="0"/>
          </a:p>
          <a:p>
            <a:r>
              <a:rPr lang="en-US" altLang="zh-CN" sz="1200" dirty="0"/>
              <a:t>                 </a:t>
            </a:r>
            <a:r>
              <a:rPr lang="zh-CN" altLang="en-US" sz="1200" dirty="0"/>
              <a:t>└─ Tomcat 线程很快释放 ─┘</a:t>
            </a:r>
          </a:p>
        </p:txBody>
      </p:sp>
    </p:spTree>
    <p:custDataLst>
      <p:tags r:id="rId1"/>
    </p:custDataLst>
  </p:cSld>
  <p:clrMapOvr>
    <a:masterClrMapping/>
  </p:clrMapOvr>
  <p:transition>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6"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Horizontal)">
                                      <p:cBhvr>
                                        <p:cTn id="7" dur="500"/>
                                        <p:tgtEl>
                                          <p:spTgt spid="6"/>
                                        </p:tgtEl>
                                      </p:cBhvr>
                                    </p:animEffect>
                                  </p:childTnLst>
                                </p:cTn>
                              </p:par>
                            </p:childTnLst>
                          </p:cTn>
                        </p:par>
                        <p:par>
                          <p:cTn id="8" fill="hold">
                            <p:stCondLst>
                              <p:cond delay="500"/>
                            </p:stCondLst>
                            <p:childTnLst>
                              <p:par>
                                <p:cTn id="9" presetID="16" presetClass="entr" presetSubtype="26"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barn(inHorizontal)">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A4CBD-CA04-D97B-610F-9ED8FC24B855}"/>
            </a:ext>
          </a:extLst>
        </p:cNvPr>
        <p:cNvGrpSpPr/>
        <p:nvPr/>
      </p:nvGrpSpPr>
      <p:grpSpPr>
        <a:xfrm>
          <a:off x="0" y="0"/>
          <a:ext cx="0" cy="0"/>
          <a:chOff x="0" y="0"/>
          <a:chExt cx="0" cy="0"/>
        </a:xfrm>
      </p:grpSpPr>
      <p:sp>
        <p:nvSpPr>
          <p:cNvPr id="153" name="图形">
            <a:extLst>
              <a:ext uri="{FF2B5EF4-FFF2-40B4-BE49-F238E27FC236}">
                <a16:creationId xmlns:a16="http://schemas.microsoft.com/office/drawing/2014/main" id="{344049C1-E8C1-5748-5413-3EDFAA6A1C98}"/>
              </a:ext>
            </a:extLst>
          </p:cNvPr>
          <p:cNvSpPr/>
          <p:nvPr/>
        </p:nvSpPr>
        <p:spPr>
          <a:xfrm>
            <a:off x="1071880" y="1743710"/>
            <a:ext cx="10067925" cy="458908"/>
          </a:xfrm>
          <a:prstGeom prst="rect">
            <a:avLst/>
          </a:prstGeom>
        </p:spPr>
        <p:txBody>
          <a:bodyPr wrap="square">
            <a:spAutoFit/>
          </a:bodyPr>
          <a:lstStyle/>
          <a:p>
            <a:pPr algn="ctr">
              <a:lnSpc>
                <a:spcPct val="150000"/>
              </a:lnSpc>
            </a:pPr>
            <a:r>
              <a:rPr lang="en-US" altLang="zh-CN" dirty="0"/>
              <a:t>p99 567 </a:t>
            </a:r>
            <a:r>
              <a:rPr lang="en-US" altLang="zh-CN" dirty="0" err="1"/>
              <a:t>ms</a:t>
            </a:r>
            <a:r>
              <a:rPr lang="en-US" altLang="zh-CN" dirty="0"/>
              <a:t> vs </a:t>
            </a:r>
            <a:r>
              <a:rPr lang="zh-CN" altLang="zh-CN" dirty="0"/>
              <a:t>开</a:t>
            </a:r>
            <a:r>
              <a:rPr lang="en-US" altLang="zh-CN" dirty="0"/>
              <a:t> Scaler </a:t>
            </a:r>
            <a:r>
              <a:rPr lang="zh-CN" altLang="zh-CN" dirty="0"/>
              <a:t>同阶梯</a:t>
            </a:r>
            <a:r>
              <a:rPr lang="en-US" altLang="zh-CN" dirty="0"/>
              <a:t> 49 </a:t>
            </a:r>
            <a:r>
              <a:rPr lang="en-US" altLang="zh-CN" dirty="0" err="1"/>
              <a:t>ms</a:t>
            </a:r>
            <a:r>
              <a:rPr lang="en-US" altLang="zh-CN" dirty="0"/>
              <a:t> → </a:t>
            </a:r>
            <a:r>
              <a:rPr lang="zh-CN" altLang="zh-CN" dirty="0"/>
              <a:t>自动扩容对尾延迟改善显著。</a:t>
            </a:r>
            <a:endParaRPr lang="zh-CN" altLang="en-US" sz="1400" dirty="0">
              <a:solidFill>
                <a:schemeClr val="tx1">
                  <a:lumMod val="75000"/>
                  <a:lumOff val="25000"/>
                </a:schemeClr>
              </a:solidFill>
              <a:cs typeface="+mn-ea"/>
              <a:sym typeface="+mn-lt"/>
            </a:endParaRPr>
          </a:p>
        </p:txBody>
      </p:sp>
      <p:grpSp>
        <p:nvGrpSpPr>
          <p:cNvPr id="8" name="组合 7">
            <a:extLst>
              <a:ext uri="{FF2B5EF4-FFF2-40B4-BE49-F238E27FC236}">
                <a16:creationId xmlns:a16="http://schemas.microsoft.com/office/drawing/2014/main" id="{ABF02D47-BC69-4B5B-12C6-0CABB6166282}"/>
              </a:ext>
            </a:extLst>
          </p:cNvPr>
          <p:cNvGrpSpPr/>
          <p:nvPr/>
        </p:nvGrpSpPr>
        <p:grpSpPr>
          <a:xfrm>
            <a:off x="7311390" y="2793365"/>
            <a:ext cx="3827780" cy="2949575"/>
            <a:chOff x="11514" y="4399"/>
            <a:chExt cx="6028" cy="4645"/>
          </a:xfrm>
        </p:grpSpPr>
        <p:grpSp>
          <p:nvGrpSpPr>
            <p:cNvPr id="143" name="图形">
              <a:extLst>
                <a:ext uri="{FF2B5EF4-FFF2-40B4-BE49-F238E27FC236}">
                  <a16:creationId xmlns:a16="http://schemas.microsoft.com/office/drawing/2014/main" id="{50BF3A84-2550-B2C6-1D9B-5FE065076386}"/>
                </a:ext>
              </a:extLst>
            </p:cNvPr>
            <p:cNvGrpSpPr/>
            <p:nvPr/>
          </p:nvGrpSpPr>
          <p:grpSpPr>
            <a:xfrm flipH="1">
              <a:off x="11679" y="6300"/>
              <a:ext cx="5863" cy="2744"/>
              <a:chOff x="863588" y="2504167"/>
              <a:chExt cx="2736304" cy="1280433"/>
            </a:xfrm>
          </p:grpSpPr>
          <p:sp>
            <p:nvSpPr>
              <p:cNvPr id="144" name="图形">
                <a:extLst>
                  <a:ext uri="{FF2B5EF4-FFF2-40B4-BE49-F238E27FC236}">
                    <a16:creationId xmlns:a16="http://schemas.microsoft.com/office/drawing/2014/main" id="{F4EDCBE3-E503-852B-42A1-323E3555298F}"/>
                  </a:ext>
                </a:extLst>
              </p:cNvPr>
              <p:cNvSpPr/>
              <p:nvPr/>
            </p:nvSpPr>
            <p:spPr>
              <a:xfrm>
                <a:off x="863588" y="2506278"/>
                <a:ext cx="2736304" cy="234206"/>
              </a:xfrm>
              <a:prstGeom prst="rect">
                <a:avLst/>
              </a:prstGeom>
              <a:gradFill>
                <a:gsLst>
                  <a:gs pos="0">
                    <a:schemeClr val="accent2"/>
                  </a:gs>
                  <a:gs pos="94000">
                    <a:schemeClr val="accent1"/>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5" name="图形">
                <a:extLst>
                  <a:ext uri="{FF2B5EF4-FFF2-40B4-BE49-F238E27FC236}">
                    <a16:creationId xmlns:a16="http://schemas.microsoft.com/office/drawing/2014/main" id="{69A3EB12-EEA4-A150-F299-FAAC5B399B9F}"/>
                  </a:ext>
                </a:extLst>
              </p:cNvPr>
              <p:cNvSpPr/>
              <p:nvPr/>
            </p:nvSpPr>
            <p:spPr>
              <a:xfrm>
                <a:off x="1783424" y="2854317"/>
                <a:ext cx="1816467" cy="234206"/>
              </a:xfrm>
              <a:prstGeom prst="rect">
                <a:avLst/>
              </a:pr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6" name="图形">
                <a:extLst>
                  <a:ext uri="{FF2B5EF4-FFF2-40B4-BE49-F238E27FC236}">
                    <a16:creationId xmlns:a16="http://schemas.microsoft.com/office/drawing/2014/main" id="{D393A43E-53E0-A462-B8D1-391DFC5A9258}"/>
                  </a:ext>
                </a:extLst>
              </p:cNvPr>
              <p:cNvSpPr/>
              <p:nvPr/>
            </p:nvSpPr>
            <p:spPr>
              <a:xfrm>
                <a:off x="1043608" y="3202356"/>
                <a:ext cx="2556284" cy="234206"/>
              </a:xfrm>
              <a:prstGeom prst="rect">
                <a:avLst/>
              </a:prstGeom>
              <a:gradFill>
                <a:gsLst>
                  <a:gs pos="0">
                    <a:schemeClr val="accent2"/>
                  </a:gs>
                  <a:gs pos="94000">
                    <a:schemeClr val="accent1"/>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7" name="图形">
                <a:extLst>
                  <a:ext uri="{FF2B5EF4-FFF2-40B4-BE49-F238E27FC236}">
                    <a16:creationId xmlns:a16="http://schemas.microsoft.com/office/drawing/2014/main" id="{E74E0A55-5D79-C1D7-9CC3-A09D723A6054}"/>
                  </a:ext>
                </a:extLst>
              </p:cNvPr>
              <p:cNvSpPr/>
              <p:nvPr/>
            </p:nvSpPr>
            <p:spPr>
              <a:xfrm>
                <a:off x="2575125" y="3550394"/>
                <a:ext cx="1024766" cy="234206"/>
              </a:xfrm>
              <a:prstGeom prst="rect">
                <a:avLst/>
              </a:prstGeom>
              <a:solidFill>
                <a:schemeClr val="bg2">
                  <a:lumMod val="85000"/>
                  <a:alpha val="4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8" name="图形">
                <a:extLst>
                  <a:ext uri="{FF2B5EF4-FFF2-40B4-BE49-F238E27FC236}">
                    <a16:creationId xmlns:a16="http://schemas.microsoft.com/office/drawing/2014/main" id="{A00A190D-D4D2-EFF5-DBB6-2FB5A8CC2C84}"/>
                  </a:ext>
                </a:extLst>
              </p:cNvPr>
              <p:cNvSpPr/>
              <p:nvPr/>
            </p:nvSpPr>
            <p:spPr>
              <a:xfrm>
                <a:off x="863588" y="2504167"/>
                <a:ext cx="572593" cy="180133"/>
              </a:xfrm>
              <a:prstGeom prst="rect">
                <a:avLst/>
              </a:prstGeom>
            </p:spPr>
            <p:txBody>
              <a:bodyPr wrap="square">
                <a:spAutoFit/>
              </a:bodyPr>
              <a:lstStyle/>
              <a:p>
                <a:r>
                  <a:rPr lang="en-US" altLang="zh-CN" sz="1000" dirty="0">
                    <a:solidFill>
                      <a:schemeClr val="bg1"/>
                    </a:solidFill>
                    <a:cs typeface="+mn-ea"/>
                    <a:sym typeface="+mn-lt"/>
                  </a:rPr>
                  <a:t>83,456</a:t>
                </a:r>
              </a:p>
            </p:txBody>
          </p:sp>
          <p:sp>
            <p:nvSpPr>
              <p:cNvPr id="149" name="图形">
                <a:extLst>
                  <a:ext uri="{FF2B5EF4-FFF2-40B4-BE49-F238E27FC236}">
                    <a16:creationId xmlns:a16="http://schemas.microsoft.com/office/drawing/2014/main" id="{0A2CA067-A899-3A06-94EE-ECC8F8CB2CD0}"/>
                  </a:ext>
                </a:extLst>
              </p:cNvPr>
              <p:cNvSpPr/>
              <p:nvPr/>
            </p:nvSpPr>
            <p:spPr>
              <a:xfrm>
                <a:off x="1783425" y="2849229"/>
                <a:ext cx="572593" cy="180133"/>
              </a:xfrm>
              <a:prstGeom prst="rect">
                <a:avLst/>
              </a:prstGeom>
            </p:spPr>
            <p:txBody>
              <a:bodyPr wrap="square">
                <a:spAutoFit/>
              </a:bodyPr>
              <a:lstStyle/>
              <a:p>
                <a:r>
                  <a:rPr lang="en-US" altLang="zh-CN" sz="1000" dirty="0">
                    <a:solidFill>
                      <a:schemeClr val="bg1"/>
                    </a:solidFill>
                    <a:cs typeface="+mn-ea"/>
                    <a:sym typeface="+mn-lt"/>
                  </a:rPr>
                  <a:t>54,258</a:t>
                </a:r>
              </a:p>
            </p:txBody>
          </p:sp>
          <p:sp>
            <p:nvSpPr>
              <p:cNvPr id="150" name="图形">
                <a:extLst>
                  <a:ext uri="{FF2B5EF4-FFF2-40B4-BE49-F238E27FC236}">
                    <a16:creationId xmlns:a16="http://schemas.microsoft.com/office/drawing/2014/main" id="{60728544-577C-109A-2148-6B6190A2FA3B}"/>
                  </a:ext>
                </a:extLst>
              </p:cNvPr>
              <p:cNvSpPr/>
              <p:nvPr/>
            </p:nvSpPr>
            <p:spPr>
              <a:xfrm>
                <a:off x="1043608" y="3190622"/>
                <a:ext cx="572593" cy="180133"/>
              </a:xfrm>
              <a:prstGeom prst="rect">
                <a:avLst/>
              </a:prstGeom>
            </p:spPr>
            <p:txBody>
              <a:bodyPr wrap="square">
                <a:spAutoFit/>
              </a:bodyPr>
              <a:lstStyle/>
              <a:p>
                <a:r>
                  <a:rPr lang="en-US" altLang="zh-CN" sz="1000" dirty="0">
                    <a:solidFill>
                      <a:schemeClr val="bg1"/>
                    </a:solidFill>
                    <a:cs typeface="+mn-ea"/>
                    <a:sym typeface="+mn-lt"/>
                  </a:rPr>
                  <a:t>79,458</a:t>
                </a:r>
              </a:p>
            </p:txBody>
          </p:sp>
          <p:sp>
            <p:nvSpPr>
              <p:cNvPr id="151" name="图形">
                <a:extLst>
                  <a:ext uri="{FF2B5EF4-FFF2-40B4-BE49-F238E27FC236}">
                    <a16:creationId xmlns:a16="http://schemas.microsoft.com/office/drawing/2014/main" id="{4CA49127-AD3E-445E-01AE-FBABEE4F922E}"/>
                  </a:ext>
                </a:extLst>
              </p:cNvPr>
              <p:cNvSpPr/>
              <p:nvPr/>
            </p:nvSpPr>
            <p:spPr>
              <a:xfrm>
                <a:off x="2609422" y="3545305"/>
                <a:ext cx="572593" cy="180133"/>
              </a:xfrm>
              <a:prstGeom prst="rect">
                <a:avLst/>
              </a:prstGeom>
            </p:spPr>
            <p:txBody>
              <a:bodyPr wrap="square">
                <a:spAutoFit/>
              </a:bodyPr>
              <a:lstStyle/>
              <a:p>
                <a:r>
                  <a:rPr lang="en-US" altLang="zh-CN" sz="1000" dirty="0">
                    <a:solidFill>
                      <a:schemeClr val="bg1"/>
                    </a:solidFill>
                    <a:cs typeface="+mn-ea"/>
                    <a:sym typeface="+mn-lt"/>
                  </a:rPr>
                  <a:t>23,879</a:t>
                </a:r>
              </a:p>
            </p:txBody>
          </p:sp>
        </p:grpSp>
        <p:grpSp>
          <p:nvGrpSpPr>
            <p:cNvPr id="104" name="图形">
              <a:extLst>
                <a:ext uri="{FF2B5EF4-FFF2-40B4-BE49-F238E27FC236}">
                  <a16:creationId xmlns:a16="http://schemas.microsoft.com/office/drawing/2014/main" id="{F6A042C2-7AAA-F08B-AD83-C02505DD8EE8}"/>
                </a:ext>
              </a:extLst>
            </p:cNvPr>
            <p:cNvGrpSpPr/>
            <p:nvPr/>
          </p:nvGrpSpPr>
          <p:grpSpPr>
            <a:xfrm>
              <a:off x="11514" y="4399"/>
              <a:ext cx="6028" cy="1509"/>
              <a:chOff x="6959890" y="2107863"/>
              <a:chExt cx="3827780" cy="958499"/>
            </a:xfrm>
          </p:grpSpPr>
          <p:sp>
            <p:nvSpPr>
              <p:cNvPr id="105" name="图形">
                <a:extLst>
                  <a:ext uri="{FF2B5EF4-FFF2-40B4-BE49-F238E27FC236}">
                    <a16:creationId xmlns:a16="http://schemas.microsoft.com/office/drawing/2014/main" id="{990F2172-E706-84E9-3DE4-AF4E71F43ECB}"/>
                  </a:ext>
                </a:extLst>
              </p:cNvPr>
              <p:cNvSpPr txBox="1"/>
              <p:nvPr/>
            </p:nvSpPr>
            <p:spPr>
              <a:xfrm>
                <a:off x="6959890" y="2107863"/>
                <a:ext cx="2886347" cy="400229"/>
              </a:xfrm>
              <a:prstGeom prst="rect">
                <a:avLst/>
              </a:prstGeom>
              <a:noFill/>
            </p:spPr>
            <p:txBody>
              <a:bodyPr wrap="square" rtlCol="0">
                <a:spAutoFit/>
                <a:scene3d>
                  <a:camera prst="orthographicFront"/>
                  <a:lightRig rig="threePt" dir="t"/>
                </a:scene3d>
                <a:sp3d contourW="12700"/>
              </a:bodyPr>
              <a:lstStyle>
                <a:defPPr>
                  <a:defRPr lang="zh-CN"/>
                </a:defPPr>
                <a:lvl1pPr>
                  <a:defRPr sz="1200">
                    <a:solidFill>
                      <a:schemeClr val="tx1">
                        <a:lumMod val="75000"/>
                        <a:lumOff val="25000"/>
                      </a:schemeClr>
                    </a:solidFill>
                    <a:latin typeface="EngraversGothic BT" panose="020B0507020203020204" pitchFamily="34" charset="0"/>
                  </a:defRPr>
                </a:lvl1pPr>
              </a:lstStyle>
              <a:p>
                <a:r>
                  <a:rPr lang="en-US" altLang="zh-CN" sz="2000" b="1" dirty="0">
                    <a:latin typeface="+mn-lt"/>
                    <a:cs typeface="+mn-ea"/>
                    <a:sym typeface="+mn-lt"/>
                  </a:rPr>
                  <a:t>NOSCALER-</a:t>
                </a:r>
                <a:r>
                  <a:rPr lang="zh-CN" altLang="en-US" sz="2000" b="1" dirty="0">
                    <a:latin typeface="+mn-lt"/>
                    <a:cs typeface="+mn-ea"/>
                    <a:sym typeface="+mn-lt"/>
                  </a:rPr>
                  <a:t>无扩容</a:t>
                </a:r>
                <a:endParaRPr lang="en-US" sz="2000" dirty="0">
                  <a:latin typeface="+mn-lt"/>
                  <a:cs typeface="+mn-ea"/>
                  <a:sym typeface="+mn-lt"/>
                </a:endParaRPr>
              </a:p>
            </p:txBody>
          </p:sp>
          <p:sp>
            <p:nvSpPr>
              <p:cNvPr id="106" name="图形">
                <a:extLst>
                  <a:ext uri="{FF2B5EF4-FFF2-40B4-BE49-F238E27FC236}">
                    <a16:creationId xmlns:a16="http://schemas.microsoft.com/office/drawing/2014/main" id="{37B7EEFD-3C14-C7EA-EF7B-3BA9B001BD9C}"/>
                  </a:ext>
                </a:extLst>
              </p:cNvPr>
              <p:cNvSpPr txBox="1"/>
              <p:nvPr/>
            </p:nvSpPr>
            <p:spPr>
              <a:xfrm>
                <a:off x="6959890" y="2452668"/>
                <a:ext cx="3827780" cy="613694"/>
              </a:xfrm>
              <a:prstGeom prst="rect">
                <a:avLst/>
              </a:prstGeom>
              <a:noFill/>
            </p:spPr>
            <p:txBody>
              <a:bodyPr wrap="square" rtlCol="0">
                <a:spAutoFit/>
                <a:scene3d>
                  <a:camera prst="orthographicFront"/>
                  <a:lightRig rig="threePt" dir="t"/>
                </a:scene3d>
                <a:sp3d contourW="12700"/>
              </a:bodyPr>
              <a:lstStyle/>
              <a:p>
                <a:pPr algn="l">
                  <a:lnSpc>
                    <a:spcPct val="150000"/>
                  </a:lnSpc>
                </a:pPr>
                <a:r>
                  <a:rPr lang="zh-CN" altLang="en-US" sz="1200">
                    <a:solidFill>
                      <a:schemeClr val="tx1">
                        <a:lumMod val="75000"/>
                        <a:lumOff val="25000"/>
                      </a:schemeClr>
                    </a:solidFill>
                    <a:cs typeface="+mn-ea"/>
                    <a:sym typeface="+mn-lt"/>
                  </a:rPr>
                  <a:t>在此处添加您的文本内容在此处添加您的文本内容在此处添加您的文本内容在此处添加文本</a:t>
                </a:r>
                <a:endParaRPr lang="en-US" altLang="zh-CN" sz="1200" dirty="0">
                  <a:solidFill>
                    <a:schemeClr val="bg1">
                      <a:lumMod val="50000"/>
                    </a:schemeClr>
                  </a:solidFill>
                  <a:cs typeface="+mn-ea"/>
                  <a:sym typeface="+mn-lt"/>
                </a:endParaRPr>
              </a:p>
            </p:txBody>
          </p:sp>
        </p:grpSp>
      </p:grpSp>
      <p:grpSp>
        <p:nvGrpSpPr>
          <p:cNvPr id="2" name="组合 1">
            <a:extLst>
              <a:ext uri="{FF2B5EF4-FFF2-40B4-BE49-F238E27FC236}">
                <a16:creationId xmlns:a16="http://schemas.microsoft.com/office/drawing/2014/main" id="{9FBDC6BE-696E-8044-5FF7-C806409844ED}"/>
              </a:ext>
            </a:extLst>
          </p:cNvPr>
          <p:cNvGrpSpPr/>
          <p:nvPr/>
        </p:nvGrpSpPr>
        <p:grpSpPr>
          <a:xfrm>
            <a:off x="873760" y="1369060"/>
            <a:ext cx="7440930" cy="4373880"/>
            <a:chOff x="1376" y="2156"/>
            <a:chExt cx="11718" cy="6888"/>
          </a:xfrm>
        </p:grpSpPr>
        <p:grpSp>
          <p:nvGrpSpPr>
            <p:cNvPr id="39" name="图形">
              <a:extLst>
                <a:ext uri="{FF2B5EF4-FFF2-40B4-BE49-F238E27FC236}">
                  <a16:creationId xmlns:a16="http://schemas.microsoft.com/office/drawing/2014/main" id="{1FEC90FA-6064-452D-154B-13D7B79EF2E2}"/>
                </a:ext>
              </a:extLst>
            </p:cNvPr>
            <p:cNvGrpSpPr/>
            <p:nvPr/>
          </p:nvGrpSpPr>
          <p:grpSpPr>
            <a:xfrm>
              <a:off x="1688" y="6300"/>
              <a:ext cx="5863" cy="2744"/>
              <a:chOff x="863588" y="2504167"/>
              <a:chExt cx="2736304" cy="1280433"/>
            </a:xfrm>
          </p:grpSpPr>
          <p:sp>
            <p:nvSpPr>
              <p:cNvPr id="133" name="图形">
                <a:extLst>
                  <a:ext uri="{FF2B5EF4-FFF2-40B4-BE49-F238E27FC236}">
                    <a16:creationId xmlns:a16="http://schemas.microsoft.com/office/drawing/2014/main" id="{E5507C7B-1335-5F40-8A00-A53EB80C4AD0}"/>
                  </a:ext>
                </a:extLst>
              </p:cNvPr>
              <p:cNvSpPr/>
              <p:nvPr/>
            </p:nvSpPr>
            <p:spPr>
              <a:xfrm>
                <a:off x="863588" y="2506278"/>
                <a:ext cx="2736304" cy="234206"/>
              </a:xfrm>
              <a:prstGeom prst="rect">
                <a:avLst/>
              </a:prstGeom>
              <a:gradFill>
                <a:gsLst>
                  <a:gs pos="0">
                    <a:schemeClr val="accent2"/>
                  </a:gs>
                  <a:gs pos="94000">
                    <a:schemeClr val="accent1"/>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cs typeface="+mn-ea"/>
                  <a:sym typeface="+mn-lt"/>
                </a:endParaRPr>
              </a:p>
            </p:txBody>
          </p:sp>
          <p:sp>
            <p:nvSpPr>
              <p:cNvPr id="134" name="图形">
                <a:extLst>
                  <a:ext uri="{FF2B5EF4-FFF2-40B4-BE49-F238E27FC236}">
                    <a16:creationId xmlns:a16="http://schemas.microsoft.com/office/drawing/2014/main" id="{D24A83CB-DAC4-BFB8-58A4-855921785FBF}"/>
                  </a:ext>
                </a:extLst>
              </p:cNvPr>
              <p:cNvSpPr/>
              <p:nvPr/>
            </p:nvSpPr>
            <p:spPr>
              <a:xfrm>
                <a:off x="1783424" y="2854317"/>
                <a:ext cx="1816467" cy="234206"/>
              </a:xfrm>
              <a:prstGeom prst="rect">
                <a:avLst/>
              </a:pr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5" name="图形">
                <a:extLst>
                  <a:ext uri="{FF2B5EF4-FFF2-40B4-BE49-F238E27FC236}">
                    <a16:creationId xmlns:a16="http://schemas.microsoft.com/office/drawing/2014/main" id="{B5D4A34E-7C28-19A4-1BD2-2EB77CF23804}"/>
                  </a:ext>
                </a:extLst>
              </p:cNvPr>
              <p:cNvSpPr/>
              <p:nvPr/>
            </p:nvSpPr>
            <p:spPr>
              <a:xfrm>
                <a:off x="1043608" y="3202356"/>
                <a:ext cx="2556284" cy="234206"/>
              </a:xfrm>
              <a:prstGeom prst="rect">
                <a:avLst/>
              </a:prstGeom>
              <a:gradFill>
                <a:gsLst>
                  <a:gs pos="0">
                    <a:schemeClr val="accent2"/>
                  </a:gs>
                  <a:gs pos="94000">
                    <a:schemeClr val="accent1"/>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6" name="图形">
                <a:extLst>
                  <a:ext uri="{FF2B5EF4-FFF2-40B4-BE49-F238E27FC236}">
                    <a16:creationId xmlns:a16="http://schemas.microsoft.com/office/drawing/2014/main" id="{83F36281-0ADC-190E-1236-33D96C8AAAC9}"/>
                  </a:ext>
                </a:extLst>
              </p:cNvPr>
              <p:cNvSpPr/>
              <p:nvPr/>
            </p:nvSpPr>
            <p:spPr>
              <a:xfrm>
                <a:off x="2575125" y="3550394"/>
                <a:ext cx="1024766" cy="234206"/>
              </a:xfrm>
              <a:prstGeom prst="rect">
                <a:avLst/>
              </a:prstGeom>
              <a:solidFill>
                <a:schemeClr val="bg2">
                  <a:lumMod val="85000"/>
                  <a:alpha val="4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7" name="图形">
                <a:extLst>
                  <a:ext uri="{FF2B5EF4-FFF2-40B4-BE49-F238E27FC236}">
                    <a16:creationId xmlns:a16="http://schemas.microsoft.com/office/drawing/2014/main" id="{BFD02B7D-3F91-6EEF-98E3-5F498F6027E8}"/>
                  </a:ext>
                </a:extLst>
              </p:cNvPr>
              <p:cNvSpPr/>
              <p:nvPr/>
            </p:nvSpPr>
            <p:spPr>
              <a:xfrm>
                <a:off x="863588" y="2504167"/>
                <a:ext cx="572593" cy="180133"/>
              </a:xfrm>
              <a:prstGeom prst="rect">
                <a:avLst/>
              </a:prstGeom>
            </p:spPr>
            <p:txBody>
              <a:bodyPr wrap="square">
                <a:spAutoFit/>
              </a:bodyPr>
              <a:lstStyle/>
              <a:p>
                <a:r>
                  <a:rPr lang="en-US" altLang="zh-CN" sz="1000" dirty="0">
                    <a:solidFill>
                      <a:schemeClr val="bg1"/>
                    </a:solidFill>
                    <a:cs typeface="+mn-ea"/>
                    <a:sym typeface="+mn-lt"/>
                  </a:rPr>
                  <a:t>83,456</a:t>
                </a:r>
              </a:p>
            </p:txBody>
          </p:sp>
          <p:sp>
            <p:nvSpPr>
              <p:cNvPr id="139" name="图形">
                <a:extLst>
                  <a:ext uri="{FF2B5EF4-FFF2-40B4-BE49-F238E27FC236}">
                    <a16:creationId xmlns:a16="http://schemas.microsoft.com/office/drawing/2014/main" id="{62779267-231A-0B19-9E78-1C48F225843C}"/>
                  </a:ext>
                </a:extLst>
              </p:cNvPr>
              <p:cNvSpPr/>
              <p:nvPr/>
            </p:nvSpPr>
            <p:spPr>
              <a:xfrm>
                <a:off x="1783425" y="2849229"/>
                <a:ext cx="572593" cy="180133"/>
              </a:xfrm>
              <a:prstGeom prst="rect">
                <a:avLst/>
              </a:prstGeom>
            </p:spPr>
            <p:txBody>
              <a:bodyPr wrap="square">
                <a:spAutoFit/>
              </a:bodyPr>
              <a:lstStyle/>
              <a:p>
                <a:r>
                  <a:rPr lang="en-US" altLang="zh-CN" sz="1000" dirty="0">
                    <a:solidFill>
                      <a:schemeClr val="bg1"/>
                    </a:solidFill>
                    <a:cs typeface="+mn-ea"/>
                    <a:sym typeface="+mn-lt"/>
                  </a:rPr>
                  <a:t>54,258</a:t>
                </a:r>
              </a:p>
            </p:txBody>
          </p:sp>
          <p:sp>
            <p:nvSpPr>
              <p:cNvPr id="140" name="图形">
                <a:extLst>
                  <a:ext uri="{FF2B5EF4-FFF2-40B4-BE49-F238E27FC236}">
                    <a16:creationId xmlns:a16="http://schemas.microsoft.com/office/drawing/2014/main" id="{581E1305-18EA-8438-253B-C0C2890D6C15}"/>
                  </a:ext>
                </a:extLst>
              </p:cNvPr>
              <p:cNvSpPr/>
              <p:nvPr/>
            </p:nvSpPr>
            <p:spPr>
              <a:xfrm>
                <a:off x="1043608" y="3190622"/>
                <a:ext cx="572593" cy="180133"/>
              </a:xfrm>
              <a:prstGeom prst="rect">
                <a:avLst/>
              </a:prstGeom>
            </p:spPr>
            <p:txBody>
              <a:bodyPr wrap="square">
                <a:spAutoFit/>
              </a:bodyPr>
              <a:lstStyle/>
              <a:p>
                <a:r>
                  <a:rPr lang="en-US" altLang="zh-CN" sz="1000" dirty="0">
                    <a:solidFill>
                      <a:schemeClr val="bg1"/>
                    </a:solidFill>
                    <a:cs typeface="+mn-ea"/>
                    <a:sym typeface="+mn-lt"/>
                  </a:rPr>
                  <a:t>79,458</a:t>
                </a:r>
              </a:p>
            </p:txBody>
          </p:sp>
          <p:sp>
            <p:nvSpPr>
              <p:cNvPr id="142" name="图形">
                <a:extLst>
                  <a:ext uri="{FF2B5EF4-FFF2-40B4-BE49-F238E27FC236}">
                    <a16:creationId xmlns:a16="http://schemas.microsoft.com/office/drawing/2014/main" id="{D18A24E7-B14B-67E2-99A9-F5ECE80CC27F}"/>
                  </a:ext>
                </a:extLst>
              </p:cNvPr>
              <p:cNvSpPr/>
              <p:nvPr/>
            </p:nvSpPr>
            <p:spPr>
              <a:xfrm>
                <a:off x="2609422" y="3545305"/>
                <a:ext cx="572593" cy="180133"/>
              </a:xfrm>
              <a:prstGeom prst="rect">
                <a:avLst/>
              </a:prstGeom>
            </p:spPr>
            <p:txBody>
              <a:bodyPr wrap="square">
                <a:spAutoFit/>
              </a:bodyPr>
              <a:lstStyle/>
              <a:p>
                <a:r>
                  <a:rPr lang="en-US" altLang="zh-CN" sz="1000" dirty="0">
                    <a:solidFill>
                      <a:schemeClr val="bg1"/>
                    </a:solidFill>
                    <a:cs typeface="+mn-ea"/>
                    <a:sym typeface="+mn-lt"/>
                  </a:rPr>
                  <a:t>23,879</a:t>
                </a:r>
              </a:p>
            </p:txBody>
          </p:sp>
        </p:grpSp>
        <p:grpSp>
          <p:nvGrpSpPr>
            <p:cNvPr id="110" name="图形">
              <a:extLst>
                <a:ext uri="{FF2B5EF4-FFF2-40B4-BE49-F238E27FC236}">
                  <a16:creationId xmlns:a16="http://schemas.microsoft.com/office/drawing/2014/main" id="{3CE7BDF6-18E3-B865-A953-6E6EA3EF3163}"/>
                </a:ext>
              </a:extLst>
            </p:cNvPr>
            <p:cNvGrpSpPr/>
            <p:nvPr/>
          </p:nvGrpSpPr>
          <p:grpSpPr>
            <a:xfrm>
              <a:off x="1376" y="2156"/>
              <a:ext cx="11718" cy="2872"/>
              <a:chOff x="6360045" y="683652"/>
              <a:chExt cx="7441483" cy="1824449"/>
            </a:xfrm>
          </p:grpSpPr>
          <p:sp>
            <p:nvSpPr>
              <p:cNvPr id="111" name="图形">
                <a:extLst>
                  <a:ext uri="{FF2B5EF4-FFF2-40B4-BE49-F238E27FC236}">
                    <a16:creationId xmlns:a16="http://schemas.microsoft.com/office/drawing/2014/main" id="{6F37DC60-9596-0A87-922B-458629359B45}"/>
                  </a:ext>
                </a:extLst>
              </p:cNvPr>
              <p:cNvSpPr txBox="1"/>
              <p:nvPr/>
            </p:nvSpPr>
            <p:spPr>
              <a:xfrm>
                <a:off x="6360045" y="2107863"/>
                <a:ext cx="3906607" cy="400238"/>
              </a:xfrm>
              <a:prstGeom prst="rect">
                <a:avLst/>
              </a:prstGeom>
              <a:noFill/>
            </p:spPr>
            <p:txBody>
              <a:bodyPr wrap="square" rtlCol="0">
                <a:spAutoFit/>
                <a:scene3d>
                  <a:camera prst="orthographicFront"/>
                  <a:lightRig rig="threePt" dir="t"/>
                </a:scene3d>
                <a:sp3d contourW="12700"/>
              </a:bodyPr>
              <a:lstStyle>
                <a:defPPr>
                  <a:defRPr lang="zh-CN"/>
                </a:defPPr>
                <a:lvl1pPr>
                  <a:defRPr sz="1200">
                    <a:solidFill>
                      <a:schemeClr val="tx1">
                        <a:lumMod val="75000"/>
                        <a:lumOff val="25000"/>
                      </a:schemeClr>
                    </a:solidFill>
                    <a:latin typeface="EngraversGothic BT" panose="020B0507020203020204" pitchFamily="34" charset="0"/>
                  </a:defRPr>
                </a:lvl1pPr>
              </a:lstStyle>
              <a:p>
                <a:pPr algn="r"/>
                <a:r>
                  <a:rPr lang="en-US" altLang="zh-CN" sz="2000" b="1" dirty="0">
                    <a:latin typeface="+mn-lt"/>
                    <a:cs typeface="+mn-ea"/>
                    <a:sym typeface="+mn-lt"/>
                  </a:rPr>
                  <a:t>SCALER-</a:t>
                </a:r>
                <a:r>
                  <a:rPr lang="zh-CN" altLang="en-US" sz="2000" b="1" dirty="0">
                    <a:latin typeface="+mn-lt"/>
                    <a:cs typeface="+mn-ea"/>
                    <a:sym typeface="+mn-lt"/>
                  </a:rPr>
                  <a:t>自动在运行中</a:t>
                </a:r>
                <a:r>
                  <a:rPr lang="en-US" altLang="zh-CN" sz="2000" b="1" dirty="0">
                    <a:latin typeface="+mn-lt"/>
                    <a:cs typeface="+mn-ea"/>
                    <a:sym typeface="+mn-lt"/>
                  </a:rPr>
                  <a:t>3-5</a:t>
                </a:r>
                <a:r>
                  <a:rPr lang="zh-CN" altLang="en-US" sz="2000" b="1" dirty="0">
                    <a:latin typeface="+mn-lt"/>
                    <a:cs typeface="+mn-ea"/>
                    <a:sym typeface="+mn-lt"/>
                  </a:rPr>
                  <a:t>扩容</a:t>
                </a:r>
                <a:endParaRPr lang="en-US" sz="2000" dirty="0">
                  <a:latin typeface="+mn-lt"/>
                  <a:cs typeface="+mn-ea"/>
                  <a:sym typeface="+mn-lt"/>
                </a:endParaRPr>
              </a:p>
            </p:txBody>
          </p:sp>
          <p:sp>
            <p:nvSpPr>
              <p:cNvPr id="112" name="图形">
                <a:extLst>
                  <a:ext uri="{FF2B5EF4-FFF2-40B4-BE49-F238E27FC236}">
                    <a16:creationId xmlns:a16="http://schemas.microsoft.com/office/drawing/2014/main" id="{279BFB33-A717-5B0F-7EA8-886C644177B5}"/>
                  </a:ext>
                </a:extLst>
              </p:cNvPr>
              <p:cNvSpPr txBox="1"/>
              <p:nvPr/>
            </p:nvSpPr>
            <p:spPr>
              <a:xfrm>
                <a:off x="7090214" y="683652"/>
                <a:ext cx="6711314" cy="336826"/>
              </a:xfrm>
              <a:prstGeom prst="rect">
                <a:avLst/>
              </a:prstGeom>
              <a:noFill/>
            </p:spPr>
            <p:txBody>
              <a:bodyPr wrap="square" rtlCol="0">
                <a:spAutoFit/>
                <a:scene3d>
                  <a:camera prst="orthographicFront"/>
                  <a:lightRig rig="threePt" dir="t"/>
                </a:scene3d>
                <a:sp3d contourW="12700"/>
              </a:bodyPr>
              <a:lstStyle/>
              <a:p>
                <a:pPr algn="r">
                  <a:lnSpc>
                    <a:spcPct val="150000"/>
                  </a:lnSpc>
                </a:pPr>
                <a:r>
                  <a:rPr lang="zh-CN" altLang="en-US" sz="1200" dirty="0">
                    <a:solidFill>
                      <a:schemeClr val="tx1">
                        <a:lumMod val="75000"/>
                        <a:lumOff val="25000"/>
                      </a:schemeClr>
                    </a:solidFill>
                    <a:cs typeface="+mn-ea"/>
                    <a:sym typeface="+mn-lt"/>
                  </a:rPr>
                  <a:t>进行</a:t>
                </a:r>
                <a:r>
                  <a:rPr lang="en-US" altLang="zh-CN" sz="1200" dirty="0">
                    <a:solidFill>
                      <a:schemeClr val="tx1">
                        <a:lumMod val="75000"/>
                        <a:lumOff val="25000"/>
                      </a:schemeClr>
                    </a:solidFill>
                    <a:cs typeface="+mn-ea"/>
                    <a:sym typeface="+mn-lt"/>
                  </a:rPr>
                  <a:t>RPS </a:t>
                </a:r>
                <a:r>
                  <a:rPr lang="zh-CN" altLang="en-US" sz="1200" dirty="0">
                    <a:solidFill>
                      <a:schemeClr val="tx1">
                        <a:lumMod val="75000"/>
                        <a:lumOff val="25000"/>
                      </a:schemeClr>
                    </a:solidFill>
                    <a:cs typeface="+mn-ea"/>
                    <a:sym typeface="+mn-lt"/>
                  </a:rPr>
                  <a:t>阶梯：</a:t>
                </a:r>
                <a:r>
                  <a:rPr lang="en-US" altLang="zh-CN" sz="1200" dirty="0">
                    <a:solidFill>
                      <a:schemeClr val="tx1">
                        <a:lumMod val="75000"/>
                        <a:lumOff val="25000"/>
                      </a:schemeClr>
                    </a:solidFill>
                    <a:cs typeface="+mn-ea"/>
                    <a:sym typeface="+mn-lt"/>
                  </a:rPr>
                  <a:t>1500→2000→2500</a:t>
                </a:r>
                <a:r>
                  <a:rPr lang="zh-CN" altLang="en-US" sz="1200" dirty="0">
                    <a:solidFill>
                      <a:schemeClr val="tx1">
                        <a:lumMod val="75000"/>
                        <a:lumOff val="25000"/>
                      </a:schemeClr>
                    </a:solidFill>
                    <a:cs typeface="+mn-ea"/>
                    <a:sym typeface="+mn-lt"/>
                  </a:rPr>
                  <a:t>，一档</a:t>
                </a:r>
                <a:r>
                  <a:rPr lang="en-US" altLang="zh-CN" sz="1200" dirty="0">
                    <a:solidFill>
                      <a:schemeClr val="tx1">
                        <a:lumMod val="75000"/>
                        <a:lumOff val="25000"/>
                      </a:schemeClr>
                    </a:solidFill>
                    <a:cs typeface="+mn-ea"/>
                    <a:sym typeface="+mn-lt"/>
                  </a:rPr>
                  <a:t>120s</a:t>
                </a:r>
                <a:r>
                  <a:rPr lang="zh-CN" altLang="en-US" sz="1200" dirty="0">
                    <a:solidFill>
                      <a:schemeClr val="tx1">
                        <a:lumMod val="75000"/>
                        <a:lumOff val="25000"/>
                      </a:schemeClr>
                    </a:solidFill>
                    <a:cs typeface="+mn-ea"/>
                    <a:sym typeface="+mn-lt"/>
                  </a:rPr>
                  <a:t>的阶梯</a:t>
                </a:r>
                <a:r>
                  <a:rPr lang="en-US" altLang="zh-CN" sz="1200" dirty="0">
                    <a:solidFill>
                      <a:schemeClr val="tx1">
                        <a:lumMod val="75000"/>
                        <a:lumOff val="25000"/>
                      </a:schemeClr>
                    </a:solidFill>
                    <a:cs typeface="+mn-ea"/>
                    <a:sym typeface="+mn-lt"/>
                  </a:rPr>
                  <a:t>CPU</a:t>
                </a:r>
                <a:r>
                  <a:rPr lang="zh-CN" altLang="en-US" sz="1200" dirty="0">
                    <a:solidFill>
                      <a:schemeClr val="tx1">
                        <a:lumMod val="75000"/>
                        <a:lumOff val="25000"/>
                      </a:schemeClr>
                    </a:solidFill>
                    <a:cs typeface="+mn-ea"/>
                    <a:sym typeface="+mn-lt"/>
                  </a:rPr>
                  <a:t>密集型测试</a:t>
                </a:r>
                <a:endParaRPr lang="en-US" altLang="zh-CN" sz="1200" dirty="0">
                  <a:solidFill>
                    <a:schemeClr val="bg1">
                      <a:lumMod val="50000"/>
                    </a:schemeClr>
                  </a:solidFill>
                  <a:cs typeface="+mn-ea"/>
                  <a:sym typeface="+mn-lt"/>
                </a:endParaRPr>
              </a:p>
            </p:txBody>
          </p:sp>
        </p:grpSp>
      </p:grpSp>
      <p:grpSp>
        <p:nvGrpSpPr>
          <p:cNvPr id="7" name="组合 6">
            <a:extLst>
              <a:ext uri="{FF2B5EF4-FFF2-40B4-BE49-F238E27FC236}">
                <a16:creationId xmlns:a16="http://schemas.microsoft.com/office/drawing/2014/main" id="{FE0D9368-9198-A394-B60D-3E82B74F4535}"/>
              </a:ext>
            </a:extLst>
          </p:cNvPr>
          <p:cNvGrpSpPr/>
          <p:nvPr/>
        </p:nvGrpSpPr>
        <p:grpSpPr>
          <a:xfrm>
            <a:off x="5157470" y="3500755"/>
            <a:ext cx="1896110" cy="1558925"/>
            <a:chOff x="8122" y="5513"/>
            <a:chExt cx="2986" cy="2455"/>
          </a:xfrm>
        </p:grpSpPr>
        <p:sp>
          <p:nvSpPr>
            <p:cNvPr id="113" name="图形">
              <a:extLst>
                <a:ext uri="{FF2B5EF4-FFF2-40B4-BE49-F238E27FC236}">
                  <a16:creationId xmlns:a16="http://schemas.microsoft.com/office/drawing/2014/main" id="{CECEFD05-7662-7419-6C71-F007BD7808B0}"/>
                </a:ext>
              </a:extLst>
            </p:cNvPr>
            <p:cNvSpPr/>
            <p:nvPr/>
          </p:nvSpPr>
          <p:spPr>
            <a:xfrm rot="10800000">
              <a:off x="8122" y="6806"/>
              <a:ext cx="2987" cy="1163"/>
            </a:xfrm>
            <a:prstGeom prst="triangle">
              <a:avLst/>
            </a:prstGeom>
            <a:gradFill flip="none" rotWithShape="1">
              <a:gsLst>
                <a:gs pos="81000">
                  <a:schemeClr val="accent2">
                    <a:alpha val="0"/>
                  </a:schemeClr>
                </a:gs>
                <a:gs pos="0">
                  <a:schemeClr val="accent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cs typeface="+mn-ea"/>
                <a:sym typeface="+mn-lt"/>
              </a:endParaRPr>
            </a:p>
          </p:txBody>
        </p:sp>
        <p:sp>
          <p:nvSpPr>
            <p:cNvPr id="114" name="图形">
              <a:extLst>
                <a:ext uri="{FF2B5EF4-FFF2-40B4-BE49-F238E27FC236}">
                  <a16:creationId xmlns:a16="http://schemas.microsoft.com/office/drawing/2014/main" id="{60209711-F93D-6E15-53E1-F6A96F5DD296}"/>
                </a:ext>
              </a:extLst>
            </p:cNvPr>
            <p:cNvSpPr/>
            <p:nvPr/>
          </p:nvSpPr>
          <p:spPr>
            <a:xfrm rot="10800000">
              <a:off x="8713" y="6103"/>
              <a:ext cx="1806" cy="703"/>
            </a:xfrm>
            <a:prstGeom prst="triangle">
              <a:avLst/>
            </a:prstGeom>
            <a:gradFill flip="none" rotWithShape="1">
              <a:gsLst>
                <a:gs pos="81000">
                  <a:schemeClr val="accent2">
                    <a:alpha val="0"/>
                  </a:schemeClr>
                </a:gs>
                <a:gs pos="0">
                  <a:schemeClr val="accent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cs typeface="+mn-ea"/>
                <a:sym typeface="+mn-lt"/>
              </a:endParaRPr>
            </a:p>
          </p:txBody>
        </p:sp>
        <p:sp>
          <p:nvSpPr>
            <p:cNvPr id="115" name="图形">
              <a:extLst>
                <a:ext uri="{FF2B5EF4-FFF2-40B4-BE49-F238E27FC236}">
                  <a16:creationId xmlns:a16="http://schemas.microsoft.com/office/drawing/2014/main" id="{7F0884A4-52D1-8AC3-03F4-C1A53CCC7C65}"/>
                </a:ext>
              </a:extLst>
            </p:cNvPr>
            <p:cNvSpPr/>
            <p:nvPr/>
          </p:nvSpPr>
          <p:spPr>
            <a:xfrm rot="10800000">
              <a:off x="8986" y="5513"/>
              <a:ext cx="1261" cy="491"/>
            </a:xfrm>
            <a:prstGeom prst="triangle">
              <a:avLst/>
            </a:prstGeom>
            <a:gradFill flip="none" rotWithShape="1">
              <a:gsLst>
                <a:gs pos="81000">
                  <a:schemeClr val="accent2">
                    <a:alpha val="0"/>
                  </a:schemeClr>
                </a:gs>
                <a:gs pos="0">
                  <a:schemeClr val="accent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cs typeface="+mn-ea"/>
                <a:sym typeface="+mn-lt"/>
              </a:endParaRPr>
            </a:p>
          </p:txBody>
        </p:sp>
      </p:grpSp>
      <p:sp>
        <p:nvSpPr>
          <p:cNvPr id="5" name="图形">
            <a:extLst>
              <a:ext uri="{FF2B5EF4-FFF2-40B4-BE49-F238E27FC236}">
                <a16:creationId xmlns:a16="http://schemas.microsoft.com/office/drawing/2014/main" id="{CAF4B208-421A-29D8-8FD2-14503424060B}"/>
              </a:ext>
            </a:extLst>
          </p:cNvPr>
          <p:cNvSpPr txBox="1"/>
          <p:nvPr/>
        </p:nvSpPr>
        <p:spPr>
          <a:xfrm>
            <a:off x="874136" y="608784"/>
            <a:ext cx="3677610" cy="700769"/>
          </a:xfrm>
          <a:prstGeom prst="rect">
            <a:avLst/>
          </a:prstGeom>
          <a:noFill/>
        </p:spPr>
        <p:txBody>
          <a:bodyPr wrap="none" rtlCol="0">
            <a:spAutoFit/>
          </a:bodyPr>
          <a:lstStyle/>
          <a:p>
            <a:pPr algn="ctr">
              <a:lnSpc>
                <a:spcPct val="120000"/>
              </a:lnSpc>
            </a:pPr>
            <a:r>
              <a:rPr lang="en-US" altLang="zh-CN" sz="3600" kern="0" dirty="0">
                <a:solidFill>
                  <a:schemeClr val="tx1">
                    <a:lumMod val="65000"/>
                    <a:lumOff val="35000"/>
                  </a:schemeClr>
                </a:solidFill>
                <a:cs typeface="+mn-ea"/>
                <a:sym typeface="+mn-lt"/>
              </a:rPr>
              <a:t>Scaler </a:t>
            </a:r>
            <a:r>
              <a:rPr lang="zh-CN" altLang="en-US" sz="3600" kern="0" dirty="0">
                <a:solidFill>
                  <a:schemeClr val="tx1">
                    <a:lumMod val="65000"/>
                    <a:lumOff val="35000"/>
                  </a:schemeClr>
                </a:solidFill>
                <a:cs typeface="+mn-ea"/>
                <a:sym typeface="+mn-lt"/>
              </a:rPr>
              <a:t>开</a:t>
            </a:r>
            <a:r>
              <a:rPr lang="en-US" altLang="zh-CN" sz="3600" kern="0" dirty="0">
                <a:solidFill>
                  <a:schemeClr val="tx1">
                    <a:lumMod val="65000"/>
                    <a:lumOff val="35000"/>
                  </a:schemeClr>
                </a:solidFill>
                <a:cs typeface="+mn-ea"/>
                <a:sym typeface="+mn-lt"/>
              </a:rPr>
              <a:t>/</a:t>
            </a:r>
            <a:r>
              <a:rPr lang="zh-CN" altLang="en-US" sz="3600" kern="0" dirty="0">
                <a:solidFill>
                  <a:schemeClr val="tx1">
                    <a:lumMod val="65000"/>
                    <a:lumOff val="35000"/>
                  </a:schemeClr>
                </a:solidFill>
                <a:cs typeface="+mn-ea"/>
                <a:sym typeface="+mn-lt"/>
              </a:rPr>
              <a:t>关对比</a:t>
            </a:r>
          </a:p>
        </p:txBody>
      </p:sp>
      <p:sp>
        <p:nvSpPr>
          <p:cNvPr id="3" name="图形">
            <a:extLst>
              <a:ext uri="{FF2B5EF4-FFF2-40B4-BE49-F238E27FC236}">
                <a16:creationId xmlns:a16="http://schemas.microsoft.com/office/drawing/2014/main" id="{B73CF5C3-7145-25DF-70B3-412A92A834E3}"/>
              </a:ext>
            </a:extLst>
          </p:cNvPr>
          <p:cNvSpPr/>
          <p:nvPr/>
        </p:nvSpPr>
        <p:spPr>
          <a:xfrm>
            <a:off x="0" y="680085"/>
            <a:ext cx="939800" cy="535940"/>
          </a:xfrm>
          <a:prstGeom prst="rect">
            <a:avLst/>
          </a:prstGeom>
          <a:gradFill>
            <a:gsLst>
              <a:gs pos="0">
                <a:schemeClr val="accent2"/>
              </a:gs>
              <a:gs pos="91000">
                <a:schemeClr val="accent1"/>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图形">
            <a:extLst>
              <a:ext uri="{FF2B5EF4-FFF2-40B4-BE49-F238E27FC236}">
                <a16:creationId xmlns:a16="http://schemas.microsoft.com/office/drawing/2014/main" id="{5537C8BE-6E9B-BC9B-626F-61E3353A7880}"/>
              </a:ext>
            </a:extLst>
          </p:cNvPr>
          <p:cNvSpPr/>
          <p:nvPr/>
        </p:nvSpPr>
        <p:spPr>
          <a:xfrm>
            <a:off x="146685" y="651510"/>
            <a:ext cx="76200" cy="607060"/>
          </a:xfrm>
          <a:prstGeom prst="rect">
            <a:avLst/>
          </a:prstGeom>
          <a:solidFill>
            <a:schemeClr val="bg1"/>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图形">
            <a:extLst>
              <a:ext uri="{FF2B5EF4-FFF2-40B4-BE49-F238E27FC236}">
                <a16:creationId xmlns:a16="http://schemas.microsoft.com/office/drawing/2014/main" id="{8180984B-1693-7B53-B010-544C2E270147}"/>
              </a:ext>
            </a:extLst>
          </p:cNvPr>
          <p:cNvSpPr/>
          <p:nvPr/>
        </p:nvSpPr>
        <p:spPr>
          <a:xfrm>
            <a:off x="333375" y="608965"/>
            <a:ext cx="76200" cy="607060"/>
          </a:xfrm>
          <a:prstGeom prst="rect">
            <a:avLst/>
          </a:prstGeom>
          <a:solidFill>
            <a:schemeClr val="bg1"/>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0" name="图片 9">
            <a:extLst>
              <a:ext uri="{FF2B5EF4-FFF2-40B4-BE49-F238E27FC236}">
                <a16:creationId xmlns:a16="http://schemas.microsoft.com/office/drawing/2014/main" id="{A28C479E-3957-9F63-6F7E-9ED77F9D006C}"/>
              </a:ext>
            </a:extLst>
          </p:cNvPr>
          <p:cNvPicPr>
            <a:picLocks noChangeAspect="1"/>
          </p:cNvPicPr>
          <p:nvPr/>
        </p:nvPicPr>
        <p:blipFill>
          <a:blip r:embed="rId3"/>
          <a:stretch>
            <a:fillRect/>
          </a:stretch>
        </p:blipFill>
        <p:spPr>
          <a:xfrm>
            <a:off x="73435" y="3148084"/>
            <a:ext cx="5119597" cy="2657813"/>
          </a:xfrm>
          <a:prstGeom prst="rect">
            <a:avLst/>
          </a:prstGeom>
        </p:spPr>
      </p:pic>
      <p:pic>
        <p:nvPicPr>
          <p:cNvPr id="12" name="图片 11">
            <a:extLst>
              <a:ext uri="{FF2B5EF4-FFF2-40B4-BE49-F238E27FC236}">
                <a16:creationId xmlns:a16="http://schemas.microsoft.com/office/drawing/2014/main" id="{D0167727-354C-D7F3-5545-EF2A87E124B5}"/>
              </a:ext>
            </a:extLst>
          </p:cNvPr>
          <p:cNvPicPr>
            <a:picLocks noChangeAspect="1"/>
          </p:cNvPicPr>
          <p:nvPr/>
        </p:nvPicPr>
        <p:blipFill>
          <a:blip r:embed="rId4"/>
          <a:stretch>
            <a:fillRect/>
          </a:stretch>
        </p:blipFill>
        <p:spPr>
          <a:xfrm>
            <a:off x="6849877" y="3133025"/>
            <a:ext cx="5268688" cy="2672872"/>
          </a:xfrm>
          <a:prstGeom prst="rect">
            <a:avLst/>
          </a:prstGeom>
        </p:spPr>
      </p:pic>
    </p:spTree>
    <p:custDataLst>
      <p:tags r:id="rId1"/>
    </p:custDataLst>
    <p:extLst>
      <p:ext uri="{BB962C8B-B14F-4D97-AF65-F5344CB8AC3E}">
        <p14:creationId xmlns:p14="http://schemas.microsoft.com/office/powerpoint/2010/main" val="3044852542"/>
      </p:ext>
    </p:extLst>
  </p:cSld>
  <p:clrMapOvr>
    <a:masterClrMapping/>
  </p:clrMapOvr>
  <p:transition>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53"/>
                                        </p:tgtEl>
                                        <p:attrNameLst>
                                          <p:attrName>style.visibility</p:attrName>
                                        </p:attrNameLst>
                                      </p:cBhvr>
                                      <p:to>
                                        <p:strVal val="visible"/>
                                      </p:to>
                                    </p:set>
                                    <p:animEffect transition="in" filter="wipe(left)">
                                      <p:cBhvr>
                                        <p:cTn id="7" dur="500"/>
                                        <p:tgtEl>
                                          <p:spTgt spid="153"/>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 grpId="0"/>
      <p:bldP spid="153" grpId="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形" descr="E:\006包图网\素材\商务渐变\60215ca3e2090.jpg60215ca3e2090"/>
          <p:cNvPicPr>
            <a:picLocks noChangeAspect="1"/>
          </p:cNvPicPr>
          <p:nvPr/>
        </p:nvPicPr>
        <p:blipFill>
          <a:blip r:embed="rId3" cstate="screen"/>
          <a:srcRect/>
          <a:stretch>
            <a:fillRect/>
          </a:stretch>
        </p:blipFill>
        <p:spPr>
          <a:xfrm flipH="1">
            <a:off x="-97790" y="635"/>
            <a:ext cx="12343765" cy="6857365"/>
          </a:xfrm>
          <a:prstGeom prst="rect">
            <a:avLst/>
          </a:prstGeom>
        </p:spPr>
      </p:pic>
      <p:sp>
        <p:nvSpPr>
          <p:cNvPr id="38" name="图形"/>
          <p:cNvSpPr/>
          <p:nvPr/>
        </p:nvSpPr>
        <p:spPr>
          <a:xfrm>
            <a:off x="-97155" y="635"/>
            <a:ext cx="12342495" cy="6858000"/>
          </a:xfrm>
          <a:prstGeom prst="rect">
            <a:avLst/>
          </a:prstGeom>
          <a:gradFill>
            <a:gsLst>
              <a:gs pos="15000">
                <a:srgbClr val="070588">
                  <a:alpha val="0"/>
                </a:srgbClr>
              </a:gs>
              <a:gs pos="41000">
                <a:srgbClr val="070588">
                  <a:alpha val="100000"/>
                </a:srgbClr>
              </a:gs>
              <a:gs pos="67000">
                <a:srgbClr val="070588">
                  <a:alpha val="37000"/>
                </a:srgbClr>
              </a:gs>
            </a:gsLst>
            <a:lin ang="162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7" name="图形"/>
          <p:cNvGrpSpPr/>
          <p:nvPr/>
        </p:nvGrpSpPr>
        <p:grpSpPr>
          <a:xfrm>
            <a:off x="2134870" y="1228725"/>
            <a:ext cx="8194675" cy="3616960"/>
            <a:chOff x="3362" y="1935"/>
            <a:chExt cx="12905" cy="5696"/>
          </a:xfrm>
        </p:grpSpPr>
        <p:sp>
          <p:nvSpPr>
            <p:cNvPr id="6" name="图形"/>
            <p:cNvSpPr txBox="1"/>
            <p:nvPr/>
          </p:nvSpPr>
          <p:spPr>
            <a:xfrm>
              <a:off x="3362" y="4179"/>
              <a:ext cx="12905" cy="1890"/>
            </a:xfrm>
            <a:prstGeom prst="rect">
              <a:avLst/>
            </a:prstGeom>
            <a:noFill/>
          </p:spPr>
          <p:txBody>
            <a:bodyPr wrap="square" rtlCol="0">
              <a:spAutoFit/>
            </a:bodyPr>
            <a:lstStyle>
              <a:defPPr>
                <a:defRPr lang="zh-CN"/>
              </a:defPPr>
              <a:lvl1pPr algn="ctr">
                <a:defRPr sz="7200" b="1">
                  <a:ln>
                    <a:noFill/>
                  </a:ln>
                  <a:solidFill>
                    <a:schemeClr val="bg1"/>
                  </a:solidFill>
                  <a:effectLst/>
                  <a:uLnTx/>
                  <a:uFillTx/>
                  <a:cs typeface="+mn-ea"/>
                </a:defRPr>
              </a:lvl1pPr>
            </a:lstStyle>
            <a:p>
              <a:r>
                <a:rPr lang="zh-CN" altLang="en-US" dirty="0">
                  <a:sym typeface="+mn-lt"/>
                </a:rPr>
                <a:t>过程管理</a:t>
              </a:r>
            </a:p>
          </p:txBody>
        </p:sp>
        <p:sp>
          <p:nvSpPr>
            <p:cNvPr id="7" name="图形"/>
            <p:cNvSpPr txBox="1"/>
            <p:nvPr/>
          </p:nvSpPr>
          <p:spPr>
            <a:xfrm>
              <a:off x="5044" y="5910"/>
              <a:ext cx="9531" cy="530"/>
            </a:xfrm>
            <a:prstGeom prst="rect">
              <a:avLst/>
            </a:prstGeom>
            <a:noFill/>
          </p:spPr>
          <p:txBody>
            <a:bodyPr wrap="square" rtlCol="0">
              <a:spAutoFit/>
            </a:bodyPr>
            <a:lstStyle/>
            <a:p>
              <a:pPr marL="0" marR="0" lvl="0" indent="0" algn="ctr" defTabSz="913765" rtl="0" eaLnBrk="1" fontAlgn="auto" latinLnBrk="0" hangingPunct="1">
                <a:lnSpc>
                  <a:spcPct val="150000"/>
                </a:lnSpc>
                <a:spcBef>
                  <a:spcPts val="0"/>
                </a:spcBef>
                <a:spcAft>
                  <a:spcPts val="0"/>
                </a:spcAft>
                <a:buClrTx/>
                <a:buSzPct val="25000"/>
                <a:buFontTx/>
                <a:buNone/>
                <a:defRPr/>
              </a:pPr>
              <a:r>
                <a:rPr lang="zh-CN" altLang="en-US" sz="1200" kern="0" dirty="0">
                  <a:solidFill>
                    <a:schemeClr val="bg1">
                      <a:alpha val="83000"/>
                    </a:schemeClr>
                  </a:solidFill>
                  <a:uFillTx/>
                  <a:cs typeface="+mn-ea"/>
                  <a:sym typeface="+mn-lt"/>
                </a:rPr>
                <a:t>我们怎么做的</a:t>
              </a:r>
              <a:endParaRPr lang="en-US" altLang="zh-CN" sz="1200" kern="0" dirty="0">
                <a:solidFill>
                  <a:schemeClr val="bg1">
                    <a:alpha val="83000"/>
                  </a:schemeClr>
                </a:solidFill>
                <a:uFillTx/>
                <a:cs typeface="+mn-ea"/>
                <a:sym typeface="+mn-lt"/>
              </a:endParaRPr>
            </a:p>
          </p:txBody>
        </p:sp>
        <p:sp>
          <p:nvSpPr>
            <p:cNvPr id="9" name="图形"/>
            <p:cNvSpPr txBox="1"/>
            <p:nvPr/>
          </p:nvSpPr>
          <p:spPr>
            <a:xfrm>
              <a:off x="7838" y="1935"/>
              <a:ext cx="4224" cy="4168"/>
            </a:xfrm>
            <a:prstGeom prst="rect">
              <a:avLst/>
            </a:prstGeom>
            <a:noFill/>
          </p:spPr>
          <p:txBody>
            <a:bodyPr wrap="none" rtlCol="0">
              <a:spAutoFit/>
            </a:bodyPr>
            <a:lstStyle/>
            <a:p>
              <a:r>
                <a:rPr lang="zh-CN" altLang="en-US" sz="16600" dirty="0">
                  <a:gradFill>
                    <a:gsLst>
                      <a:gs pos="39000">
                        <a:srgbClr val="37CEFF"/>
                      </a:gs>
                      <a:gs pos="74000">
                        <a:srgbClr val="161553">
                          <a:alpha val="0"/>
                        </a:srgbClr>
                      </a:gs>
                    </a:gsLst>
                    <a:lin ang="5400000" scaled="0"/>
                  </a:gradFill>
                  <a:cs typeface="+mn-ea"/>
                  <a:sym typeface="+mn-lt"/>
                </a:rPr>
                <a:t>0</a:t>
              </a:r>
              <a:r>
                <a:rPr lang="en-US" altLang="zh-CN" sz="16600" dirty="0">
                  <a:gradFill>
                    <a:gsLst>
                      <a:gs pos="39000">
                        <a:srgbClr val="37CEFF"/>
                      </a:gs>
                      <a:gs pos="74000">
                        <a:srgbClr val="161553">
                          <a:alpha val="0"/>
                        </a:srgbClr>
                      </a:gs>
                    </a:gsLst>
                    <a:lin ang="5400000" scaled="0"/>
                  </a:gradFill>
                  <a:cs typeface="+mn-ea"/>
                  <a:sym typeface="+mn-lt"/>
                </a:rPr>
                <a:t>4</a:t>
              </a:r>
            </a:p>
          </p:txBody>
        </p:sp>
        <p:grpSp>
          <p:nvGrpSpPr>
            <p:cNvPr id="3" name="组合 2"/>
            <p:cNvGrpSpPr/>
            <p:nvPr/>
          </p:nvGrpSpPr>
          <p:grpSpPr>
            <a:xfrm rot="10800000">
              <a:off x="9439" y="7404"/>
              <a:ext cx="996" cy="227"/>
              <a:chOff x="9270" y="2823"/>
              <a:chExt cx="799" cy="182"/>
            </a:xfrm>
            <a:solidFill>
              <a:schemeClr val="bg1"/>
            </a:solidFill>
          </p:grpSpPr>
          <p:sp>
            <p:nvSpPr>
              <p:cNvPr id="71" name="图形"/>
              <p:cNvSpPr/>
              <p:nvPr/>
            </p:nvSpPr>
            <p:spPr>
              <a:xfrm>
                <a:off x="9270" y="2823"/>
                <a:ext cx="183" cy="183"/>
              </a:xfrm>
              <a:prstGeom prst="ellipse">
                <a:avLst/>
              </a:prstGeom>
              <a:solidFill>
                <a:srgbClr val="75BAF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lumMod val="100000"/>
                    </a:prstClr>
                  </a:solidFill>
                  <a:effectLst/>
                  <a:uLnTx/>
                  <a:uFillTx/>
                  <a:cs typeface="+mn-ea"/>
                  <a:sym typeface="+mn-lt"/>
                </a:endParaRPr>
              </a:p>
            </p:txBody>
          </p:sp>
          <p:sp>
            <p:nvSpPr>
              <p:cNvPr id="72" name="图形"/>
              <p:cNvSpPr/>
              <p:nvPr/>
            </p:nvSpPr>
            <p:spPr>
              <a:xfrm>
                <a:off x="9578" y="2823"/>
                <a:ext cx="183" cy="183"/>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lumMod val="100000"/>
                    </a:prstClr>
                  </a:solidFill>
                  <a:effectLst/>
                  <a:uLnTx/>
                  <a:uFillTx/>
                  <a:cs typeface="+mn-ea"/>
                  <a:sym typeface="+mn-lt"/>
                </a:endParaRPr>
              </a:p>
            </p:txBody>
          </p:sp>
          <p:sp>
            <p:nvSpPr>
              <p:cNvPr id="65" name="图形"/>
              <p:cNvSpPr/>
              <p:nvPr/>
            </p:nvSpPr>
            <p:spPr>
              <a:xfrm>
                <a:off x="9887" y="2823"/>
                <a:ext cx="183" cy="183"/>
              </a:xfrm>
              <a:prstGeom prst="ellipse">
                <a:avLst/>
              </a:prstGeom>
              <a:solidFill>
                <a:srgbClr val="75BA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grpSp>
      <p:grpSp>
        <p:nvGrpSpPr>
          <p:cNvPr id="36" name="图形"/>
          <p:cNvGrpSpPr/>
          <p:nvPr/>
        </p:nvGrpSpPr>
        <p:grpSpPr>
          <a:xfrm flipV="1">
            <a:off x="2750185" y="6318250"/>
            <a:ext cx="8757920" cy="76200"/>
            <a:chOff x="2151" y="9388"/>
            <a:chExt cx="15996" cy="120"/>
          </a:xfrm>
        </p:grpSpPr>
        <p:sp>
          <p:nvSpPr>
            <p:cNvPr id="17" name="图形"/>
            <p:cNvSpPr/>
            <p:nvPr/>
          </p:nvSpPr>
          <p:spPr>
            <a:xfrm flipH="1">
              <a:off x="6120"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18" name="图形"/>
            <p:cNvSpPr/>
            <p:nvPr/>
          </p:nvSpPr>
          <p:spPr>
            <a:xfrm flipH="1">
              <a:off x="7443"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19" name="图形"/>
            <p:cNvSpPr/>
            <p:nvPr/>
          </p:nvSpPr>
          <p:spPr>
            <a:xfrm flipH="1">
              <a:off x="8766"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20" name="图形"/>
            <p:cNvSpPr/>
            <p:nvPr/>
          </p:nvSpPr>
          <p:spPr>
            <a:xfrm flipH="1">
              <a:off x="10089"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21" name="图形"/>
            <p:cNvSpPr/>
            <p:nvPr/>
          </p:nvSpPr>
          <p:spPr>
            <a:xfrm flipH="1">
              <a:off x="11412"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5" name="图形"/>
            <p:cNvSpPr/>
            <p:nvPr/>
          </p:nvSpPr>
          <p:spPr>
            <a:xfrm flipH="1">
              <a:off x="12735"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8" name="图形"/>
            <p:cNvSpPr/>
            <p:nvPr/>
          </p:nvSpPr>
          <p:spPr>
            <a:xfrm flipH="1">
              <a:off x="14058"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10" name="图形"/>
            <p:cNvSpPr/>
            <p:nvPr/>
          </p:nvSpPr>
          <p:spPr>
            <a:xfrm flipH="1">
              <a:off x="15381"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15" name="图形"/>
            <p:cNvSpPr/>
            <p:nvPr/>
          </p:nvSpPr>
          <p:spPr>
            <a:xfrm flipH="1">
              <a:off x="16704"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11" name="图形"/>
            <p:cNvSpPr/>
            <p:nvPr/>
          </p:nvSpPr>
          <p:spPr>
            <a:xfrm flipH="1">
              <a:off x="18027"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27" name="图形"/>
            <p:cNvSpPr/>
            <p:nvPr/>
          </p:nvSpPr>
          <p:spPr>
            <a:xfrm flipH="1">
              <a:off x="2151"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34" name="图形"/>
            <p:cNvSpPr/>
            <p:nvPr/>
          </p:nvSpPr>
          <p:spPr>
            <a:xfrm flipH="1">
              <a:off x="3474"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35" name="图形"/>
            <p:cNvSpPr/>
            <p:nvPr/>
          </p:nvSpPr>
          <p:spPr>
            <a:xfrm flipH="1">
              <a:off x="4797"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grpSp>
      <p:grpSp>
        <p:nvGrpSpPr>
          <p:cNvPr id="33" name="图形"/>
          <p:cNvGrpSpPr/>
          <p:nvPr/>
        </p:nvGrpSpPr>
        <p:grpSpPr>
          <a:xfrm>
            <a:off x="1493520" y="1847850"/>
            <a:ext cx="9018270" cy="1553210"/>
            <a:chOff x="2352" y="2910"/>
            <a:chExt cx="14202" cy="2446"/>
          </a:xfrm>
        </p:grpSpPr>
        <p:grpSp>
          <p:nvGrpSpPr>
            <p:cNvPr id="100" name="图形"/>
            <p:cNvGrpSpPr/>
            <p:nvPr/>
          </p:nvGrpSpPr>
          <p:grpSpPr>
            <a:xfrm>
              <a:off x="14829" y="3072"/>
              <a:ext cx="163" cy="1107"/>
              <a:chOff x="9993678" y="6703078"/>
              <a:chExt cx="81180" cy="553128"/>
            </a:xfrm>
          </p:grpSpPr>
          <p:cxnSp>
            <p:nvCxnSpPr>
              <p:cNvPr id="101" name="图形"/>
              <p:cNvCxnSpPr/>
              <p:nvPr/>
            </p:nvCxnSpPr>
            <p:spPr>
              <a:xfrm>
                <a:off x="10034268" y="6784258"/>
                <a:ext cx="0" cy="471948"/>
              </a:xfrm>
              <a:prstGeom prst="line">
                <a:avLst/>
              </a:prstGeom>
              <a:ln w="15875">
                <a:gradFill>
                  <a:gsLst>
                    <a:gs pos="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02" name="图形"/>
              <p:cNvSpPr/>
              <p:nvPr/>
            </p:nvSpPr>
            <p:spPr>
              <a:xfrm>
                <a:off x="9993678" y="6703078"/>
                <a:ext cx="81180" cy="81180"/>
              </a:xfrm>
              <a:prstGeom prst="ellipse">
                <a:avLst/>
              </a:prstGeom>
              <a:solidFill>
                <a:srgbClr val="75BAF9"/>
              </a:solidFill>
              <a:ln>
                <a:noFill/>
              </a:ln>
              <a:effectLst>
                <a:glow rad="203200">
                  <a:schemeClr val="accent1">
                    <a:alpha val="28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grpSp>
          <p:nvGrpSpPr>
            <p:cNvPr id="12" name="图形"/>
            <p:cNvGrpSpPr/>
            <p:nvPr/>
          </p:nvGrpSpPr>
          <p:grpSpPr>
            <a:xfrm>
              <a:off x="4352" y="2910"/>
              <a:ext cx="163" cy="1107"/>
              <a:chOff x="9993678" y="6703078"/>
              <a:chExt cx="81180" cy="553128"/>
            </a:xfrm>
          </p:grpSpPr>
          <p:cxnSp>
            <p:nvCxnSpPr>
              <p:cNvPr id="13" name="图形"/>
              <p:cNvCxnSpPr/>
              <p:nvPr/>
            </p:nvCxnSpPr>
            <p:spPr>
              <a:xfrm>
                <a:off x="10034268" y="6784258"/>
                <a:ext cx="0" cy="471948"/>
              </a:xfrm>
              <a:prstGeom prst="line">
                <a:avLst/>
              </a:prstGeom>
              <a:ln w="15875">
                <a:gradFill>
                  <a:gsLst>
                    <a:gs pos="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4" name="图形"/>
              <p:cNvSpPr/>
              <p:nvPr/>
            </p:nvSpPr>
            <p:spPr>
              <a:xfrm>
                <a:off x="9993678" y="6703078"/>
                <a:ext cx="81180" cy="81180"/>
              </a:xfrm>
              <a:prstGeom prst="ellipse">
                <a:avLst/>
              </a:prstGeom>
              <a:solidFill>
                <a:srgbClr val="75BAF9"/>
              </a:solidFill>
              <a:ln>
                <a:noFill/>
              </a:ln>
              <a:effectLst>
                <a:glow rad="203200">
                  <a:schemeClr val="accent1">
                    <a:alpha val="28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grpSp>
          <p:nvGrpSpPr>
            <p:cNvPr id="16" name="图形"/>
            <p:cNvGrpSpPr/>
            <p:nvPr/>
          </p:nvGrpSpPr>
          <p:grpSpPr>
            <a:xfrm>
              <a:off x="2352" y="4250"/>
              <a:ext cx="163" cy="1107"/>
              <a:chOff x="9993678" y="6703078"/>
              <a:chExt cx="81180" cy="553128"/>
            </a:xfrm>
          </p:grpSpPr>
          <p:cxnSp>
            <p:nvCxnSpPr>
              <p:cNvPr id="24" name="图形"/>
              <p:cNvCxnSpPr/>
              <p:nvPr/>
            </p:nvCxnSpPr>
            <p:spPr>
              <a:xfrm>
                <a:off x="10034268" y="6784258"/>
                <a:ext cx="0" cy="471948"/>
              </a:xfrm>
              <a:prstGeom prst="line">
                <a:avLst/>
              </a:prstGeom>
              <a:ln w="15875">
                <a:gradFill>
                  <a:gsLst>
                    <a:gs pos="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8" name="图形"/>
              <p:cNvSpPr/>
              <p:nvPr/>
            </p:nvSpPr>
            <p:spPr>
              <a:xfrm>
                <a:off x="9993678" y="6703078"/>
                <a:ext cx="81180" cy="81180"/>
              </a:xfrm>
              <a:prstGeom prst="ellipse">
                <a:avLst/>
              </a:prstGeom>
              <a:solidFill>
                <a:srgbClr val="75BAF9"/>
              </a:solidFill>
              <a:ln>
                <a:noFill/>
              </a:ln>
              <a:effectLst>
                <a:glow rad="203200">
                  <a:schemeClr val="accent1">
                    <a:alpha val="28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grpSp>
          <p:nvGrpSpPr>
            <p:cNvPr id="29" name="图形"/>
            <p:cNvGrpSpPr/>
            <p:nvPr/>
          </p:nvGrpSpPr>
          <p:grpSpPr>
            <a:xfrm>
              <a:off x="16392" y="4250"/>
              <a:ext cx="163" cy="1107"/>
              <a:chOff x="9993678" y="6703078"/>
              <a:chExt cx="81180" cy="553128"/>
            </a:xfrm>
          </p:grpSpPr>
          <p:cxnSp>
            <p:nvCxnSpPr>
              <p:cNvPr id="30" name="图形"/>
              <p:cNvCxnSpPr/>
              <p:nvPr/>
            </p:nvCxnSpPr>
            <p:spPr>
              <a:xfrm>
                <a:off x="10034268" y="6784258"/>
                <a:ext cx="0" cy="471948"/>
              </a:xfrm>
              <a:prstGeom prst="line">
                <a:avLst/>
              </a:prstGeom>
              <a:ln w="15875">
                <a:gradFill>
                  <a:gsLst>
                    <a:gs pos="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31" name="图形"/>
              <p:cNvSpPr/>
              <p:nvPr/>
            </p:nvSpPr>
            <p:spPr>
              <a:xfrm>
                <a:off x="9993678" y="6703078"/>
                <a:ext cx="81180" cy="81180"/>
              </a:xfrm>
              <a:prstGeom prst="ellipse">
                <a:avLst/>
              </a:prstGeom>
              <a:solidFill>
                <a:srgbClr val="75BAF9"/>
              </a:solidFill>
              <a:ln>
                <a:noFill/>
              </a:ln>
              <a:effectLst>
                <a:glow rad="203200">
                  <a:schemeClr val="accent1">
                    <a:alpha val="28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grpSp>
      <p:grpSp>
        <p:nvGrpSpPr>
          <p:cNvPr id="45" name="图形"/>
          <p:cNvGrpSpPr/>
          <p:nvPr/>
        </p:nvGrpSpPr>
        <p:grpSpPr>
          <a:xfrm>
            <a:off x="1020445" y="692150"/>
            <a:ext cx="10289540" cy="300990"/>
            <a:chOff x="1607" y="1090"/>
            <a:chExt cx="16204" cy="474"/>
          </a:xfrm>
        </p:grpSpPr>
        <p:grpSp>
          <p:nvGrpSpPr>
            <p:cNvPr id="46" name="图形"/>
            <p:cNvGrpSpPr/>
            <p:nvPr/>
          </p:nvGrpSpPr>
          <p:grpSpPr>
            <a:xfrm>
              <a:off x="1607" y="1090"/>
              <a:ext cx="368" cy="184"/>
              <a:chOff x="7542330" y="1176595"/>
              <a:chExt cx="180020" cy="90010"/>
            </a:xfrm>
          </p:grpSpPr>
          <p:cxnSp>
            <p:nvCxnSpPr>
              <p:cNvPr id="48" name="图形"/>
              <p:cNvCxnSpPr/>
              <p:nvPr/>
            </p:nvCxnSpPr>
            <p:spPr>
              <a:xfrm>
                <a:off x="7542330" y="1176595"/>
                <a:ext cx="1800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9" name="图形"/>
              <p:cNvCxnSpPr/>
              <p:nvPr/>
            </p:nvCxnSpPr>
            <p:spPr>
              <a:xfrm>
                <a:off x="7542330" y="1221600"/>
                <a:ext cx="1800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0" name="图形"/>
              <p:cNvCxnSpPr/>
              <p:nvPr/>
            </p:nvCxnSpPr>
            <p:spPr>
              <a:xfrm>
                <a:off x="7542330" y="1266605"/>
                <a:ext cx="1800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47" name="图形"/>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188" y="1182"/>
              <a:ext cx="623" cy="382"/>
            </a:xfrm>
            <a:prstGeom prst="rect">
              <a:avLst/>
            </a:prstGeom>
          </p:spPr>
        </p:pic>
      </p:grpSp>
    </p:spTree>
    <p:custDataLst>
      <p:tags r:id="rId1"/>
    </p:custDataLst>
  </p:cSld>
  <p:clrMapOvr>
    <a:masterClrMapping/>
  </p:clrMapOvr>
  <p:transition>
    <p:check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3" presetClass="entr" presetSubtype="16" fill="hold" nodeType="afterEffect">
                                  <p:stCondLst>
                                    <p:cond delay="0"/>
                                  </p:stCondLst>
                                  <p:childTnLst>
                                    <p:set>
                                      <p:cBhvr>
                                        <p:cTn id="6" dur="500" fill="hold">
                                          <p:stCondLst>
                                            <p:cond delay="0"/>
                                          </p:stCondLst>
                                        </p:cTn>
                                        <p:tgtEl>
                                          <p:spTgt spid="37"/>
                                        </p:tgtEl>
                                        <p:attrNameLst>
                                          <p:attrName>style.visibility</p:attrName>
                                        </p:attrNameLst>
                                      </p:cBhvr>
                                      <p:to>
                                        <p:strVal val="visible"/>
                                      </p:to>
                                    </p:set>
                                    <p:animEffect transition="in" filter="plus(in)">
                                      <p:cBhvr>
                                        <p:cTn id="7" dur="500"/>
                                        <p:tgtEl>
                                          <p:spTgt spid="37"/>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36"/>
                                        </p:tgtEl>
                                        <p:attrNameLst>
                                          <p:attrName>style.visibility</p:attrName>
                                        </p:attrNameLst>
                                      </p:cBhvr>
                                      <p:to>
                                        <p:strVal val="visible"/>
                                      </p:to>
                                    </p:set>
                                    <p:animEffect transition="in" filter="blinds(horizontal)">
                                      <p:cBhvr>
                                        <p:cTn id="11" dur="500"/>
                                        <p:tgtEl>
                                          <p:spTgt spid="36"/>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blinds(horizontal)">
                                      <p:cBhvr>
                                        <p:cTn id="15" dur="500"/>
                                        <p:tgtEl>
                                          <p:spTgt spid="33"/>
                                        </p:tgtEl>
                                      </p:cBhvr>
                                    </p:animEffect>
                                  </p:childTnLst>
                                </p:cTn>
                              </p:par>
                            </p:childTnLst>
                          </p:cTn>
                        </p:par>
                        <p:par>
                          <p:cTn id="16" fill="hold">
                            <p:stCondLst>
                              <p:cond delay="1500"/>
                            </p:stCondLst>
                            <p:childTnLst>
                              <p:par>
                                <p:cTn id="17" presetID="16" presetClass="entr" presetSubtype="21" fill="hold" nodeType="afterEffect">
                                  <p:stCondLst>
                                    <p:cond delay="0"/>
                                  </p:stCondLst>
                                  <p:childTnLst>
                                    <p:set>
                                      <p:cBhvr>
                                        <p:cTn id="18" dur="1000" fill="hold">
                                          <p:stCondLst>
                                            <p:cond delay="0"/>
                                          </p:stCondLst>
                                        </p:cTn>
                                        <p:tgtEl>
                                          <p:spTgt spid="45"/>
                                        </p:tgtEl>
                                        <p:attrNameLst>
                                          <p:attrName>style.visibility</p:attrName>
                                        </p:attrNameLst>
                                      </p:cBhvr>
                                      <p:to>
                                        <p:strVal val="visible"/>
                                      </p:to>
                                    </p:set>
                                    <p:animEffect transition="in" filter="barn(inVertical)">
                                      <p:cBhvr>
                                        <p:cTn id="19" dur="10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62276C-D0A1-CD54-B491-E6F3B1F6FA32}"/>
            </a:ext>
          </a:extLst>
        </p:cNvPr>
        <p:cNvGrpSpPr/>
        <p:nvPr/>
      </p:nvGrpSpPr>
      <p:grpSpPr>
        <a:xfrm>
          <a:off x="0" y="0"/>
          <a:ext cx="0" cy="0"/>
          <a:chOff x="0" y="0"/>
          <a:chExt cx="0" cy="0"/>
        </a:xfrm>
      </p:grpSpPr>
      <p:grpSp>
        <p:nvGrpSpPr>
          <p:cNvPr id="6" name="组合 5">
            <a:extLst>
              <a:ext uri="{FF2B5EF4-FFF2-40B4-BE49-F238E27FC236}">
                <a16:creationId xmlns:a16="http://schemas.microsoft.com/office/drawing/2014/main" id="{F0404B3F-E52D-3D6E-F3FD-503D0A4D4999}"/>
              </a:ext>
            </a:extLst>
          </p:cNvPr>
          <p:cNvGrpSpPr/>
          <p:nvPr/>
        </p:nvGrpSpPr>
        <p:grpSpPr>
          <a:xfrm>
            <a:off x="407941" y="2081349"/>
            <a:ext cx="1999411" cy="3325222"/>
            <a:chOff x="1218" y="3184"/>
            <a:chExt cx="3821" cy="5486"/>
          </a:xfrm>
        </p:grpSpPr>
        <p:sp>
          <p:nvSpPr>
            <p:cNvPr id="59" name="图形">
              <a:extLst>
                <a:ext uri="{FF2B5EF4-FFF2-40B4-BE49-F238E27FC236}">
                  <a16:creationId xmlns:a16="http://schemas.microsoft.com/office/drawing/2014/main" id="{34ED8380-369A-2E3F-0ED2-B6F8A8756C4F}"/>
                </a:ext>
              </a:extLst>
            </p:cNvPr>
            <p:cNvSpPr/>
            <p:nvPr/>
          </p:nvSpPr>
          <p:spPr bwMode="auto">
            <a:xfrm>
              <a:off x="1392" y="3184"/>
              <a:ext cx="3505" cy="5486"/>
            </a:xfrm>
            <a:custGeom>
              <a:avLst/>
              <a:gdLst>
                <a:gd name="T0" fmla="*/ 364 w 364"/>
                <a:gd name="T1" fmla="*/ 483 h 568"/>
                <a:gd name="T2" fmla="*/ 182 w 364"/>
                <a:gd name="T3" fmla="*/ 568 h 568"/>
                <a:gd name="T4" fmla="*/ 0 w 364"/>
                <a:gd name="T5" fmla="*/ 483 h 568"/>
                <a:gd name="T6" fmla="*/ 0 w 364"/>
                <a:gd name="T7" fmla="*/ 16 h 568"/>
                <a:gd name="T8" fmla="*/ 22 w 364"/>
                <a:gd name="T9" fmla="*/ 0 h 568"/>
                <a:gd name="T10" fmla="*/ 342 w 364"/>
                <a:gd name="T11" fmla="*/ 0 h 568"/>
                <a:gd name="T12" fmla="*/ 364 w 364"/>
                <a:gd name="T13" fmla="*/ 16 h 568"/>
                <a:gd name="T14" fmla="*/ 364 w 364"/>
                <a:gd name="T15" fmla="*/ 483 h 5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4" h="568">
                  <a:moveTo>
                    <a:pt x="364" y="483"/>
                  </a:moveTo>
                  <a:cubicBezTo>
                    <a:pt x="364" y="492"/>
                    <a:pt x="182" y="568"/>
                    <a:pt x="182" y="568"/>
                  </a:cubicBezTo>
                  <a:cubicBezTo>
                    <a:pt x="182" y="568"/>
                    <a:pt x="0" y="492"/>
                    <a:pt x="0" y="483"/>
                  </a:cubicBezTo>
                  <a:cubicBezTo>
                    <a:pt x="0" y="16"/>
                    <a:pt x="0" y="16"/>
                    <a:pt x="0" y="16"/>
                  </a:cubicBezTo>
                  <a:cubicBezTo>
                    <a:pt x="0" y="7"/>
                    <a:pt x="10" y="0"/>
                    <a:pt x="22" y="0"/>
                  </a:cubicBezTo>
                  <a:cubicBezTo>
                    <a:pt x="342" y="0"/>
                    <a:pt x="342" y="0"/>
                    <a:pt x="342" y="0"/>
                  </a:cubicBezTo>
                  <a:cubicBezTo>
                    <a:pt x="354" y="0"/>
                    <a:pt x="364" y="7"/>
                    <a:pt x="364" y="16"/>
                  </a:cubicBezTo>
                  <a:lnTo>
                    <a:pt x="364" y="483"/>
                  </a:lnTo>
                  <a:close/>
                </a:path>
              </a:pathLst>
            </a:custGeom>
            <a:solidFill>
              <a:schemeClr val="bg2">
                <a:lumMod val="95000"/>
              </a:schemeClr>
            </a:solidFill>
            <a:ln>
              <a:noFill/>
            </a:ln>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prstClr val="black"/>
                </a:solidFill>
                <a:effectLst/>
                <a:uLnTx/>
                <a:uFillTx/>
                <a:cs typeface="+mn-ea"/>
                <a:sym typeface="+mn-lt"/>
              </a:endParaRPr>
            </a:p>
          </p:txBody>
        </p:sp>
        <p:sp>
          <p:nvSpPr>
            <p:cNvPr id="60" name="图形">
              <a:extLst>
                <a:ext uri="{FF2B5EF4-FFF2-40B4-BE49-F238E27FC236}">
                  <a16:creationId xmlns:a16="http://schemas.microsoft.com/office/drawing/2014/main" id="{B34B4B6F-74F4-BD45-C3A5-3EA705172827}"/>
                </a:ext>
              </a:extLst>
            </p:cNvPr>
            <p:cNvSpPr>
              <a:spLocks noChangeArrowheads="1"/>
            </p:cNvSpPr>
            <p:nvPr/>
          </p:nvSpPr>
          <p:spPr bwMode="auto">
            <a:xfrm>
              <a:off x="1218" y="3904"/>
              <a:ext cx="3821" cy="1590"/>
            </a:xfrm>
            <a:prstGeom prst="rect">
              <a:avLst/>
            </a:prstGeom>
            <a:gradFill>
              <a:gsLst>
                <a:gs pos="14000">
                  <a:schemeClr val="accent1"/>
                </a:gs>
                <a:gs pos="100000">
                  <a:schemeClr val="accent2"/>
                </a:gs>
              </a:gsLst>
              <a:lin ang="2700000" scaled="0"/>
            </a:gradFill>
            <a:ln>
              <a:noFill/>
            </a:ln>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prstClr val="black"/>
                </a:solidFill>
                <a:effectLst/>
                <a:uLnTx/>
                <a:uFillTx/>
                <a:cs typeface="+mn-ea"/>
                <a:sym typeface="+mn-lt"/>
              </a:endParaRPr>
            </a:p>
          </p:txBody>
        </p:sp>
        <p:sp>
          <p:nvSpPr>
            <p:cNvPr id="27668" name="图形">
              <a:extLst>
                <a:ext uri="{FF2B5EF4-FFF2-40B4-BE49-F238E27FC236}">
                  <a16:creationId xmlns:a16="http://schemas.microsoft.com/office/drawing/2014/main" id="{1B3F71FF-39F1-7E3E-874C-AA6C5482A534}"/>
                </a:ext>
              </a:extLst>
            </p:cNvPr>
            <p:cNvSpPr>
              <a:spLocks noChangeArrowheads="1"/>
            </p:cNvSpPr>
            <p:nvPr/>
          </p:nvSpPr>
          <p:spPr bwMode="auto">
            <a:xfrm>
              <a:off x="1464" y="5911"/>
              <a:ext cx="3329" cy="1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en-US" altLang="zh-CN" sz="1200" dirty="0">
                  <a:solidFill>
                    <a:schemeClr val="tx1">
                      <a:lumMod val="75000"/>
                      <a:lumOff val="25000"/>
                    </a:schemeClr>
                  </a:solidFill>
                  <a:cs typeface="+mn-ea"/>
                  <a:sym typeface="+mn-lt"/>
                </a:rPr>
                <a:t>actor-slot</a:t>
              </a:r>
              <a:r>
                <a:rPr lang="zh-CN" altLang="en-US" sz="1200" dirty="0">
                  <a:solidFill>
                    <a:schemeClr val="tx1">
                      <a:lumMod val="75000"/>
                      <a:lumOff val="25000"/>
                    </a:schemeClr>
                  </a:solidFill>
                  <a:cs typeface="+mn-ea"/>
                  <a:sym typeface="+mn-lt"/>
                </a:rPr>
                <a:t>框架构建，</a:t>
              </a:r>
              <a:r>
                <a:rPr lang="en-US" altLang="zh-CN" sz="1200" dirty="0">
                  <a:solidFill>
                    <a:schemeClr val="tx1">
                      <a:lumMod val="75000"/>
                      <a:lumOff val="25000"/>
                    </a:schemeClr>
                  </a:solidFill>
                  <a:cs typeface="+mn-ea"/>
                  <a:sym typeface="+mn-lt"/>
                </a:rPr>
                <a:t>snag order</a:t>
              </a:r>
              <a:r>
                <a:rPr lang="zh-CN" altLang="en-US" sz="1200" dirty="0">
                  <a:solidFill>
                    <a:schemeClr val="tx1">
                      <a:lumMod val="75000"/>
                      <a:lumOff val="25000"/>
                    </a:schemeClr>
                  </a:solidFill>
                  <a:cs typeface="+mn-ea"/>
                  <a:sym typeface="+mn-lt"/>
                </a:rPr>
                <a:t>链路并发优化，基本业务架构</a:t>
              </a:r>
            </a:p>
          </p:txBody>
        </p:sp>
        <p:sp>
          <p:nvSpPr>
            <p:cNvPr id="70" name="图形">
              <a:extLst>
                <a:ext uri="{FF2B5EF4-FFF2-40B4-BE49-F238E27FC236}">
                  <a16:creationId xmlns:a16="http://schemas.microsoft.com/office/drawing/2014/main" id="{F70AC751-A495-6DD5-D404-5955931A6B68}"/>
                </a:ext>
              </a:extLst>
            </p:cNvPr>
            <p:cNvSpPr/>
            <p:nvPr/>
          </p:nvSpPr>
          <p:spPr>
            <a:xfrm>
              <a:off x="1835" y="4409"/>
              <a:ext cx="2619" cy="609"/>
            </a:xfrm>
            <a:prstGeom prst="rect">
              <a:avLst/>
            </a:prstGeom>
          </p:spPr>
          <p:txBody>
            <a:bodyPr wrap="square">
              <a:spAutoFit/>
            </a:bodyPr>
            <a:lstStyle/>
            <a:p>
              <a:pPr algn="ctr" eaLnBrk="1" fontAlgn="auto" hangingPunct="1">
                <a:spcBef>
                  <a:spcPts val="0"/>
                </a:spcBef>
                <a:spcAft>
                  <a:spcPts val="0"/>
                </a:spcAft>
                <a:defRPr/>
              </a:pPr>
              <a:r>
                <a:rPr lang="zh-CN" altLang="en-US" dirty="0">
                  <a:solidFill>
                    <a:schemeClr val="bg1"/>
                  </a:solidFill>
                  <a:cs typeface="+mn-ea"/>
                  <a:sym typeface="+mn-lt"/>
                </a:rPr>
                <a:t>刘思哲</a:t>
              </a:r>
            </a:p>
          </p:txBody>
        </p:sp>
      </p:grpSp>
      <p:sp>
        <p:nvSpPr>
          <p:cNvPr id="5" name="图形">
            <a:extLst>
              <a:ext uri="{FF2B5EF4-FFF2-40B4-BE49-F238E27FC236}">
                <a16:creationId xmlns:a16="http://schemas.microsoft.com/office/drawing/2014/main" id="{F57EA008-9170-5C27-508E-644BEE13FAA6}"/>
              </a:ext>
            </a:extLst>
          </p:cNvPr>
          <p:cNvSpPr txBox="1"/>
          <p:nvPr/>
        </p:nvSpPr>
        <p:spPr>
          <a:xfrm>
            <a:off x="929640" y="612239"/>
            <a:ext cx="4339650" cy="646331"/>
          </a:xfrm>
          <a:prstGeom prst="rect">
            <a:avLst/>
          </a:prstGeom>
          <a:noFill/>
        </p:spPr>
        <p:txBody>
          <a:bodyPr wrap="none" rtlCol="0">
            <a:spAutoFit/>
          </a:bodyPr>
          <a:lstStyle/>
          <a:p>
            <a:pPr algn="ctr"/>
            <a:r>
              <a:rPr lang="zh-CN" altLang="en-US" sz="3600" noProof="0" dirty="0">
                <a:ln>
                  <a:noFill/>
                </a:ln>
                <a:solidFill>
                  <a:schemeClr val="tx1">
                    <a:lumMod val="75000"/>
                    <a:lumOff val="25000"/>
                  </a:schemeClr>
                </a:solidFill>
                <a:effectLst/>
                <a:uLnTx/>
                <a:uFillTx/>
                <a:cs typeface="+mn-ea"/>
                <a:sym typeface="+mn-lt"/>
              </a:rPr>
              <a:t>分工明确，有序推进</a:t>
            </a:r>
          </a:p>
        </p:txBody>
      </p:sp>
      <p:sp>
        <p:nvSpPr>
          <p:cNvPr id="2" name="图形">
            <a:extLst>
              <a:ext uri="{FF2B5EF4-FFF2-40B4-BE49-F238E27FC236}">
                <a16:creationId xmlns:a16="http://schemas.microsoft.com/office/drawing/2014/main" id="{801DFB74-8292-5236-AEFC-089F8E4335E6}"/>
              </a:ext>
            </a:extLst>
          </p:cNvPr>
          <p:cNvSpPr/>
          <p:nvPr/>
        </p:nvSpPr>
        <p:spPr>
          <a:xfrm>
            <a:off x="0" y="680085"/>
            <a:ext cx="939800" cy="535940"/>
          </a:xfrm>
          <a:prstGeom prst="rect">
            <a:avLst/>
          </a:prstGeom>
          <a:gradFill>
            <a:gsLst>
              <a:gs pos="0">
                <a:schemeClr val="accent2"/>
              </a:gs>
              <a:gs pos="91000">
                <a:schemeClr val="accent1"/>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图形">
            <a:extLst>
              <a:ext uri="{FF2B5EF4-FFF2-40B4-BE49-F238E27FC236}">
                <a16:creationId xmlns:a16="http://schemas.microsoft.com/office/drawing/2014/main" id="{78D326C8-4937-CFFB-E2F4-D040452A3B2E}"/>
              </a:ext>
            </a:extLst>
          </p:cNvPr>
          <p:cNvSpPr/>
          <p:nvPr/>
        </p:nvSpPr>
        <p:spPr>
          <a:xfrm>
            <a:off x="146685" y="651510"/>
            <a:ext cx="76200" cy="607060"/>
          </a:xfrm>
          <a:prstGeom prst="rect">
            <a:avLst/>
          </a:prstGeom>
          <a:solidFill>
            <a:schemeClr val="bg1"/>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图形">
            <a:extLst>
              <a:ext uri="{FF2B5EF4-FFF2-40B4-BE49-F238E27FC236}">
                <a16:creationId xmlns:a16="http://schemas.microsoft.com/office/drawing/2014/main" id="{583B03BF-A0E4-E659-3B01-96F51C02F777}"/>
              </a:ext>
            </a:extLst>
          </p:cNvPr>
          <p:cNvSpPr/>
          <p:nvPr/>
        </p:nvSpPr>
        <p:spPr>
          <a:xfrm>
            <a:off x="333375" y="608965"/>
            <a:ext cx="76200" cy="607060"/>
          </a:xfrm>
          <a:prstGeom prst="rect">
            <a:avLst/>
          </a:prstGeom>
          <a:solidFill>
            <a:schemeClr val="bg1"/>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5" name="组合 14">
            <a:extLst>
              <a:ext uri="{FF2B5EF4-FFF2-40B4-BE49-F238E27FC236}">
                <a16:creationId xmlns:a16="http://schemas.microsoft.com/office/drawing/2014/main" id="{CF9237BA-9B71-B42F-2ED9-70315D7510F0}"/>
              </a:ext>
            </a:extLst>
          </p:cNvPr>
          <p:cNvGrpSpPr/>
          <p:nvPr/>
        </p:nvGrpSpPr>
        <p:grpSpPr>
          <a:xfrm>
            <a:off x="2859404" y="2081349"/>
            <a:ext cx="1999411" cy="3325222"/>
            <a:chOff x="1218" y="3184"/>
            <a:chExt cx="3821" cy="5486"/>
          </a:xfrm>
        </p:grpSpPr>
        <p:sp>
          <p:nvSpPr>
            <p:cNvPr id="16" name="图形">
              <a:extLst>
                <a:ext uri="{FF2B5EF4-FFF2-40B4-BE49-F238E27FC236}">
                  <a16:creationId xmlns:a16="http://schemas.microsoft.com/office/drawing/2014/main" id="{5123FB8C-3E92-D19F-C0C7-00D0EEAC93D0}"/>
                </a:ext>
              </a:extLst>
            </p:cNvPr>
            <p:cNvSpPr/>
            <p:nvPr/>
          </p:nvSpPr>
          <p:spPr bwMode="auto">
            <a:xfrm>
              <a:off x="1392" y="3184"/>
              <a:ext cx="3505" cy="5486"/>
            </a:xfrm>
            <a:custGeom>
              <a:avLst/>
              <a:gdLst>
                <a:gd name="T0" fmla="*/ 364 w 364"/>
                <a:gd name="T1" fmla="*/ 483 h 568"/>
                <a:gd name="T2" fmla="*/ 182 w 364"/>
                <a:gd name="T3" fmla="*/ 568 h 568"/>
                <a:gd name="T4" fmla="*/ 0 w 364"/>
                <a:gd name="T5" fmla="*/ 483 h 568"/>
                <a:gd name="T6" fmla="*/ 0 w 364"/>
                <a:gd name="T7" fmla="*/ 16 h 568"/>
                <a:gd name="T8" fmla="*/ 22 w 364"/>
                <a:gd name="T9" fmla="*/ 0 h 568"/>
                <a:gd name="T10" fmla="*/ 342 w 364"/>
                <a:gd name="T11" fmla="*/ 0 h 568"/>
                <a:gd name="T12" fmla="*/ 364 w 364"/>
                <a:gd name="T13" fmla="*/ 16 h 568"/>
                <a:gd name="T14" fmla="*/ 364 w 364"/>
                <a:gd name="T15" fmla="*/ 483 h 5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4" h="568">
                  <a:moveTo>
                    <a:pt x="364" y="483"/>
                  </a:moveTo>
                  <a:cubicBezTo>
                    <a:pt x="364" y="492"/>
                    <a:pt x="182" y="568"/>
                    <a:pt x="182" y="568"/>
                  </a:cubicBezTo>
                  <a:cubicBezTo>
                    <a:pt x="182" y="568"/>
                    <a:pt x="0" y="492"/>
                    <a:pt x="0" y="483"/>
                  </a:cubicBezTo>
                  <a:cubicBezTo>
                    <a:pt x="0" y="16"/>
                    <a:pt x="0" y="16"/>
                    <a:pt x="0" y="16"/>
                  </a:cubicBezTo>
                  <a:cubicBezTo>
                    <a:pt x="0" y="7"/>
                    <a:pt x="10" y="0"/>
                    <a:pt x="22" y="0"/>
                  </a:cubicBezTo>
                  <a:cubicBezTo>
                    <a:pt x="342" y="0"/>
                    <a:pt x="342" y="0"/>
                    <a:pt x="342" y="0"/>
                  </a:cubicBezTo>
                  <a:cubicBezTo>
                    <a:pt x="354" y="0"/>
                    <a:pt x="364" y="7"/>
                    <a:pt x="364" y="16"/>
                  </a:cubicBezTo>
                  <a:lnTo>
                    <a:pt x="364" y="483"/>
                  </a:lnTo>
                  <a:close/>
                </a:path>
              </a:pathLst>
            </a:custGeom>
            <a:solidFill>
              <a:schemeClr val="bg2">
                <a:lumMod val="95000"/>
              </a:schemeClr>
            </a:solidFill>
            <a:ln>
              <a:noFill/>
            </a:ln>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prstClr val="black"/>
                </a:solidFill>
                <a:effectLst/>
                <a:uLnTx/>
                <a:uFillTx/>
                <a:cs typeface="+mn-ea"/>
                <a:sym typeface="+mn-lt"/>
              </a:endParaRPr>
            </a:p>
          </p:txBody>
        </p:sp>
        <p:sp>
          <p:nvSpPr>
            <p:cNvPr id="17" name="图形">
              <a:extLst>
                <a:ext uri="{FF2B5EF4-FFF2-40B4-BE49-F238E27FC236}">
                  <a16:creationId xmlns:a16="http://schemas.microsoft.com/office/drawing/2014/main" id="{6A5F3D64-36D7-E94B-C9FE-43F553050DC5}"/>
                </a:ext>
              </a:extLst>
            </p:cNvPr>
            <p:cNvSpPr>
              <a:spLocks noChangeArrowheads="1"/>
            </p:cNvSpPr>
            <p:nvPr/>
          </p:nvSpPr>
          <p:spPr bwMode="auto">
            <a:xfrm>
              <a:off x="1218" y="3904"/>
              <a:ext cx="3821" cy="1590"/>
            </a:xfrm>
            <a:prstGeom prst="rect">
              <a:avLst/>
            </a:prstGeom>
            <a:gradFill>
              <a:gsLst>
                <a:gs pos="14000">
                  <a:schemeClr val="accent1"/>
                </a:gs>
                <a:gs pos="100000">
                  <a:schemeClr val="accent2"/>
                </a:gs>
              </a:gsLst>
              <a:lin ang="2700000" scaled="0"/>
            </a:gradFill>
            <a:ln>
              <a:noFill/>
            </a:ln>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prstClr val="black"/>
                </a:solidFill>
                <a:effectLst/>
                <a:uLnTx/>
                <a:uFillTx/>
                <a:cs typeface="+mn-ea"/>
                <a:sym typeface="+mn-lt"/>
              </a:endParaRPr>
            </a:p>
          </p:txBody>
        </p:sp>
        <p:sp>
          <p:nvSpPr>
            <p:cNvPr id="18" name="图形">
              <a:extLst>
                <a:ext uri="{FF2B5EF4-FFF2-40B4-BE49-F238E27FC236}">
                  <a16:creationId xmlns:a16="http://schemas.microsoft.com/office/drawing/2014/main" id="{63DB3A22-1635-4D0E-E875-18A877D83F70}"/>
                </a:ext>
              </a:extLst>
            </p:cNvPr>
            <p:cNvSpPr>
              <a:spLocks noChangeArrowheads="1"/>
            </p:cNvSpPr>
            <p:nvPr/>
          </p:nvSpPr>
          <p:spPr bwMode="auto">
            <a:xfrm>
              <a:off x="1464" y="5911"/>
              <a:ext cx="3329" cy="19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zh-CN" altLang="en-US" sz="1200" dirty="0">
                  <a:solidFill>
                    <a:schemeClr val="tx1">
                      <a:lumMod val="75000"/>
                      <a:lumOff val="25000"/>
                    </a:schemeClr>
                  </a:solidFill>
                  <a:cs typeface="+mn-ea"/>
                  <a:sym typeface="+mn-lt"/>
                </a:rPr>
                <a:t>功能模块、登录注册、商品商户、订单库存等实现、基础微服务内</a:t>
              </a:r>
              <a:r>
                <a:rPr lang="en-US" altLang="zh-CN" sz="1200" dirty="0" err="1">
                  <a:solidFill>
                    <a:schemeClr val="tx1">
                      <a:lumMod val="75000"/>
                      <a:lumOff val="25000"/>
                    </a:schemeClr>
                  </a:solidFill>
                  <a:cs typeface="+mn-ea"/>
                  <a:sym typeface="+mn-lt"/>
                </a:rPr>
                <a:t>redis</a:t>
              </a:r>
              <a:endParaRPr lang="en-US" altLang="zh-CN" sz="1200" dirty="0">
                <a:solidFill>
                  <a:schemeClr val="tx1">
                    <a:lumMod val="75000"/>
                    <a:lumOff val="25000"/>
                  </a:schemeClr>
                </a:solidFill>
                <a:cs typeface="+mn-ea"/>
                <a:sym typeface="+mn-lt"/>
              </a:endParaRPr>
            </a:p>
          </p:txBody>
        </p:sp>
        <p:sp>
          <p:nvSpPr>
            <p:cNvPr id="19" name="图形">
              <a:extLst>
                <a:ext uri="{FF2B5EF4-FFF2-40B4-BE49-F238E27FC236}">
                  <a16:creationId xmlns:a16="http://schemas.microsoft.com/office/drawing/2014/main" id="{941A70DA-11D9-68E0-6CC8-C8120334966B}"/>
                </a:ext>
              </a:extLst>
            </p:cNvPr>
            <p:cNvSpPr/>
            <p:nvPr/>
          </p:nvSpPr>
          <p:spPr>
            <a:xfrm>
              <a:off x="1835" y="4409"/>
              <a:ext cx="2619" cy="609"/>
            </a:xfrm>
            <a:prstGeom prst="rect">
              <a:avLst/>
            </a:prstGeom>
          </p:spPr>
          <p:txBody>
            <a:bodyPr wrap="square">
              <a:spAutoFit/>
            </a:bodyPr>
            <a:lstStyle/>
            <a:p>
              <a:pPr algn="ctr" eaLnBrk="1" fontAlgn="auto" hangingPunct="1">
                <a:spcBef>
                  <a:spcPts val="0"/>
                </a:spcBef>
                <a:spcAft>
                  <a:spcPts val="0"/>
                </a:spcAft>
                <a:defRPr/>
              </a:pPr>
              <a:r>
                <a:rPr lang="zh-CN" altLang="en-US" dirty="0">
                  <a:solidFill>
                    <a:schemeClr val="bg1"/>
                  </a:solidFill>
                  <a:cs typeface="+mn-ea"/>
                  <a:sym typeface="+mn-lt"/>
                </a:rPr>
                <a:t>王子安</a:t>
              </a:r>
            </a:p>
          </p:txBody>
        </p:sp>
      </p:grpSp>
      <p:grpSp>
        <p:nvGrpSpPr>
          <p:cNvPr id="20" name="组合 19">
            <a:extLst>
              <a:ext uri="{FF2B5EF4-FFF2-40B4-BE49-F238E27FC236}">
                <a16:creationId xmlns:a16="http://schemas.microsoft.com/office/drawing/2014/main" id="{5B02C851-B02E-E7FD-D1D0-D32F8521E64C}"/>
              </a:ext>
            </a:extLst>
          </p:cNvPr>
          <p:cNvGrpSpPr/>
          <p:nvPr/>
        </p:nvGrpSpPr>
        <p:grpSpPr>
          <a:xfrm>
            <a:off x="5096556" y="2071651"/>
            <a:ext cx="1999411" cy="3325222"/>
            <a:chOff x="1218" y="3184"/>
            <a:chExt cx="3821" cy="5486"/>
          </a:xfrm>
        </p:grpSpPr>
        <p:sp>
          <p:nvSpPr>
            <p:cNvPr id="21" name="图形">
              <a:extLst>
                <a:ext uri="{FF2B5EF4-FFF2-40B4-BE49-F238E27FC236}">
                  <a16:creationId xmlns:a16="http://schemas.microsoft.com/office/drawing/2014/main" id="{49C2EB50-3054-5798-33BA-13C4FBD1803E}"/>
                </a:ext>
              </a:extLst>
            </p:cNvPr>
            <p:cNvSpPr/>
            <p:nvPr/>
          </p:nvSpPr>
          <p:spPr bwMode="auto">
            <a:xfrm>
              <a:off x="1392" y="3184"/>
              <a:ext cx="3505" cy="5486"/>
            </a:xfrm>
            <a:custGeom>
              <a:avLst/>
              <a:gdLst>
                <a:gd name="T0" fmla="*/ 364 w 364"/>
                <a:gd name="T1" fmla="*/ 483 h 568"/>
                <a:gd name="T2" fmla="*/ 182 w 364"/>
                <a:gd name="T3" fmla="*/ 568 h 568"/>
                <a:gd name="T4" fmla="*/ 0 w 364"/>
                <a:gd name="T5" fmla="*/ 483 h 568"/>
                <a:gd name="T6" fmla="*/ 0 w 364"/>
                <a:gd name="T7" fmla="*/ 16 h 568"/>
                <a:gd name="T8" fmla="*/ 22 w 364"/>
                <a:gd name="T9" fmla="*/ 0 h 568"/>
                <a:gd name="T10" fmla="*/ 342 w 364"/>
                <a:gd name="T11" fmla="*/ 0 h 568"/>
                <a:gd name="T12" fmla="*/ 364 w 364"/>
                <a:gd name="T13" fmla="*/ 16 h 568"/>
                <a:gd name="T14" fmla="*/ 364 w 364"/>
                <a:gd name="T15" fmla="*/ 483 h 5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4" h="568">
                  <a:moveTo>
                    <a:pt x="364" y="483"/>
                  </a:moveTo>
                  <a:cubicBezTo>
                    <a:pt x="364" y="492"/>
                    <a:pt x="182" y="568"/>
                    <a:pt x="182" y="568"/>
                  </a:cubicBezTo>
                  <a:cubicBezTo>
                    <a:pt x="182" y="568"/>
                    <a:pt x="0" y="492"/>
                    <a:pt x="0" y="483"/>
                  </a:cubicBezTo>
                  <a:cubicBezTo>
                    <a:pt x="0" y="16"/>
                    <a:pt x="0" y="16"/>
                    <a:pt x="0" y="16"/>
                  </a:cubicBezTo>
                  <a:cubicBezTo>
                    <a:pt x="0" y="7"/>
                    <a:pt x="10" y="0"/>
                    <a:pt x="22" y="0"/>
                  </a:cubicBezTo>
                  <a:cubicBezTo>
                    <a:pt x="342" y="0"/>
                    <a:pt x="342" y="0"/>
                    <a:pt x="342" y="0"/>
                  </a:cubicBezTo>
                  <a:cubicBezTo>
                    <a:pt x="354" y="0"/>
                    <a:pt x="364" y="7"/>
                    <a:pt x="364" y="16"/>
                  </a:cubicBezTo>
                  <a:lnTo>
                    <a:pt x="364" y="483"/>
                  </a:lnTo>
                  <a:close/>
                </a:path>
              </a:pathLst>
            </a:custGeom>
            <a:solidFill>
              <a:schemeClr val="bg2">
                <a:lumMod val="95000"/>
              </a:schemeClr>
            </a:solidFill>
            <a:ln>
              <a:noFill/>
            </a:ln>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prstClr val="black"/>
                </a:solidFill>
                <a:effectLst/>
                <a:uLnTx/>
                <a:uFillTx/>
                <a:cs typeface="+mn-ea"/>
                <a:sym typeface="+mn-lt"/>
              </a:endParaRPr>
            </a:p>
          </p:txBody>
        </p:sp>
        <p:sp>
          <p:nvSpPr>
            <p:cNvPr id="22" name="图形">
              <a:extLst>
                <a:ext uri="{FF2B5EF4-FFF2-40B4-BE49-F238E27FC236}">
                  <a16:creationId xmlns:a16="http://schemas.microsoft.com/office/drawing/2014/main" id="{46F5C8C7-F403-B5F2-D0F4-94AD2CC5439D}"/>
                </a:ext>
              </a:extLst>
            </p:cNvPr>
            <p:cNvSpPr>
              <a:spLocks noChangeArrowheads="1"/>
            </p:cNvSpPr>
            <p:nvPr/>
          </p:nvSpPr>
          <p:spPr bwMode="auto">
            <a:xfrm>
              <a:off x="1218" y="3904"/>
              <a:ext cx="3821" cy="1590"/>
            </a:xfrm>
            <a:prstGeom prst="rect">
              <a:avLst/>
            </a:prstGeom>
            <a:gradFill>
              <a:gsLst>
                <a:gs pos="14000">
                  <a:schemeClr val="accent1"/>
                </a:gs>
                <a:gs pos="100000">
                  <a:schemeClr val="accent2"/>
                </a:gs>
              </a:gsLst>
              <a:lin ang="2700000" scaled="0"/>
            </a:gradFill>
            <a:ln>
              <a:noFill/>
            </a:ln>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prstClr val="black"/>
                </a:solidFill>
                <a:effectLst/>
                <a:uLnTx/>
                <a:uFillTx/>
                <a:cs typeface="+mn-ea"/>
                <a:sym typeface="+mn-lt"/>
              </a:endParaRPr>
            </a:p>
          </p:txBody>
        </p:sp>
        <p:sp>
          <p:nvSpPr>
            <p:cNvPr id="23" name="图形">
              <a:extLst>
                <a:ext uri="{FF2B5EF4-FFF2-40B4-BE49-F238E27FC236}">
                  <a16:creationId xmlns:a16="http://schemas.microsoft.com/office/drawing/2014/main" id="{B1246AD1-A736-CDB7-2C28-D49525FBC073}"/>
                </a:ext>
              </a:extLst>
            </p:cNvPr>
            <p:cNvSpPr>
              <a:spLocks noChangeArrowheads="1"/>
            </p:cNvSpPr>
            <p:nvPr/>
          </p:nvSpPr>
          <p:spPr bwMode="auto">
            <a:xfrm>
              <a:off x="1464" y="5911"/>
              <a:ext cx="3329" cy="19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zh-CN" altLang="en-US" sz="1200" dirty="0">
                  <a:solidFill>
                    <a:schemeClr val="tx1">
                      <a:lumMod val="75000"/>
                      <a:lumOff val="25000"/>
                    </a:schemeClr>
                  </a:solidFill>
                  <a:cs typeface="+mn-ea"/>
                  <a:sym typeface="+mn-lt"/>
                </a:rPr>
                <a:t>框架</a:t>
              </a:r>
              <a:r>
                <a:rPr lang="en-US" altLang="zh-CN" sz="1200" dirty="0">
                  <a:solidFill>
                    <a:schemeClr val="tx1">
                      <a:lumMod val="75000"/>
                      <a:lumOff val="25000"/>
                    </a:schemeClr>
                  </a:solidFill>
                  <a:cs typeface="+mn-ea"/>
                  <a:sym typeface="+mn-lt"/>
                </a:rPr>
                <a:t>stock</a:t>
              </a:r>
              <a:r>
                <a:rPr lang="zh-CN" altLang="en-US" sz="1200" dirty="0">
                  <a:solidFill>
                    <a:schemeClr val="tx1">
                      <a:lumMod val="75000"/>
                      <a:lumOff val="25000"/>
                    </a:schemeClr>
                  </a:solidFill>
                  <a:cs typeface="+mn-ea"/>
                  <a:sym typeface="+mn-lt"/>
                </a:rPr>
                <a:t>微服务的实现，</a:t>
              </a:r>
              <a:r>
                <a:rPr lang="en-US" altLang="zh-CN" sz="1200" dirty="0">
                  <a:solidFill>
                    <a:schemeClr val="tx1">
                      <a:lumMod val="75000"/>
                      <a:lumOff val="25000"/>
                    </a:schemeClr>
                  </a:solidFill>
                  <a:cs typeface="+mn-ea"/>
                  <a:sym typeface="+mn-lt"/>
                </a:rPr>
                <a:t>scaler</a:t>
              </a:r>
              <a:r>
                <a:rPr lang="zh-CN" altLang="en-US" sz="1200" dirty="0">
                  <a:solidFill>
                    <a:schemeClr val="tx1">
                      <a:lumMod val="75000"/>
                      <a:lumOff val="25000"/>
                    </a:schemeClr>
                  </a:solidFill>
                  <a:cs typeface="+mn-ea"/>
                  <a:sym typeface="+mn-lt"/>
                </a:rPr>
                <a:t>算法的优化，压力测试代码的编写与执行</a:t>
              </a:r>
            </a:p>
          </p:txBody>
        </p:sp>
        <p:sp>
          <p:nvSpPr>
            <p:cNvPr id="24" name="图形">
              <a:extLst>
                <a:ext uri="{FF2B5EF4-FFF2-40B4-BE49-F238E27FC236}">
                  <a16:creationId xmlns:a16="http://schemas.microsoft.com/office/drawing/2014/main" id="{8C035B86-96DD-18E8-D3A5-6EE14CFD1861}"/>
                </a:ext>
              </a:extLst>
            </p:cNvPr>
            <p:cNvSpPr/>
            <p:nvPr/>
          </p:nvSpPr>
          <p:spPr>
            <a:xfrm>
              <a:off x="1835" y="4409"/>
              <a:ext cx="2619" cy="609"/>
            </a:xfrm>
            <a:prstGeom prst="rect">
              <a:avLst/>
            </a:prstGeom>
          </p:spPr>
          <p:txBody>
            <a:bodyPr wrap="square">
              <a:spAutoFit/>
            </a:bodyPr>
            <a:lstStyle/>
            <a:p>
              <a:pPr algn="ctr" eaLnBrk="1" fontAlgn="auto" hangingPunct="1">
                <a:spcBef>
                  <a:spcPts val="0"/>
                </a:spcBef>
                <a:spcAft>
                  <a:spcPts val="0"/>
                </a:spcAft>
                <a:defRPr/>
              </a:pPr>
              <a:r>
                <a:rPr lang="zh-CN" altLang="en-US" dirty="0">
                  <a:solidFill>
                    <a:schemeClr val="bg1"/>
                  </a:solidFill>
                  <a:cs typeface="+mn-ea"/>
                  <a:sym typeface="+mn-lt"/>
                </a:rPr>
                <a:t>马之涵</a:t>
              </a:r>
            </a:p>
          </p:txBody>
        </p:sp>
      </p:grpSp>
      <p:grpSp>
        <p:nvGrpSpPr>
          <p:cNvPr id="25" name="组合 24">
            <a:extLst>
              <a:ext uri="{FF2B5EF4-FFF2-40B4-BE49-F238E27FC236}">
                <a16:creationId xmlns:a16="http://schemas.microsoft.com/office/drawing/2014/main" id="{1AF7D3CE-EC87-7F47-517F-BC25ABD1BC67}"/>
              </a:ext>
            </a:extLst>
          </p:cNvPr>
          <p:cNvGrpSpPr/>
          <p:nvPr/>
        </p:nvGrpSpPr>
        <p:grpSpPr>
          <a:xfrm>
            <a:off x="7407260" y="2081349"/>
            <a:ext cx="1999411" cy="3325222"/>
            <a:chOff x="1218" y="3184"/>
            <a:chExt cx="3821" cy="5486"/>
          </a:xfrm>
        </p:grpSpPr>
        <p:sp>
          <p:nvSpPr>
            <p:cNvPr id="26" name="图形">
              <a:extLst>
                <a:ext uri="{FF2B5EF4-FFF2-40B4-BE49-F238E27FC236}">
                  <a16:creationId xmlns:a16="http://schemas.microsoft.com/office/drawing/2014/main" id="{6375BF1C-D085-DE64-4610-A797A86A335B}"/>
                </a:ext>
              </a:extLst>
            </p:cNvPr>
            <p:cNvSpPr/>
            <p:nvPr/>
          </p:nvSpPr>
          <p:spPr bwMode="auto">
            <a:xfrm>
              <a:off x="1392" y="3184"/>
              <a:ext cx="3505" cy="5486"/>
            </a:xfrm>
            <a:custGeom>
              <a:avLst/>
              <a:gdLst>
                <a:gd name="T0" fmla="*/ 364 w 364"/>
                <a:gd name="T1" fmla="*/ 483 h 568"/>
                <a:gd name="T2" fmla="*/ 182 w 364"/>
                <a:gd name="T3" fmla="*/ 568 h 568"/>
                <a:gd name="T4" fmla="*/ 0 w 364"/>
                <a:gd name="T5" fmla="*/ 483 h 568"/>
                <a:gd name="T6" fmla="*/ 0 w 364"/>
                <a:gd name="T7" fmla="*/ 16 h 568"/>
                <a:gd name="T8" fmla="*/ 22 w 364"/>
                <a:gd name="T9" fmla="*/ 0 h 568"/>
                <a:gd name="T10" fmla="*/ 342 w 364"/>
                <a:gd name="T11" fmla="*/ 0 h 568"/>
                <a:gd name="T12" fmla="*/ 364 w 364"/>
                <a:gd name="T13" fmla="*/ 16 h 568"/>
                <a:gd name="T14" fmla="*/ 364 w 364"/>
                <a:gd name="T15" fmla="*/ 483 h 5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4" h="568">
                  <a:moveTo>
                    <a:pt x="364" y="483"/>
                  </a:moveTo>
                  <a:cubicBezTo>
                    <a:pt x="364" y="492"/>
                    <a:pt x="182" y="568"/>
                    <a:pt x="182" y="568"/>
                  </a:cubicBezTo>
                  <a:cubicBezTo>
                    <a:pt x="182" y="568"/>
                    <a:pt x="0" y="492"/>
                    <a:pt x="0" y="483"/>
                  </a:cubicBezTo>
                  <a:cubicBezTo>
                    <a:pt x="0" y="16"/>
                    <a:pt x="0" y="16"/>
                    <a:pt x="0" y="16"/>
                  </a:cubicBezTo>
                  <a:cubicBezTo>
                    <a:pt x="0" y="7"/>
                    <a:pt x="10" y="0"/>
                    <a:pt x="22" y="0"/>
                  </a:cubicBezTo>
                  <a:cubicBezTo>
                    <a:pt x="342" y="0"/>
                    <a:pt x="342" y="0"/>
                    <a:pt x="342" y="0"/>
                  </a:cubicBezTo>
                  <a:cubicBezTo>
                    <a:pt x="354" y="0"/>
                    <a:pt x="364" y="7"/>
                    <a:pt x="364" y="16"/>
                  </a:cubicBezTo>
                  <a:lnTo>
                    <a:pt x="364" y="483"/>
                  </a:lnTo>
                  <a:close/>
                </a:path>
              </a:pathLst>
            </a:custGeom>
            <a:solidFill>
              <a:schemeClr val="bg2">
                <a:lumMod val="95000"/>
              </a:schemeClr>
            </a:solidFill>
            <a:ln>
              <a:noFill/>
            </a:ln>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prstClr val="black"/>
                </a:solidFill>
                <a:effectLst/>
                <a:uLnTx/>
                <a:uFillTx/>
                <a:cs typeface="+mn-ea"/>
                <a:sym typeface="+mn-lt"/>
              </a:endParaRPr>
            </a:p>
          </p:txBody>
        </p:sp>
        <p:sp>
          <p:nvSpPr>
            <p:cNvPr id="27" name="图形">
              <a:extLst>
                <a:ext uri="{FF2B5EF4-FFF2-40B4-BE49-F238E27FC236}">
                  <a16:creationId xmlns:a16="http://schemas.microsoft.com/office/drawing/2014/main" id="{C6E2263E-1FB6-0509-D067-40ADE98E6A21}"/>
                </a:ext>
              </a:extLst>
            </p:cNvPr>
            <p:cNvSpPr>
              <a:spLocks noChangeArrowheads="1"/>
            </p:cNvSpPr>
            <p:nvPr/>
          </p:nvSpPr>
          <p:spPr bwMode="auto">
            <a:xfrm>
              <a:off x="1218" y="3904"/>
              <a:ext cx="3821" cy="1590"/>
            </a:xfrm>
            <a:prstGeom prst="rect">
              <a:avLst/>
            </a:prstGeom>
            <a:gradFill>
              <a:gsLst>
                <a:gs pos="14000">
                  <a:schemeClr val="accent1"/>
                </a:gs>
                <a:gs pos="100000">
                  <a:schemeClr val="accent2"/>
                </a:gs>
              </a:gsLst>
              <a:lin ang="2700000" scaled="0"/>
            </a:gradFill>
            <a:ln>
              <a:noFill/>
            </a:ln>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prstClr val="black"/>
                </a:solidFill>
                <a:effectLst/>
                <a:uLnTx/>
                <a:uFillTx/>
                <a:cs typeface="+mn-ea"/>
                <a:sym typeface="+mn-lt"/>
              </a:endParaRPr>
            </a:p>
          </p:txBody>
        </p:sp>
        <p:sp>
          <p:nvSpPr>
            <p:cNvPr id="28" name="图形">
              <a:extLst>
                <a:ext uri="{FF2B5EF4-FFF2-40B4-BE49-F238E27FC236}">
                  <a16:creationId xmlns:a16="http://schemas.microsoft.com/office/drawing/2014/main" id="{CF701817-B8C5-4FBB-2111-27BBFC02AB13}"/>
                </a:ext>
              </a:extLst>
            </p:cNvPr>
            <p:cNvSpPr>
              <a:spLocks noChangeArrowheads="1"/>
            </p:cNvSpPr>
            <p:nvPr/>
          </p:nvSpPr>
          <p:spPr bwMode="auto">
            <a:xfrm>
              <a:off x="1464" y="5911"/>
              <a:ext cx="3329" cy="1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zh-CN" altLang="en-US" sz="1200" dirty="0">
                  <a:solidFill>
                    <a:schemeClr val="tx1">
                      <a:lumMod val="75000"/>
                      <a:lumOff val="25000"/>
                    </a:schemeClr>
                  </a:solidFill>
                  <a:cs typeface="+mn-ea"/>
                  <a:sym typeface="+mn-lt"/>
                </a:rPr>
                <a:t>前端框架，用户系统实现，</a:t>
              </a:r>
              <a:r>
                <a:rPr lang="en-US" altLang="zh-CN" sz="1200" dirty="0">
                  <a:solidFill>
                    <a:schemeClr val="tx1">
                      <a:lumMod val="75000"/>
                      <a:lumOff val="25000"/>
                    </a:schemeClr>
                  </a:solidFill>
                  <a:cs typeface="+mn-ea"/>
                  <a:sym typeface="+mn-lt"/>
                </a:rPr>
                <a:t>scalar</a:t>
              </a:r>
              <a:r>
                <a:rPr lang="zh-CN" altLang="en-US" sz="1200" dirty="0">
                  <a:solidFill>
                    <a:schemeClr val="tx1">
                      <a:lumMod val="75000"/>
                      <a:lumOff val="25000"/>
                    </a:schemeClr>
                  </a:solidFill>
                  <a:cs typeface="+mn-ea"/>
                  <a:sym typeface="+mn-lt"/>
                </a:rPr>
                <a:t>算法的实现与优化</a:t>
              </a:r>
            </a:p>
          </p:txBody>
        </p:sp>
        <p:sp>
          <p:nvSpPr>
            <p:cNvPr id="29" name="图形">
              <a:extLst>
                <a:ext uri="{FF2B5EF4-FFF2-40B4-BE49-F238E27FC236}">
                  <a16:creationId xmlns:a16="http://schemas.microsoft.com/office/drawing/2014/main" id="{7040228E-31C7-04B1-B9AB-3979C9176692}"/>
                </a:ext>
              </a:extLst>
            </p:cNvPr>
            <p:cNvSpPr/>
            <p:nvPr/>
          </p:nvSpPr>
          <p:spPr>
            <a:xfrm>
              <a:off x="1835" y="4409"/>
              <a:ext cx="2619" cy="609"/>
            </a:xfrm>
            <a:prstGeom prst="rect">
              <a:avLst/>
            </a:prstGeom>
          </p:spPr>
          <p:txBody>
            <a:bodyPr wrap="square">
              <a:spAutoFit/>
            </a:bodyPr>
            <a:lstStyle/>
            <a:p>
              <a:pPr algn="ctr">
                <a:defRPr/>
              </a:pPr>
              <a:r>
                <a:rPr lang="zh-CN" altLang="en-US" dirty="0">
                  <a:solidFill>
                    <a:schemeClr val="bg1"/>
                  </a:solidFill>
                  <a:latin typeface="黑体" panose="02010609060101010101" charset="-122"/>
                  <a:ea typeface="黑体" panose="02010609060101010101" charset="-122"/>
                  <a:cs typeface="黑体" panose="02010609060101010101" charset="-122"/>
                  <a:sym typeface="+mn-ea"/>
                </a:rPr>
                <a:t>黄凯琳</a:t>
              </a:r>
              <a:endParaRPr lang="zh-CN" altLang="en-US" dirty="0">
                <a:solidFill>
                  <a:schemeClr val="bg1"/>
                </a:solidFill>
                <a:cs typeface="+mn-ea"/>
                <a:sym typeface="+mn-lt"/>
              </a:endParaRPr>
            </a:p>
          </p:txBody>
        </p:sp>
      </p:grpSp>
      <p:grpSp>
        <p:nvGrpSpPr>
          <p:cNvPr id="30" name="组合 29">
            <a:extLst>
              <a:ext uri="{FF2B5EF4-FFF2-40B4-BE49-F238E27FC236}">
                <a16:creationId xmlns:a16="http://schemas.microsoft.com/office/drawing/2014/main" id="{ACE185E7-1CBC-7D7E-96FC-91A44A940F36}"/>
              </a:ext>
            </a:extLst>
          </p:cNvPr>
          <p:cNvGrpSpPr/>
          <p:nvPr/>
        </p:nvGrpSpPr>
        <p:grpSpPr>
          <a:xfrm>
            <a:off x="9785171" y="2071651"/>
            <a:ext cx="1999411" cy="3325222"/>
            <a:chOff x="1218" y="3184"/>
            <a:chExt cx="3821" cy="5486"/>
          </a:xfrm>
        </p:grpSpPr>
        <p:sp>
          <p:nvSpPr>
            <p:cNvPr id="31" name="图形">
              <a:extLst>
                <a:ext uri="{FF2B5EF4-FFF2-40B4-BE49-F238E27FC236}">
                  <a16:creationId xmlns:a16="http://schemas.microsoft.com/office/drawing/2014/main" id="{9569A4C4-4665-4111-5BD8-8C969FEEC8D1}"/>
                </a:ext>
              </a:extLst>
            </p:cNvPr>
            <p:cNvSpPr/>
            <p:nvPr/>
          </p:nvSpPr>
          <p:spPr bwMode="auto">
            <a:xfrm>
              <a:off x="1392" y="3184"/>
              <a:ext cx="3505" cy="5486"/>
            </a:xfrm>
            <a:custGeom>
              <a:avLst/>
              <a:gdLst>
                <a:gd name="T0" fmla="*/ 364 w 364"/>
                <a:gd name="T1" fmla="*/ 483 h 568"/>
                <a:gd name="T2" fmla="*/ 182 w 364"/>
                <a:gd name="T3" fmla="*/ 568 h 568"/>
                <a:gd name="T4" fmla="*/ 0 w 364"/>
                <a:gd name="T5" fmla="*/ 483 h 568"/>
                <a:gd name="T6" fmla="*/ 0 w 364"/>
                <a:gd name="T7" fmla="*/ 16 h 568"/>
                <a:gd name="T8" fmla="*/ 22 w 364"/>
                <a:gd name="T9" fmla="*/ 0 h 568"/>
                <a:gd name="T10" fmla="*/ 342 w 364"/>
                <a:gd name="T11" fmla="*/ 0 h 568"/>
                <a:gd name="T12" fmla="*/ 364 w 364"/>
                <a:gd name="T13" fmla="*/ 16 h 568"/>
                <a:gd name="T14" fmla="*/ 364 w 364"/>
                <a:gd name="T15" fmla="*/ 483 h 5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4" h="568">
                  <a:moveTo>
                    <a:pt x="364" y="483"/>
                  </a:moveTo>
                  <a:cubicBezTo>
                    <a:pt x="364" y="492"/>
                    <a:pt x="182" y="568"/>
                    <a:pt x="182" y="568"/>
                  </a:cubicBezTo>
                  <a:cubicBezTo>
                    <a:pt x="182" y="568"/>
                    <a:pt x="0" y="492"/>
                    <a:pt x="0" y="483"/>
                  </a:cubicBezTo>
                  <a:cubicBezTo>
                    <a:pt x="0" y="16"/>
                    <a:pt x="0" y="16"/>
                    <a:pt x="0" y="16"/>
                  </a:cubicBezTo>
                  <a:cubicBezTo>
                    <a:pt x="0" y="7"/>
                    <a:pt x="10" y="0"/>
                    <a:pt x="22" y="0"/>
                  </a:cubicBezTo>
                  <a:cubicBezTo>
                    <a:pt x="342" y="0"/>
                    <a:pt x="342" y="0"/>
                    <a:pt x="342" y="0"/>
                  </a:cubicBezTo>
                  <a:cubicBezTo>
                    <a:pt x="354" y="0"/>
                    <a:pt x="364" y="7"/>
                    <a:pt x="364" y="16"/>
                  </a:cubicBezTo>
                  <a:lnTo>
                    <a:pt x="364" y="483"/>
                  </a:lnTo>
                  <a:close/>
                </a:path>
              </a:pathLst>
            </a:custGeom>
            <a:solidFill>
              <a:schemeClr val="bg2">
                <a:lumMod val="95000"/>
              </a:schemeClr>
            </a:solidFill>
            <a:ln>
              <a:noFill/>
            </a:ln>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prstClr val="black"/>
                </a:solidFill>
                <a:effectLst/>
                <a:uLnTx/>
                <a:uFillTx/>
                <a:cs typeface="+mn-ea"/>
                <a:sym typeface="+mn-lt"/>
              </a:endParaRPr>
            </a:p>
          </p:txBody>
        </p:sp>
        <p:sp>
          <p:nvSpPr>
            <p:cNvPr id="32" name="图形">
              <a:extLst>
                <a:ext uri="{FF2B5EF4-FFF2-40B4-BE49-F238E27FC236}">
                  <a16:creationId xmlns:a16="http://schemas.microsoft.com/office/drawing/2014/main" id="{E9618966-0476-ED35-3F85-2824F6E18B7B}"/>
                </a:ext>
              </a:extLst>
            </p:cNvPr>
            <p:cNvSpPr>
              <a:spLocks noChangeArrowheads="1"/>
            </p:cNvSpPr>
            <p:nvPr/>
          </p:nvSpPr>
          <p:spPr bwMode="auto">
            <a:xfrm>
              <a:off x="1218" y="3904"/>
              <a:ext cx="3821" cy="1590"/>
            </a:xfrm>
            <a:prstGeom prst="rect">
              <a:avLst/>
            </a:prstGeom>
            <a:gradFill>
              <a:gsLst>
                <a:gs pos="14000">
                  <a:schemeClr val="accent1"/>
                </a:gs>
                <a:gs pos="100000">
                  <a:schemeClr val="accent2"/>
                </a:gs>
              </a:gsLst>
              <a:lin ang="2700000" scaled="0"/>
            </a:gradFill>
            <a:ln>
              <a:noFill/>
            </a:ln>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prstClr val="black"/>
                </a:solidFill>
                <a:effectLst/>
                <a:uLnTx/>
                <a:uFillTx/>
                <a:cs typeface="+mn-ea"/>
                <a:sym typeface="+mn-lt"/>
              </a:endParaRPr>
            </a:p>
          </p:txBody>
        </p:sp>
        <p:sp>
          <p:nvSpPr>
            <p:cNvPr id="33" name="图形">
              <a:extLst>
                <a:ext uri="{FF2B5EF4-FFF2-40B4-BE49-F238E27FC236}">
                  <a16:creationId xmlns:a16="http://schemas.microsoft.com/office/drawing/2014/main" id="{C94CDD36-ED4E-2932-F69B-1D8D712959D4}"/>
                </a:ext>
              </a:extLst>
            </p:cNvPr>
            <p:cNvSpPr>
              <a:spLocks noChangeArrowheads="1"/>
            </p:cNvSpPr>
            <p:nvPr/>
          </p:nvSpPr>
          <p:spPr bwMode="auto">
            <a:xfrm>
              <a:off x="1464" y="5911"/>
              <a:ext cx="3329" cy="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zh-CN" altLang="en-US" sz="1200" dirty="0">
                  <a:solidFill>
                    <a:schemeClr val="tx1">
                      <a:lumMod val="75000"/>
                      <a:lumOff val="25000"/>
                    </a:schemeClr>
                  </a:solidFill>
                  <a:cs typeface="+mn-ea"/>
                  <a:sym typeface="+mn-lt"/>
                </a:rPr>
                <a:t>部分文档编写与测试</a:t>
              </a:r>
            </a:p>
          </p:txBody>
        </p:sp>
        <p:sp>
          <p:nvSpPr>
            <p:cNvPr id="34" name="图形">
              <a:extLst>
                <a:ext uri="{FF2B5EF4-FFF2-40B4-BE49-F238E27FC236}">
                  <a16:creationId xmlns:a16="http://schemas.microsoft.com/office/drawing/2014/main" id="{E9A5A9F7-1350-FC4A-C74E-F1E3F3B37C6A}"/>
                </a:ext>
              </a:extLst>
            </p:cNvPr>
            <p:cNvSpPr/>
            <p:nvPr/>
          </p:nvSpPr>
          <p:spPr>
            <a:xfrm>
              <a:off x="1835" y="4409"/>
              <a:ext cx="2619" cy="609"/>
            </a:xfrm>
            <a:prstGeom prst="rect">
              <a:avLst/>
            </a:prstGeom>
          </p:spPr>
          <p:txBody>
            <a:bodyPr wrap="square">
              <a:spAutoFit/>
            </a:bodyPr>
            <a:lstStyle/>
            <a:p>
              <a:pPr algn="ctr"/>
              <a:r>
                <a:rPr lang="zh-CN" altLang="en-US" dirty="0">
                  <a:solidFill>
                    <a:srgbClr val="E8ECF1"/>
                  </a:solidFill>
                  <a:latin typeface="微软雅黑" panose="020B0503020204020204" charset="-122"/>
                  <a:ea typeface="微软雅黑" panose="020B0503020204020204" charset="-122"/>
                  <a:cs typeface="微软雅黑" panose="020B0503020204020204" charset="-122"/>
                  <a:sym typeface="+mn-ea"/>
                </a:rPr>
                <a:t>陆际开</a:t>
              </a:r>
              <a:endParaRPr lang="zh-CN" altLang="en-US" dirty="0">
                <a:solidFill>
                  <a:srgbClr val="FF0055"/>
                </a:solidFill>
                <a:latin typeface="黑体" panose="02010609060101010101" charset="-122"/>
                <a:ea typeface="黑体" panose="02010609060101010101" charset="-122"/>
                <a:cs typeface="黑体" panose="02010609060101010101" charset="-122"/>
              </a:endParaRPr>
            </a:p>
          </p:txBody>
        </p:sp>
      </p:grpSp>
    </p:spTree>
    <p:custDataLst>
      <p:tags r:id="rId1"/>
    </p:custDataLst>
    <p:extLst>
      <p:ext uri="{BB962C8B-B14F-4D97-AF65-F5344CB8AC3E}">
        <p14:creationId xmlns:p14="http://schemas.microsoft.com/office/powerpoint/2010/main" val="470460401"/>
      </p:ext>
    </p:extLst>
  </p:cSld>
  <p:clrMapOvr>
    <a:masterClrMapping/>
  </p:clrMapOvr>
  <p:transition>
    <p:plu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blinds(horizontal)">
                                      <p:cBhvr>
                                        <p:cTn id="11" dur="500"/>
                                        <p:tgtEl>
                                          <p:spTgt spid="15"/>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blinds(horizontal)">
                                      <p:cBhvr>
                                        <p:cTn id="15" dur="500"/>
                                        <p:tgtEl>
                                          <p:spTgt spid="20"/>
                                        </p:tgtEl>
                                      </p:cBhvr>
                                    </p:animEffect>
                                  </p:childTnLst>
                                </p:cTn>
                              </p:par>
                            </p:childTnLst>
                          </p:cTn>
                        </p:par>
                        <p:par>
                          <p:cTn id="16" fill="hold">
                            <p:stCondLst>
                              <p:cond delay="1500"/>
                            </p:stCondLst>
                            <p:childTnLst>
                              <p:par>
                                <p:cTn id="17" presetID="3" presetClass="entr" presetSubtype="10" fill="hold" nodeType="after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blinds(horizontal)">
                                      <p:cBhvr>
                                        <p:cTn id="19" dur="500"/>
                                        <p:tgtEl>
                                          <p:spTgt spid="25"/>
                                        </p:tgtEl>
                                      </p:cBhvr>
                                    </p:animEffect>
                                  </p:childTnLst>
                                </p:cTn>
                              </p:par>
                            </p:childTnLst>
                          </p:cTn>
                        </p:par>
                        <p:par>
                          <p:cTn id="20" fill="hold">
                            <p:stCondLst>
                              <p:cond delay="2000"/>
                            </p:stCondLst>
                            <p:childTnLst>
                              <p:par>
                                <p:cTn id="21" presetID="3" presetClass="entr" presetSubtype="10" fill="hold" nodeType="afterEffect">
                                  <p:stCondLst>
                                    <p:cond delay="0"/>
                                  </p:stCondLst>
                                  <p:childTnLst>
                                    <p:set>
                                      <p:cBhvr>
                                        <p:cTn id="22" dur="1" fill="hold">
                                          <p:stCondLst>
                                            <p:cond delay="0"/>
                                          </p:stCondLst>
                                        </p:cTn>
                                        <p:tgtEl>
                                          <p:spTgt spid="30"/>
                                        </p:tgtEl>
                                        <p:attrNameLst>
                                          <p:attrName>style.visibility</p:attrName>
                                        </p:attrNameLst>
                                      </p:cBhvr>
                                      <p:to>
                                        <p:strVal val="visible"/>
                                      </p:to>
                                    </p:set>
                                    <p:animEffect transition="in" filter="blinds(horizontal)">
                                      <p:cBhvr>
                                        <p:cTn id="23"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6F142-0303-8D7D-E051-0C2D89AA33E4}"/>
            </a:ext>
          </a:extLst>
        </p:cNvPr>
        <p:cNvGrpSpPr/>
        <p:nvPr/>
      </p:nvGrpSpPr>
      <p:grpSpPr>
        <a:xfrm>
          <a:off x="0" y="0"/>
          <a:ext cx="0" cy="0"/>
          <a:chOff x="0" y="0"/>
          <a:chExt cx="0" cy="0"/>
        </a:xfrm>
      </p:grpSpPr>
      <p:pic>
        <p:nvPicPr>
          <p:cNvPr id="2" name="图形" descr="5fafa202e696b">
            <a:extLst>
              <a:ext uri="{FF2B5EF4-FFF2-40B4-BE49-F238E27FC236}">
                <a16:creationId xmlns:a16="http://schemas.microsoft.com/office/drawing/2014/main" id="{09BF17F9-5A2D-76A9-8B75-7BED2E60736D}"/>
              </a:ext>
            </a:extLst>
          </p:cNvPr>
          <p:cNvPicPr>
            <a:picLocks noChangeAspect="1"/>
          </p:cNvPicPr>
          <p:nvPr/>
        </p:nvPicPr>
        <p:blipFill>
          <a:blip r:embed="rId5" cstate="screen"/>
          <a:srcRect/>
          <a:stretch>
            <a:fillRect/>
          </a:stretch>
        </p:blipFill>
        <p:spPr>
          <a:xfrm>
            <a:off x="0" y="0"/>
            <a:ext cx="12223750" cy="6858000"/>
          </a:xfrm>
          <a:prstGeom prst="rect">
            <a:avLst/>
          </a:prstGeom>
        </p:spPr>
      </p:pic>
      <p:grpSp>
        <p:nvGrpSpPr>
          <p:cNvPr id="38" name="图形">
            <a:extLst>
              <a:ext uri="{FF2B5EF4-FFF2-40B4-BE49-F238E27FC236}">
                <a16:creationId xmlns:a16="http://schemas.microsoft.com/office/drawing/2014/main" id="{3E6218F8-A6C2-C51C-6B09-5BC5D07BD6F8}"/>
              </a:ext>
            </a:extLst>
          </p:cNvPr>
          <p:cNvGrpSpPr/>
          <p:nvPr/>
        </p:nvGrpSpPr>
        <p:grpSpPr>
          <a:xfrm>
            <a:off x="786130" y="1350010"/>
            <a:ext cx="10393680" cy="2557145"/>
            <a:chOff x="1238" y="2126"/>
            <a:chExt cx="16368" cy="4027"/>
          </a:xfrm>
        </p:grpSpPr>
        <p:pic>
          <p:nvPicPr>
            <p:cNvPr id="12" name="图形" descr="10.12光效合集2">
              <a:extLst>
                <a:ext uri="{FF2B5EF4-FFF2-40B4-BE49-F238E27FC236}">
                  <a16:creationId xmlns:a16="http://schemas.microsoft.com/office/drawing/2014/main" id="{AC658E9C-6E0A-E617-C961-0FC991FE66DD}"/>
                </a:ext>
              </a:extLst>
            </p:cNvPr>
            <p:cNvPicPr>
              <a:picLocks noChangeAspect="1"/>
            </p:cNvPicPr>
            <p:nvPr/>
          </p:nvPicPr>
          <p:blipFill>
            <a:blip r:embed="rId6" cstate="screen"/>
            <a:srcRect/>
            <a:stretch>
              <a:fillRect/>
            </a:stretch>
          </p:blipFill>
          <p:spPr>
            <a:xfrm>
              <a:off x="1877" y="2294"/>
              <a:ext cx="10641" cy="3859"/>
            </a:xfrm>
            <a:prstGeom prst="rect">
              <a:avLst/>
            </a:prstGeom>
          </p:spPr>
        </p:pic>
        <p:sp>
          <p:nvSpPr>
            <p:cNvPr id="3" name="图形">
              <a:extLst>
                <a:ext uri="{FF2B5EF4-FFF2-40B4-BE49-F238E27FC236}">
                  <a16:creationId xmlns:a16="http://schemas.microsoft.com/office/drawing/2014/main" id="{4154A410-AAD2-5AE2-50C2-0B114CAB12AD}"/>
                </a:ext>
              </a:extLst>
            </p:cNvPr>
            <p:cNvSpPr txBox="1"/>
            <p:nvPr/>
          </p:nvSpPr>
          <p:spPr>
            <a:xfrm>
              <a:off x="1238" y="2126"/>
              <a:ext cx="7743" cy="349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3800" b="1" i="1" u="none" strike="noStrike" kern="1200" cap="none" spc="0" normalizeH="0" baseline="0" noProof="0" dirty="0">
                  <a:ln>
                    <a:noFill/>
                  </a:ln>
                  <a:gradFill>
                    <a:gsLst>
                      <a:gs pos="51000">
                        <a:srgbClr val="FFFFFF"/>
                      </a:gs>
                      <a:gs pos="75000">
                        <a:srgbClr val="81B3F8">
                          <a:alpha val="100000"/>
                        </a:srgbClr>
                      </a:gs>
                      <a:gs pos="100000">
                        <a:srgbClr val="31E2FE"/>
                      </a:gs>
                    </a:gsLst>
                    <a:lin ang="5400000" scaled="0"/>
                  </a:gradFill>
                  <a:effectLst/>
                  <a:uLnTx/>
                  <a:uFillTx/>
                  <a:latin typeface="微软雅黑"/>
                  <a:ea typeface="微软雅黑"/>
                  <a:cs typeface="+mn-ea"/>
                  <a:sym typeface="+mn-lt"/>
                </a:rPr>
                <a:t>WHU</a:t>
              </a:r>
            </a:p>
          </p:txBody>
        </p:sp>
        <p:sp>
          <p:nvSpPr>
            <p:cNvPr id="5" name="图形">
              <a:extLst>
                <a:ext uri="{FF2B5EF4-FFF2-40B4-BE49-F238E27FC236}">
                  <a16:creationId xmlns:a16="http://schemas.microsoft.com/office/drawing/2014/main" id="{0CD5A4F9-B812-0DB8-9879-60DA98740023}"/>
                </a:ext>
              </a:extLst>
            </p:cNvPr>
            <p:cNvSpPr txBox="1"/>
            <p:nvPr/>
          </p:nvSpPr>
          <p:spPr>
            <a:xfrm>
              <a:off x="9115" y="2707"/>
              <a:ext cx="7071" cy="174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6600" b="0" i="1" u="none" strike="noStrike" kern="1200" cap="none" spc="0" normalizeH="0" baseline="0" noProof="0" dirty="0">
                  <a:ln>
                    <a:noFill/>
                  </a:ln>
                  <a:gradFill>
                    <a:gsLst>
                      <a:gs pos="51000">
                        <a:srgbClr val="FFFFFF"/>
                      </a:gs>
                      <a:gs pos="75000">
                        <a:srgbClr val="81B3F8">
                          <a:alpha val="100000"/>
                        </a:srgbClr>
                      </a:gs>
                      <a:gs pos="100000">
                        <a:srgbClr val="31E2FE"/>
                      </a:gs>
                    </a:gsLst>
                    <a:lin ang="5400000" scaled="0"/>
                  </a:gradFill>
                  <a:effectLst/>
                  <a:uLnTx/>
                  <a:uFillTx/>
                  <a:latin typeface="微软雅黑"/>
                  <a:ea typeface="微软雅黑"/>
                  <a:cs typeface="+mn-ea"/>
                  <a:sym typeface="+mn-lt"/>
                </a:rPr>
                <a:t>Singularity</a:t>
              </a:r>
            </a:p>
          </p:txBody>
        </p:sp>
        <p:sp>
          <p:nvSpPr>
            <p:cNvPr id="6" name="图形">
              <a:extLst>
                <a:ext uri="{FF2B5EF4-FFF2-40B4-BE49-F238E27FC236}">
                  <a16:creationId xmlns:a16="http://schemas.microsoft.com/office/drawing/2014/main" id="{FDCDA6EC-9799-BBC8-D839-BBCD49E71ED8}"/>
                </a:ext>
              </a:extLst>
            </p:cNvPr>
            <p:cNvSpPr txBox="1"/>
            <p:nvPr/>
          </p:nvSpPr>
          <p:spPr>
            <a:xfrm>
              <a:off x="8751" y="4407"/>
              <a:ext cx="8855" cy="70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300" b="0" i="1" u="none" strike="noStrike" kern="1200" cap="none" spc="0" normalizeH="0" baseline="0" noProof="0" dirty="0">
                  <a:ln>
                    <a:noFill/>
                  </a:ln>
                  <a:gradFill>
                    <a:gsLst>
                      <a:gs pos="51000">
                        <a:srgbClr val="FFFFFF"/>
                      </a:gs>
                      <a:gs pos="75000">
                        <a:srgbClr val="81B3F8">
                          <a:alpha val="100000"/>
                        </a:srgbClr>
                      </a:gs>
                      <a:gs pos="100000">
                        <a:srgbClr val="31E2FE"/>
                      </a:gs>
                    </a:gsLst>
                    <a:lin ang="5400000" scaled="0"/>
                  </a:gradFill>
                  <a:effectLst/>
                  <a:uLnTx/>
                  <a:uFillTx/>
                  <a:latin typeface="微软雅黑"/>
                  <a:ea typeface="微软雅黑"/>
                  <a:cs typeface="+mn-ea"/>
                  <a:sym typeface="+mn-lt"/>
                </a:rPr>
                <a:t>高并发抢单框架</a:t>
              </a:r>
            </a:p>
          </p:txBody>
        </p:sp>
      </p:grpSp>
      <p:grpSp>
        <p:nvGrpSpPr>
          <p:cNvPr id="39" name="图形">
            <a:extLst>
              <a:ext uri="{FF2B5EF4-FFF2-40B4-BE49-F238E27FC236}">
                <a16:creationId xmlns:a16="http://schemas.microsoft.com/office/drawing/2014/main" id="{02238CAE-B6EF-0128-AE5C-9A6BA252C573}"/>
              </a:ext>
            </a:extLst>
          </p:cNvPr>
          <p:cNvGrpSpPr/>
          <p:nvPr/>
        </p:nvGrpSpPr>
        <p:grpSpPr>
          <a:xfrm>
            <a:off x="947420" y="3126105"/>
            <a:ext cx="5553075" cy="1894205"/>
            <a:chOff x="1492" y="4923"/>
            <a:chExt cx="8745" cy="2983"/>
          </a:xfrm>
        </p:grpSpPr>
        <p:sp>
          <p:nvSpPr>
            <p:cNvPr id="11" name="图形">
              <a:extLst>
                <a:ext uri="{FF2B5EF4-FFF2-40B4-BE49-F238E27FC236}">
                  <a16:creationId xmlns:a16="http://schemas.microsoft.com/office/drawing/2014/main" id="{6D042A51-FB14-69F3-3FE0-AF1FE4FBBD17}"/>
                </a:ext>
              </a:extLst>
            </p:cNvPr>
            <p:cNvSpPr txBox="1"/>
            <p:nvPr/>
          </p:nvSpPr>
          <p:spPr>
            <a:xfrm>
              <a:off x="1868" y="4923"/>
              <a:ext cx="8369" cy="111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000" b="0" i="0" u="none" strike="noStrike" kern="1200" cap="none" spc="0" normalizeH="0" baseline="0" noProof="0" dirty="0">
                  <a:ln>
                    <a:noFill/>
                  </a:ln>
                  <a:gradFill>
                    <a:gsLst>
                      <a:gs pos="51000">
                        <a:srgbClr val="FFFFFF"/>
                      </a:gs>
                      <a:gs pos="87000">
                        <a:srgbClr val="75BAF9"/>
                      </a:gs>
                    </a:gsLst>
                    <a:lin ang="5400000" scaled="0"/>
                  </a:gradFill>
                  <a:effectLst/>
                  <a:uLnTx/>
                  <a:uFillTx/>
                  <a:latin typeface="微软雅黑"/>
                  <a:ea typeface="微软雅黑"/>
                  <a:cs typeface="+mn-ea"/>
                  <a:sym typeface="+mn-lt"/>
                </a:rPr>
                <a:t>再次感谢您的观赏聆听</a:t>
              </a:r>
            </a:p>
          </p:txBody>
        </p:sp>
        <p:sp>
          <p:nvSpPr>
            <p:cNvPr id="30" name="图形">
              <a:extLst>
                <a:ext uri="{FF2B5EF4-FFF2-40B4-BE49-F238E27FC236}">
                  <a16:creationId xmlns:a16="http://schemas.microsoft.com/office/drawing/2014/main" id="{3000AD9C-5133-9A9E-3572-413D8F7C8819}"/>
                </a:ext>
              </a:extLst>
            </p:cNvPr>
            <p:cNvSpPr/>
            <p:nvPr/>
          </p:nvSpPr>
          <p:spPr>
            <a:xfrm>
              <a:off x="1524" y="5927"/>
              <a:ext cx="8448" cy="966"/>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dirty="0">
                  <a:ln>
                    <a:noFill/>
                  </a:ln>
                  <a:gradFill>
                    <a:gsLst>
                      <a:gs pos="60000">
                        <a:srgbClr val="FFFFFF"/>
                      </a:gs>
                      <a:gs pos="100000">
                        <a:srgbClr val="64DDF4"/>
                      </a:gs>
                    </a:gsLst>
                    <a:lin ang="5400000" scaled="0"/>
                  </a:gradFill>
                  <a:effectLst/>
                  <a:uLnTx/>
                  <a:uFillTx/>
                  <a:latin typeface="微软雅黑"/>
                  <a:ea typeface="微软雅黑"/>
                  <a:cs typeface="+mn-ea"/>
                  <a:sym typeface="+mn-lt"/>
                </a:rPr>
                <a:t>Add your text content here</a:t>
              </a:r>
              <a:r>
                <a:rPr kumimoji="0" lang="en-US" altLang="zh-CN" sz="1200" b="0" i="0" u="none" strike="noStrike" kern="1200" cap="none" spc="0" normalizeH="0" baseline="0" noProof="0" dirty="0">
                  <a:ln>
                    <a:noFill/>
                  </a:ln>
                  <a:gradFill>
                    <a:gsLst>
                      <a:gs pos="60000">
                        <a:srgbClr val="FFFFFF"/>
                      </a:gs>
                      <a:gs pos="100000">
                        <a:srgbClr val="64DDF4"/>
                      </a:gs>
                    </a:gsLst>
                    <a:lin ang="5400000" scaled="0"/>
                  </a:gradFill>
                  <a:effectLst/>
                  <a:uLnTx/>
                  <a:uFillTx/>
                  <a:latin typeface="微软雅黑"/>
                  <a:ea typeface="微软雅黑"/>
                  <a:cs typeface="+mn-ea"/>
                  <a:sym typeface="+mn-lt"/>
                </a:rPr>
                <a:t>.</a:t>
              </a:r>
              <a:r>
                <a:rPr kumimoji="0" lang="zh-CN" altLang="en-US" sz="1200" b="0" i="0" u="none" strike="noStrike" kern="1200" cap="none" spc="0" normalizeH="0" baseline="0" noProof="0" dirty="0">
                  <a:ln>
                    <a:noFill/>
                  </a:ln>
                  <a:gradFill>
                    <a:gsLst>
                      <a:gs pos="60000">
                        <a:srgbClr val="FFFFFF"/>
                      </a:gs>
                      <a:gs pos="100000">
                        <a:srgbClr val="64DDF4"/>
                      </a:gs>
                    </a:gsLst>
                    <a:lin ang="5400000" scaled="0"/>
                  </a:gradFill>
                  <a:effectLst/>
                  <a:uLnTx/>
                  <a:uFillTx/>
                  <a:latin typeface="微软雅黑"/>
                  <a:ea typeface="微软雅黑"/>
                  <a:cs typeface="+mn-ea"/>
                  <a:sym typeface="+mn-lt"/>
                </a:rPr>
                <a:t>Add your text content here</a:t>
              </a:r>
              <a:r>
                <a:rPr kumimoji="0" lang="en-US" altLang="zh-CN" sz="1200" b="0" i="0" u="none" strike="noStrike" kern="1200" cap="none" spc="0" normalizeH="0" baseline="0" noProof="0" dirty="0">
                  <a:ln>
                    <a:noFill/>
                  </a:ln>
                  <a:gradFill>
                    <a:gsLst>
                      <a:gs pos="60000">
                        <a:srgbClr val="FFFFFF"/>
                      </a:gs>
                      <a:gs pos="100000">
                        <a:srgbClr val="64DDF4"/>
                      </a:gs>
                    </a:gsLst>
                    <a:lin ang="5400000" scaled="0"/>
                  </a:gradFill>
                  <a:effectLst/>
                  <a:uLnTx/>
                  <a:uFillTx/>
                  <a:latin typeface="微软雅黑"/>
                  <a:ea typeface="微软雅黑"/>
                  <a:cs typeface="+mn-ea"/>
                  <a:sym typeface="+mn-lt"/>
                </a:rPr>
                <a:t>.</a:t>
              </a:r>
              <a:r>
                <a:rPr kumimoji="0" lang="zh-CN" altLang="en-US" sz="1200" b="0" i="0" u="none" strike="noStrike" kern="1200" cap="none" spc="0" normalizeH="0" baseline="0" noProof="0" dirty="0">
                  <a:ln>
                    <a:noFill/>
                  </a:ln>
                  <a:gradFill>
                    <a:gsLst>
                      <a:gs pos="60000">
                        <a:srgbClr val="FFFFFF"/>
                      </a:gs>
                      <a:gs pos="100000">
                        <a:srgbClr val="64DDF4"/>
                      </a:gs>
                    </a:gsLst>
                    <a:lin ang="5400000" scaled="0"/>
                  </a:gradFill>
                  <a:effectLst/>
                  <a:uLnTx/>
                  <a:uFillTx/>
                  <a:latin typeface="微软雅黑"/>
                  <a:ea typeface="微软雅黑"/>
                  <a:cs typeface="+mn-ea"/>
                  <a:sym typeface="+mn-lt"/>
                </a:rPr>
                <a:t>Add your</a:t>
              </a:r>
              <a:r>
                <a:rPr kumimoji="0" lang="en-US" altLang="zh-CN" sz="1200" b="0" i="0" u="none" strike="noStrike" kern="1200" cap="none" spc="0" normalizeH="0" baseline="0" noProof="0" dirty="0">
                  <a:ln>
                    <a:noFill/>
                  </a:ln>
                  <a:gradFill>
                    <a:gsLst>
                      <a:gs pos="60000">
                        <a:srgbClr val="FFFFFF"/>
                      </a:gs>
                      <a:gs pos="100000">
                        <a:srgbClr val="64DDF4"/>
                      </a:gs>
                    </a:gsLst>
                    <a:lin ang="5400000" scaled="0"/>
                  </a:gradFill>
                  <a:effectLst/>
                  <a:uLnTx/>
                  <a:uFillTx/>
                  <a:latin typeface="微软雅黑"/>
                  <a:ea typeface="微软雅黑"/>
                  <a:cs typeface="+mn-ea"/>
                  <a:sym typeface="+mn-lt"/>
                </a:rPr>
                <a:t> </a:t>
              </a:r>
              <a:r>
                <a:rPr kumimoji="0" lang="zh-CN" altLang="en-US" sz="1200" b="0" i="0" u="none" strike="noStrike" kern="1200" cap="none" spc="0" normalizeH="0" baseline="0" noProof="0" dirty="0">
                  <a:ln>
                    <a:noFill/>
                  </a:ln>
                  <a:gradFill>
                    <a:gsLst>
                      <a:gs pos="60000">
                        <a:srgbClr val="FFFFFF"/>
                      </a:gs>
                      <a:gs pos="100000">
                        <a:srgbClr val="64DDF4"/>
                      </a:gs>
                    </a:gsLst>
                    <a:lin ang="5400000" scaled="0"/>
                  </a:gradFill>
                  <a:effectLst/>
                  <a:uLnTx/>
                  <a:uFillTx/>
                  <a:latin typeface="微软雅黑"/>
                  <a:ea typeface="微软雅黑"/>
                  <a:cs typeface="+mn-ea"/>
                  <a:sym typeface="+mn-lt"/>
                </a:rPr>
                <a:t>content here</a:t>
              </a:r>
              <a:r>
                <a:rPr kumimoji="0" lang="en-US" altLang="zh-CN" sz="1200" b="0" i="0" u="none" strike="noStrike" kern="1200" cap="none" spc="0" normalizeH="0" baseline="0" noProof="0" dirty="0">
                  <a:ln>
                    <a:noFill/>
                  </a:ln>
                  <a:gradFill>
                    <a:gsLst>
                      <a:gs pos="60000">
                        <a:srgbClr val="FFFFFF"/>
                      </a:gs>
                      <a:gs pos="100000">
                        <a:srgbClr val="64DDF4"/>
                      </a:gs>
                    </a:gsLst>
                    <a:lin ang="5400000" scaled="0"/>
                  </a:gradFill>
                  <a:effectLst/>
                  <a:uLnTx/>
                  <a:uFillTx/>
                  <a:latin typeface="微软雅黑"/>
                  <a:ea typeface="微软雅黑"/>
                  <a:cs typeface="+mn-ea"/>
                  <a:sym typeface="+mn-lt"/>
                </a:rPr>
                <a:t>.</a:t>
              </a:r>
              <a:r>
                <a:rPr kumimoji="0" lang="zh-CN" altLang="en-US" sz="1200" b="0" i="0" u="none" strike="noStrike" kern="1200" cap="none" spc="0" normalizeH="0" baseline="0" noProof="0" dirty="0">
                  <a:ln>
                    <a:noFill/>
                  </a:ln>
                  <a:gradFill>
                    <a:gsLst>
                      <a:gs pos="60000">
                        <a:srgbClr val="FFFFFF"/>
                      </a:gs>
                      <a:gs pos="100000">
                        <a:srgbClr val="64DDF4"/>
                      </a:gs>
                    </a:gsLst>
                    <a:lin ang="5400000" scaled="0"/>
                  </a:gradFill>
                  <a:effectLst/>
                  <a:uLnTx/>
                  <a:uFillTx/>
                  <a:latin typeface="微软雅黑"/>
                  <a:ea typeface="微软雅黑"/>
                  <a:cs typeface="+mn-ea"/>
                  <a:sym typeface="+mn-lt"/>
                </a:rPr>
                <a:t>Add your text content</a:t>
              </a:r>
              <a:r>
                <a:rPr kumimoji="0" lang="en-US" altLang="zh-CN" sz="1200" b="0" i="0" u="none" strike="noStrike" kern="1200" cap="none" spc="0" normalizeH="0" baseline="0" noProof="0" dirty="0">
                  <a:ln>
                    <a:noFill/>
                  </a:ln>
                  <a:gradFill>
                    <a:gsLst>
                      <a:gs pos="60000">
                        <a:srgbClr val="FFFFFF"/>
                      </a:gs>
                      <a:gs pos="100000">
                        <a:srgbClr val="64DDF4"/>
                      </a:gs>
                    </a:gsLst>
                    <a:lin ang="5400000" scaled="0"/>
                  </a:gradFill>
                  <a:effectLst/>
                  <a:uLnTx/>
                  <a:uFillTx/>
                  <a:latin typeface="微软雅黑"/>
                  <a:ea typeface="微软雅黑"/>
                  <a:cs typeface="+mn-ea"/>
                  <a:sym typeface="+mn-lt"/>
                </a:rPr>
                <a:t>.</a:t>
              </a:r>
              <a:r>
                <a:rPr kumimoji="0" lang="zh-CN" altLang="en-US" sz="1200" b="0" i="0" u="none" strike="noStrike" kern="1200" cap="none" spc="0" normalizeH="0" baseline="0" noProof="0" dirty="0">
                  <a:ln>
                    <a:noFill/>
                  </a:ln>
                  <a:gradFill>
                    <a:gsLst>
                      <a:gs pos="60000">
                        <a:srgbClr val="FFFFFF"/>
                      </a:gs>
                      <a:gs pos="100000">
                        <a:srgbClr val="64DDF4"/>
                      </a:gs>
                    </a:gsLst>
                    <a:lin ang="5400000" scaled="0"/>
                  </a:gradFill>
                  <a:effectLst/>
                  <a:uLnTx/>
                  <a:uFillTx/>
                  <a:latin typeface="微软雅黑"/>
                  <a:ea typeface="微软雅黑"/>
                  <a:cs typeface="+mn-ea"/>
                  <a:sym typeface="+mn-lt"/>
                </a:rPr>
                <a:t>Add your text content</a:t>
              </a:r>
              <a:r>
                <a:rPr kumimoji="0" lang="en-US" altLang="zh-CN" sz="1200" b="0" i="0" u="none" strike="noStrike" kern="1200" cap="none" spc="0" normalizeH="0" baseline="0" noProof="0" dirty="0">
                  <a:ln>
                    <a:noFill/>
                  </a:ln>
                  <a:gradFill>
                    <a:gsLst>
                      <a:gs pos="60000">
                        <a:srgbClr val="FFFFFF"/>
                      </a:gs>
                      <a:gs pos="100000">
                        <a:srgbClr val="64DDF4"/>
                      </a:gs>
                    </a:gsLst>
                    <a:lin ang="5400000" scaled="0"/>
                  </a:gradFill>
                  <a:effectLst/>
                  <a:uLnTx/>
                  <a:uFillTx/>
                  <a:latin typeface="微软雅黑"/>
                  <a:ea typeface="微软雅黑"/>
                  <a:cs typeface="+mn-ea"/>
                  <a:sym typeface="+mn-lt"/>
                </a:rPr>
                <a:t>.</a:t>
              </a:r>
            </a:p>
          </p:txBody>
        </p:sp>
        <p:sp>
          <p:nvSpPr>
            <p:cNvPr id="24" name="图形">
              <a:extLst>
                <a:ext uri="{FF2B5EF4-FFF2-40B4-BE49-F238E27FC236}">
                  <a16:creationId xmlns:a16="http://schemas.microsoft.com/office/drawing/2014/main" id="{8C2E76D4-49B6-57A4-DE31-4E627776FA86}"/>
                </a:ext>
              </a:extLst>
            </p:cNvPr>
            <p:cNvSpPr/>
            <p:nvPr>
              <p:custDataLst>
                <p:tags r:id="rId2"/>
              </p:custDataLst>
            </p:nvPr>
          </p:nvSpPr>
          <p:spPr>
            <a:xfrm>
              <a:off x="1492" y="7256"/>
              <a:ext cx="2528" cy="650"/>
            </a:xfrm>
            <a:prstGeom prst="parallelogram">
              <a:avLst/>
            </a:prstGeom>
            <a:gradFill flip="none" rotWithShape="1">
              <a:gsLst>
                <a:gs pos="28000">
                  <a:srgbClr val="0266F1"/>
                </a:gs>
                <a:gs pos="100000">
                  <a:srgbClr val="04EEFF"/>
                </a:gs>
              </a:gsLst>
              <a:lin ang="13500000" scaled="1"/>
              <a:tileRect/>
            </a:gradFill>
            <a:ln w="25400">
              <a:noFill/>
            </a:ln>
            <a:effectLst>
              <a:outerShdw blurRad="247650" dist="53492" dir="5400000" algn="ctr" rotWithShape="0">
                <a:srgbClr val="007E3F">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6286" tIns="48143" rIns="96286" bIns="4814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95" b="0" i="0" u="none" strike="noStrike" kern="1200" cap="none" spc="0" normalizeH="0" baseline="0" noProof="0">
                <a:ln>
                  <a:noFill/>
                </a:ln>
                <a:solidFill>
                  <a:prstClr val="white"/>
                </a:solidFill>
                <a:effectLst/>
                <a:uLnTx/>
                <a:uFillTx/>
                <a:latin typeface="微软雅黑"/>
                <a:ea typeface="微软雅黑"/>
                <a:cs typeface="+mn-ea"/>
                <a:sym typeface="+mn-lt"/>
              </a:endParaRPr>
            </a:p>
          </p:txBody>
        </p:sp>
        <p:sp>
          <p:nvSpPr>
            <p:cNvPr id="13" name="图形">
              <a:extLst>
                <a:ext uri="{FF2B5EF4-FFF2-40B4-BE49-F238E27FC236}">
                  <a16:creationId xmlns:a16="http://schemas.microsoft.com/office/drawing/2014/main" id="{A92CB937-5F12-7491-9544-3EF4D92BADB9}"/>
                </a:ext>
              </a:extLst>
            </p:cNvPr>
            <p:cNvSpPr/>
            <p:nvPr>
              <p:custDataLst>
                <p:tags r:id="rId3"/>
              </p:custDataLst>
            </p:nvPr>
          </p:nvSpPr>
          <p:spPr>
            <a:xfrm>
              <a:off x="4404" y="7256"/>
              <a:ext cx="2528" cy="650"/>
            </a:xfrm>
            <a:prstGeom prst="parallelogram">
              <a:avLst/>
            </a:prstGeom>
            <a:noFill/>
            <a:ln w="25400">
              <a:solidFill>
                <a:schemeClr val="bg1"/>
              </a:solidFill>
            </a:ln>
            <a:effectLst>
              <a:outerShdw blurRad="247650" dist="53492" dir="5400000" algn="ctr" rotWithShape="0">
                <a:srgbClr val="007E3F">
                  <a:alpha val="20000"/>
                </a:srgbClr>
              </a:outerShdw>
            </a:effectLst>
            <a:extLst>
              <a:ext uri="{909E8E84-426E-40DD-AFC4-6F175D3DCCD1}">
                <a14:hiddenFill xmlns:a14="http://schemas.microsoft.com/office/drawing/2010/main">
                  <a:gradFill flip="none" rotWithShape="1">
                    <a:gsLst>
                      <a:gs pos="0">
                        <a:srgbClr val="0266F1"/>
                      </a:gs>
                      <a:gs pos="100000">
                        <a:srgbClr val="04EEFF"/>
                      </a:gs>
                    </a:gsLst>
                    <a:lin ang="13500000" scaled="1"/>
                    <a:tileRect/>
                  </a:gra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96286" tIns="48143" rIns="96286" bIns="48143"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95" b="0" i="0" u="none" strike="noStrike" kern="1200" cap="none" spc="0" normalizeH="0" baseline="0" noProof="0">
                <a:ln>
                  <a:noFill/>
                </a:ln>
                <a:solidFill>
                  <a:prstClr val="white"/>
                </a:solidFill>
                <a:effectLst/>
                <a:uLnTx/>
                <a:uFillTx/>
                <a:latin typeface="微软雅黑"/>
                <a:ea typeface="微软雅黑"/>
                <a:cs typeface="+mn-ea"/>
                <a:sym typeface="+mn-lt"/>
              </a:endParaRPr>
            </a:p>
          </p:txBody>
        </p:sp>
        <p:sp>
          <p:nvSpPr>
            <p:cNvPr id="14" name="图形">
              <a:extLst>
                <a:ext uri="{FF2B5EF4-FFF2-40B4-BE49-F238E27FC236}">
                  <a16:creationId xmlns:a16="http://schemas.microsoft.com/office/drawing/2014/main" id="{A92D3A53-A2C2-D257-3CF6-415C110C3FD3}"/>
                </a:ext>
              </a:extLst>
            </p:cNvPr>
            <p:cNvSpPr txBox="1"/>
            <p:nvPr/>
          </p:nvSpPr>
          <p:spPr>
            <a:xfrm>
              <a:off x="1588" y="7329"/>
              <a:ext cx="2320" cy="48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FFFFFF"/>
                  </a:solidFill>
                  <a:effectLst/>
                  <a:uLnTx/>
                  <a:uFillTx/>
                  <a:latin typeface="微软雅黑"/>
                  <a:ea typeface="微软雅黑"/>
                  <a:cs typeface="+mn-ea"/>
                  <a:sym typeface="+mn-lt"/>
                </a:rPr>
                <a:t>汇报小组</a:t>
              </a:r>
            </a:p>
          </p:txBody>
        </p:sp>
        <p:sp>
          <p:nvSpPr>
            <p:cNvPr id="16" name="图形">
              <a:extLst>
                <a:ext uri="{FF2B5EF4-FFF2-40B4-BE49-F238E27FC236}">
                  <a16:creationId xmlns:a16="http://schemas.microsoft.com/office/drawing/2014/main" id="{3A565326-6E7B-AB0F-2C65-E3BD570F62F4}"/>
                </a:ext>
              </a:extLst>
            </p:cNvPr>
            <p:cNvSpPr txBox="1"/>
            <p:nvPr/>
          </p:nvSpPr>
          <p:spPr>
            <a:xfrm>
              <a:off x="4508" y="7320"/>
              <a:ext cx="2320" cy="48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gradFill>
                    <a:gsLst>
                      <a:gs pos="41000">
                        <a:srgbClr val="FFFFFF"/>
                      </a:gs>
                      <a:gs pos="92000">
                        <a:srgbClr val="75BAF9"/>
                      </a:gs>
                    </a:gsLst>
                    <a:lin ang="5400000" scaled="0"/>
                  </a:gradFill>
                  <a:effectLst/>
                  <a:uLnTx/>
                  <a:uFillTx/>
                  <a:latin typeface="微软雅黑"/>
                  <a:ea typeface="微软雅黑"/>
                  <a:cs typeface="+mn-ea"/>
                  <a:sym typeface="+mn-lt"/>
                </a:rPr>
                <a:t>第四组</a:t>
              </a:r>
            </a:p>
          </p:txBody>
        </p:sp>
      </p:grpSp>
      <p:grpSp>
        <p:nvGrpSpPr>
          <p:cNvPr id="36" name="图形">
            <a:extLst>
              <a:ext uri="{FF2B5EF4-FFF2-40B4-BE49-F238E27FC236}">
                <a16:creationId xmlns:a16="http://schemas.microsoft.com/office/drawing/2014/main" id="{A394C17D-F736-3139-E0B0-1CB47F2527BA}"/>
              </a:ext>
            </a:extLst>
          </p:cNvPr>
          <p:cNvGrpSpPr/>
          <p:nvPr/>
        </p:nvGrpSpPr>
        <p:grpSpPr>
          <a:xfrm>
            <a:off x="1008380" y="6420485"/>
            <a:ext cx="10398760" cy="78105"/>
            <a:chOff x="2151" y="9388"/>
            <a:chExt cx="15996" cy="120"/>
          </a:xfrm>
        </p:grpSpPr>
        <p:sp>
          <p:nvSpPr>
            <p:cNvPr id="17" name="图形">
              <a:extLst>
                <a:ext uri="{FF2B5EF4-FFF2-40B4-BE49-F238E27FC236}">
                  <a16:creationId xmlns:a16="http://schemas.microsoft.com/office/drawing/2014/main" id="{8E1B9039-E4A4-5ED1-31C0-79EFBB3FCA3C}"/>
                </a:ext>
              </a:extLst>
            </p:cNvPr>
            <p:cNvSpPr/>
            <p:nvPr/>
          </p:nvSpPr>
          <p:spPr>
            <a:xfrm flipH="1">
              <a:off x="6120"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lumMod val="75000"/>
                    <a:lumOff val="25000"/>
                  </a:srgbClr>
                </a:solidFill>
                <a:effectLst/>
                <a:uLnTx/>
                <a:uFillTx/>
                <a:latin typeface="微软雅黑"/>
                <a:ea typeface="微软雅黑"/>
                <a:cs typeface="+mn-ea"/>
                <a:sym typeface="+mn-lt"/>
              </a:endParaRPr>
            </a:p>
          </p:txBody>
        </p:sp>
        <p:sp>
          <p:nvSpPr>
            <p:cNvPr id="18" name="图形">
              <a:extLst>
                <a:ext uri="{FF2B5EF4-FFF2-40B4-BE49-F238E27FC236}">
                  <a16:creationId xmlns:a16="http://schemas.microsoft.com/office/drawing/2014/main" id="{03F43249-86A9-D5AA-73C4-B9606AC2E3EF}"/>
                </a:ext>
              </a:extLst>
            </p:cNvPr>
            <p:cNvSpPr/>
            <p:nvPr/>
          </p:nvSpPr>
          <p:spPr>
            <a:xfrm flipH="1">
              <a:off x="7443"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lumMod val="75000"/>
                    <a:lumOff val="25000"/>
                  </a:srgbClr>
                </a:solidFill>
                <a:effectLst/>
                <a:uLnTx/>
                <a:uFillTx/>
                <a:latin typeface="微软雅黑"/>
                <a:ea typeface="微软雅黑"/>
                <a:cs typeface="+mn-ea"/>
                <a:sym typeface="+mn-lt"/>
              </a:endParaRPr>
            </a:p>
          </p:txBody>
        </p:sp>
        <p:sp>
          <p:nvSpPr>
            <p:cNvPr id="19" name="图形">
              <a:extLst>
                <a:ext uri="{FF2B5EF4-FFF2-40B4-BE49-F238E27FC236}">
                  <a16:creationId xmlns:a16="http://schemas.microsoft.com/office/drawing/2014/main" id="{A1D2BDF8-8D73-CAD4-8FB6-2CFC6F5815AA}"/>
                </a:ext>
              </a:extLst>
            </p:cNvPr>
            <p:cNvSpPr/>
            <p:nvPr/>
          </p:nvSpPr>
          <p:spPr>
            <a:xfrm flipH="1">
              <a:off x="8766"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lumMod val="75000"/>
                    <a:lumOff val="25000"/>
                  </a:srgbClr>
                </a:solidFill>
                <a:effectLst/>
                <a:uLnTx/>
                <a:uFillTx/>
                <a:latin typeface="微软雅黑"/>
                <a:ea typeface="微软雅黑"/>
                <a:cs typeface="+mn-ea"/>
                <a:sym typeface="+mn-lt"/>
              </a:endParaRPr>
            </a:p>
          </p:txBody>
        </p:sp>
        <p:sp>
          <p:nvSpPr>
            <p:cNvPr id="20" name="图形">
              <a:extLst>
                <a:ext uri="{FF2B5EF4-FFF2-40B4-BE49-F238E27FC236}">
                  <a16:creationId xmlns:a16="http://schemas.microsoft.com/office/drawing/2014/main" id="{D6BD2464-4FAE-FFF8-6930-71DDE1CE4CBA}"/>
                </a:ext>
              </a:extLst>
            </p:cNvPr>
            <p:cNvSpPr/>
            <p:nvPr/>
          </p:nvSpPr>
          <p:spPr>
            <a:xfrm flipH="1">
              <a:off x="10089"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lumMod val="75000"/>
                    <a:lumOff val="25000"/>
                  </a:srgbClr>
                </a:solidFill>
                <a:effectLst/>
                <a:uLnTx/>
                <a:uFillTx/>
                <a:latin typeface="微软雅黑"/>
                <a:ea typeface="微软雅黑"/>
                <a:cs typeface="+mn-ea"/>
                <a:sym typeface="+mn-lt"/>
              </a:endParaRPr>
            </a:p>
          </p:txBody>
        </p:sp>
        <p:sp>
          <p:nvSpPr>
            <p:cNvPr id="21" name="图形">
              <a:extLst>
                <a:ext uri="{FF2B5EF4-FFF2-40B4-BE49-F238E27FC236}">
                  <a16:creationId xmlns:a16="http://schemas.microsoft.com/office/drawing/2014/main" id="{BDF45640-6183-75A7-A2DE-237300E97911}"/>
                </a:ext>
              </a:extLst>
            </p:cNvPr>
            <p:cNvSpPr/>
            <p:nvPr/>
          </p:nvSpPr>
          <p:spPr>
            <a:xfrm flipH="1">
              <a:off x="11412"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lumMod val="75000"/>
                    <a:lumOff val="25000"/>
                  </a:srgbClr>
                </a:solidFill>
                <a:effectLst/>
                <a:uLnTx/>
                <a:uFillTx/>
                <a:latin typeface="微软雅黑"/>
                <a:ea typeface="微软雅黑"/>
                <a:cs typeface="+mn-ea"/>
                <a:sym typeface="+mn-lt"/>
              </a:endParaRPr>
            </a:p>
          </p:txBody>
        </p:sp>
        <p:sp>
          <p:nvSpPr>
            <p:cNvPr id="7" name="图形">
              <a:extLst>
                <a:ext uri="{FF2B5EF4-FFF2-40B4-BE49-F238E27FC236}">
                  <a16:creationId xmlns:a16="http://schemas.microsoft.com/office/drawing/2014/main" id="{AFB64BC5-E3D1-3973-032C-5BB97575C739}"/>
                </a:ext>
              </a:extLst>
            </p:cNvPr>
            <p:cNvSpPr/>
            <p:nvPr/>
          </p:nvSpPr>
          <p:spPr>
            <a:xfrm flipH="1">
              <a:off x="12735"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lumMod val="75000"/>
                    <a:lumOff val="25000"/>
                  </a:srgbClr>
                </a:solidFill>
                <a:effectLst/>
                <a:uLnTx/>
                <a:uFillTx/>
                <a:latin typeface="微软雅黑"/>
                <a:ea typeface="微软雅黑"/>
                <a:cs typeface="+mn-ea"/>
                <a:sym typeface="+mn-lt"/>
              </a:endParaRPr>
            </a:p>
          </p:txBody>
        </p:sp>
        <p:sp>
          <p:nvSpPr>
            <p:cNvPr id="8" name="图形">
              <a:extLst>
                <a:ext uri="{FF2B5EF4-FFF2-40B4-BE49-F238E27FC236}">
                  <a16:creationId xmlns:a16="http://schemas.microsoft.com/office/drawing/2014/main" id="{D12F765A-D6A6-654C-0B6E-B96CDD64D353}"/>
                </a:ext>
              </a:extLst>
            </p:cNvPr>
            <p:cNvSpPr/>
            <p:nvPr/>
          </p:nvSpPr>
          <p:spPr>
            <a:xfrm flipH="1">
              <a:off x="14058"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lumMod val="75000"/>
                    <a:lumOff val="25000"/>
                  </a:srgbClr>
                </a:solidFill>
                <a:effectLst/>
                <a:uLnTx/>
                <a:uFillTx/>
                <a:latin typeface="微软雅黑"/>
                <a:ea typeface="微软雅黑"/>
                <a:cs typeface="+mn-ea"/>
                <a:sym typeface="+mn-lt"/>
              </a:endParaRPr>
            </a:p>
          </p:txBody>
        </p:sp>
        <p:sp>
          <p:nvSpPr>
            <p:cNvPr id="9" name="图形">
              <a:extLst>
                <a:ext uri="{FF2B5EF4-FFF2-40B4-BE49-F238E27FC236}">
                  <a16:creationId xmlns:a16="http://schemas.microsoft.com/office/drawing/2014/main" id="{39221D2C-C44F-E729-52FA-C2142F4FE1BD}"/>
                </a:ext>
              </a:extLst>
            </p:cNvPr>
            <p:cNvSpPr/>
            <p:nvPr/>
          </p:nvSpPr>
          <p:spPr>
            <a:xfrm flipH="1">
              <a:off x="15381"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lumMod val="75000"/>
                    <a:lumOff val="25000"/>
                  </a:srgbClr>
                </a:solidFill>
                <a:effectLst/>
                <a:uLnTx/>
                <a:uFillTx/>
                <a:latin typeface="微软雅黑"/>
                <a:ea typeface="微软雅黑"/>
                <a:cs typeface="+mn-ea"/>
                <a:sym typeface="+mn-lt"/>
              </a:endParaRPr>
            </a:p>
          </p:txBody>
        </p:sp>
        <p:sp>
          <p:nvSpPr>
            <p:cNvPr id="15" name="图形">
              <a:extLst>
                <a:ext uri="{FF2B5EF4-FFF2-40B4-BE49-F238E27FC236}">
                  <a16:creationId xmlns:a16="http://schemas.microsoft.com/office/drawing/2014/main" id="{507625D4-29CC-7855-287D-E570FACF7851}"/>
                </a:ext>
              </a:extLst>
            </p:cNvPr>
            <p:cNvSpPr/>
            <p:nvPr/>
          </p:nvSpPr>
          <p:spPr>
            <a:xfrm flipH="1">
              <a:off x="16704"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lumMod val="75000"/>
                    <a:lumOff val="25000"/>
                  </a:srgbClr>
                </a:solidFill>
                <a:effectLst/>
                <a:uLnTx/>
                <a:uFillTx/>
                <a:latin typeface="微软雅黑"/>
                <a:ea typeface="微软雅黑"/>
                <a:cs typeface="+mn-ea"/>
                <a:sym typeface="+mn-lt"/>
              </a:endParaRPr>
            </a:p>
          </p:txBody>
        </p:sp>
        <p:sp>
          <p:nvSpPr>
            <p:cNvPr id="26" name="图形">
              <a:extLst>
                <a:ext uri="{FF2B5EF4-FFF2-40B4-BE49-F238E27FC236}">
                  <a16:creationId xmlns:a16="http://schemas.microsoft.com/office/drawing/2014/main" id="{37CF3CBD-B82B-516C-18FB-4948B028C1C9}"/>
                </a:ext>
              </a:extLst>
            </p:cNvPr>
            <p:cNvSpPr/>
            <p:nvPr/>
          </p:nvSpPr>
          <p:spPr>
            <a:xfrm flipH="1">
              <a:off x="18027"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lumMod val="75000"/>
                    <a:lumOff val="25000"/>
                  </a:srgbClr>
                </a:solidFill>
                <a:effectLst/>
                <a:uLnTx/>
                <a:uFillTx/>
                <a:latin typeface="微软雅黑"/>
                <a:ea typeface="微软雅黑"/>
                <a:cs typeface="+mn-ea"/>
                <a:sym typeface="+mn-lt"/>
              </a:endParaRPr>
            </a:p>
          </p:txBody>
        </p:sp>
        <p:sp>
          <p:nvSpPr>
            <p:cNvPr id="27" name="图形">
              <a:extLst>
                <a:ext uri="{FF2B5EF4-FFF2-40B4-BE49-F238E27FC236}">
                  <a16:creationId xmlns:a16="http://schemas.microsoft.com/office/drawing/2014/main" id="{40D07B7A-B157-4B26-D713-176F0F2553CF}"/>
                </a:ext>
              </a:extLst>
            </p:cNvPr>
            <p:cNvSpPr/>
            <p:nvPr/>
          </p:nvSpPr>
          <p:spPr>
            <a:xfrm flipH="1">
              <a:off x="2151"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lumMod val="75000"/>
                    <a:lumOff val="25000"/>
                  </a:srgbClr>
                </a:solidFill>
                <a:effectLst/>
                <a:uLnTx/>
                <a:uFillTx/>
                <a:latin typeface="微软雅黑"/>
                <a:ea typeface="微软雅黑"/>
                <a:cs typeface="+mn-ea"/>
                <a:sym typeface="+mn-lt"/>
              </a:endParaRPr>
            </a:p>
          </p:txBody>
        </p:sp>
        <p:sp>
          <p:nvSpPr>
            <p:cNvPr id="34" name="图形">
              <a:extLst>
                <a:ext uri="{FF2B5EF4-FFF2-40B4-BE49-F238E27FC236}">
                  <a16:creationId xmlns:a16="http://schemas.microsoft.com/office/drawing/2014/main" id="{8BCABD36-7AC3-C0A9-7DA6-6383D7A46738}"/>
                </a:ext>
              </a:extLst>
            </p:cNvPr>
            <p:cNvSpPr/>
            <p:nvPr/>
          </p:nvSpPr>
          <p:spPr>
            <a:xfrm flipH="1">
              <a:off x="3474"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lumMod val="75000"/>
                    <a:lumOff val="25000"/>
                  </a:srgbClr>
                </a:solidFill>
                <a:effectLst/>
                <a:uLnTx/>
                <a:uFillTx/>
                <a:latin typeface="微软雅黑"/>
                <a:ea typeface="微软雅黑"/>
                <a:cs typeface="+mn-ea"/>
                <a:sym typeface="+mn-lt"/>
              </a:endParaRPr>
            </a:p>
          </p:txBody>
        </p:sp>
        <p:sp>
          <p:nvSpPr>
            <p:cNvPr id="35" name="图形">
              <a:extLst>
                <a:ext uri="{FF2B5EF4-FFF2-40B4-BE49-F238E27FC236}">
                  <a16:creationId xmlns:a16="http://schemas.microsoft.com/office/drawing/2014/main" id="{DE958BF0-1EE1-0C6C-E562-2149BFAC1590}"/>
                </a:ext>
              </a:extLst>
            </p:cNvPr>
            <p:cNvSpPr/>
            <p:nvPr/>
          </p:nvSpPr>
          <p:spPr>
            <a:xfrm flipH="1">
              <a:off x="4797" y="9388"/>
              <a:ext cx="120" cy="120"/>
            </a:xfrm>
            <a:prstGeom prst="rect">
              <a:avLst/>
            </a:prstGeom>
            <a:no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lumMod val="75000"/>
                    <a:lumOff val="25000"/>
                  </a:srgbClr>
                </a:solidFill>
                <a:effectLst/>
                <a:uLnTx/>
                <a:uFillTx/>
                <a:latin typeface="微软雅黑"/>
                <a:ea typeface="微软雅黑"/>
                <a:cs typeface="+mn-ea"/>
                <a:sym typeface="+mn-lt"/>
              </a:endParaRPr>
            </a:p>
          </p:txBody>
        </p:sp>
      </p:grpSp>
      <p:grpSp>
        <p:nvGrpSpPr>
          <p:cNvPr id="100" name="图形">
            <a:extLst>
              <a:ext uri="{FF2B5EF4-FFF2-40B4-BE49-F238E27FC236}">
                <a16:creationId xmlns:a16="http://schemas.microsoft.com/office/drawing/2014/main" id="{61AF7452-66EA-D2E7-1C88-FA97305B2913}"/>
              </a:ext>
            </a:extLst>
          </p:cNvPr>
          <p:cNvGrpSpPr/>
          <p:nvPr/>
        </p:nvGrpSpPr>
        <p:grpSpPr>
          <a:xfrm>
            <a:off x="9035415" y="1247140"/>
            <a:ext cx="103505" cy="702945"/>
            <a:chOff x="9993678" y="6703078"/>
            <a:chExt cx="81180" cy="553128"/>
          </a:xfrm>
        </p:grpSpPr>
        <p:cxnSp>
          <p:nvCxnSpPr>
            <p:cNvPr id="101" name="图形">
              <a:extLst>
                <a:ext uri="{FF2B5EF4-FFF2-40B4-BE49-F238E27FC236}">
                  <a16:creationId xmlns:a16="http://schemas.microsoft.com/office/drawing/2014/main" id="{ECBE76DC-38E4-05A9-4C1B-4A416CB2A794}"/>
                </a:ext>
              </a:extLst>
            </p:cNvPr>
            <p:cNvCxnSpPr/>
            <p:nvPr/>
          </p:nvCxnSpPr>
          <p:spPr>
            <a:xfrm>
              <a:off x="10034268" y="6784258"/>
              <a:ext cx="0" cy="471948"/>
            </a:xfrm>
            <a:prstGeom prst="line">
              <a:avLst/>
            </a:prstGeom>
            <a:ln w="15875">
              <a:gradFill>
                <a:gsLst>
                  <a:gs pos="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02" name="图形">
              <a:extLst>
                <a:ext uri="{FF2B5EF4-FFF2-40B4-BE49-F238E27FC236}">
                  <a16:creationId xmlns:a16="http://schemas.microsoft.com/office/drawing/2014/main" id="{1665D157-5932-A57A-BCA8-047427EF169D}"/>
                </a:ext>
              </a:extLst>
            </p:cNvPr>
            <p:cNvSpPr/>
            <p:nvPr/>
          </p:nvSpPr>
          <p:spPr>
            <a:xfrm>
              <a:off x="9993678" y="6703078"/>
              <a:ext cx="81180" cy="81180"/>
            </a:xfrm>
            <a:prstGeom prst="ellipse">
              <a:avLst/>
            </a:prstGeom>
            <a:solidFill>
              <a:srgbClr val="75BAF9"/>
            </a:solidFill>
            <a:ln>
              <a:noFill/>
            </a:ln>
            <a:effectLst>
              <a:glow rad="203200">
                <a:schemeClr val="accent1">
                  <a:alpha val="28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微软雅黑"/>
                <a:ea typeface="微软雅黑"/>
                <a:cs typeface="+mn-ea"/>
                <a:sym typeface="+mn-lt"/>
              </a:endParaRPr>
            </a:p>
          </p:txBody>
        </p:sp>
      </p:grpSp>
      <p:grpSp>
        <p:nvGrpSpPr>
          <p:cNvPr id="106" name="图形">
            <a:extLst>
              <a:ext uri="{FF2B5EF4-FFF2-40B4-BE49-F238E27FC236}">
                <a16:creationId xmlns:a16="http://schemas.microsoft.com/office/drawing/2014/main" id="{50705CAA-9ABD-8730-9831-20DF4F2BD7CC}"/>
              </a:ext>
            </a:extLst>
          </p:cNvPr>
          <p:cNvGrpSpPr/>
          <p:nvPr/>
        </p:nvGrpSpPr>
        <p:grpSpPr>
          <a:xfrm>
            <a:off x="9863455" y="3782695"/>
            <a:ext cx="103505" cy="702945"/>
            <a:chOff x="9993678" y="6703078"/>
            <a:chExt cx="81180" cy="553128"/>
          </a:xfrm>
        </p:grpSpPr>
        <p:cxnSp>
          <p:nvCxnSpPr>
            <p:cNvPr id="107" name="图形">
              <a:extLst>
                <a:ext uri="{FF2B5EF4-FFF2-40B4-BE49-F238E27FC236}">
                  <a16:creationId xmlns:a16="http://schemas.microsoft.com/office/drawing/2014/main" id="{1E9EA430-0737-F6C6-8BB3-625E578F4155}"/>
                </a:ext>
              </a:extLst>
            </p:cNvPr>
            <p:cNvCxnSpPr/>
            <p:nvPr/>
          </p:nvCxnSpPr>
          <p:spPr>
            <a:xfrm>
              <a:off x="10034268" y="6784258"/>
              <a:ext cx="0" cy="471948"/>
            </a:xfrm>
            <a:prstGeom prst="line">
              <a:avLst/>
            </a:prstGeom>
            <a:ln w="15875">
              <a:gradFill>
                <a:gsLst>
                  <a:gs pos="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08" name="图形">
              <a:extLst>
                <a:ext uri="{FF2B5EF4-FFF2-40B4-BE49-F238E27FC236}">
                  <a16:creationId xmlns:a16="http://schemas.microsoft.com/office/drawing/2014/main" id="{0EEA419F-4516-2DC4-FAB5-BA1DF3C185CE}"/>
                </a:ext>
              </a:extLst>
            </p:cNvPr>
            <p:cNvSpPr/>
            <p:nvPr/>
          </p:nvSpPr>
          <p:spPr>
            <a:xfrm>
              <a:off x="9993678" y="6703078"/>
              <a:ext cx="81180" cy="81180"/>
            </a:xfrm>
            <a:prstGeom prst="ellipse">
              <a:avLst/>
            </a:prstGeom>
            <a:solidFill>
              <a:srgbClr val="75BAF9"/>
            </a:solidFill>
            <a:ln>
              <a:noFill/>
            </a:ln>
            <a:effectLst>
              <a:glow rad="203200">
                <a:schemeClr val="accent1">
                  <a:alpha val="28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微软雅黑"/>
                <a:ea typeface="微软雅黑"/>
                <a:cs typeface="+mn-ea"/>
                <a:sym typeface="+mn-lt"/>
              </a:endParaRPr>
            </a:p>
          </p:txBody>
        </p:sp>
      </p:grpSp>
    </p:spTree>
    <p:custDataLst>
      <p:tags r:id="rId1"/>
    </p:custDataLst>
    <p:extLst>
      <p:ext uri="{BB962C8B-B14F-4D97-AF65-F5344CB8AC3E}">
        <p14:creationId xmlns:p14="http://schemas.microsoft.com/office/powerpoint/2010/main" val="2130081333"/>
      </p:ext>
    </p:extLst>
  </p:cSld>
  <p:clrMapOvr>
    <a:masterClrMapping/>
  </p:clrMapOvr>
  <p:transition>
    <p:wedg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wipe(left)">
                                      <p:cBhvr>
                                        <p:cTn id="11" dur="500"/>
                                        <p:tgtEl>
                                          <p:spTgt spid="38"/>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39"/>
                                        </p:tgtEl>
                                        <p:attrNameLst>
                                          <p:attrName>style.visibility</p:attrName>
                                        </p:attrNameLst>
                                      </p:cBhvr>
                                      <p:to>
                                        <p:strVal val="visible"/>
                                      </p:to>
                                    </p:set>
                                    <p:animEffect transition="in" filter="wipe(left)">
                                      <p:cBhvr>
                                        <p:cTn id="15" dur="500"/>
                                        <p:tgtEl>
                                          <p:spTgt spid="39"/>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wipe(left)">
                                      <p:cBhvr>
                                        <p:cTn id="19" dur="500"/>
                                        <p:tgtEl>
                                          <p:spTgt spid="36"/>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100"/>
                                        </p:tgtEl>
                                        <p:attrNameLst>
                                          <p:attrName>style.visibility</p:attrName>
                                        </p:attrNameLst>
                                      </p:cBhvr>
                                      <p:to>
                                        <p:strVal val="visible"/>
                                      </p:to>
                                    </p:set>
                                    <p:animEffect transition="in" filter="wipe(left)">
                                      <p:cBhvr>
                                        <p:cTn id="23" dur="500"/>
                                        <p:tgtEl>
                                          <p:spTgt spid="100"/>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106"/>
                                        </p:tgtEl>
                                        <p:attrNameLst>
                                          <p:attrName>style.visibility</p:attrName>
                                        </p:attrNameLst>
                                      </p:cBhvr>
                                      <p:to>
                                        <p:strVal val="visible"/>
                                      </p:to>
                                    </p:set>
                                    <p:animEffect transition="in" filter="wipe(left)">
                                      <p:cBhvr>
                                        <p:cTn id="27" dur="500"/>
                                        <p:tgtEl>
                                          <p:spTgt spid="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xml><?xml version="1.0" encoding="utf-8"?>
<p:tagLst xmlns:a="http://schemas.openxmlformats.org/drawingml/2006/main" xmlns:r="http://schemas.openxmlformats.org/officeDocument/2006/relationships" xmlns:p="http://schemas.openxmlformats.org/presentationml/2006/main">
  <p:tag name="ADJUSTMENTS" val="25.83803"/>
  <p:tag name="SHADOWSIZE" val="100"/>
</p:tagLst>
</file>

<file path=ppt/tags/tag4.xml><?xml version="1.0" encoding="utf-8"?>
<p:tagLst xmlns:a="http://schemas.openxmlformats.org/drawingml/2006/main" xmlns:r="http://schemas.openxmlformats.org/officeDocument/2006/relationships" xmlns:p="http://schemas.openxmlformats.org/presentationml/2006/main">
  <p:tag name="ADJUSTMENTS" val="25.83803"/>
  <p:tag name="SHADOWSIZE" val="100"/>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5.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6.xml><?xml version="1.0" encoding="utf-8"?>
<p:tagLst xmlns:a="http://schemas.openxmlformats.org/drawingml/2006/main" xmlns:r="http://schemas.openxmlformats.org/officeDocument/2006/relationships" xmlns:p="http://schemas.openxmlformats.org/presentationml/2006/main">
  <p:tag name="ADJUSTMENTS" val="25.83803"/>
  <p:tag name="SHADOWSIZE" val="100"/>
</p:tagLst>
</file>

<file path=ppt/tags/tag17.xml><?xml version="1.0" encoding="utf-8"?>
<p:tagLst xmlns:a="http://schemas.openxmlformats.org/drawingml/2006/main" xmlns:r="http://schemas.openxmlformats.org/officeDocument/2006/relationships" xmlns:p="http://schemas.openxmlformats.org/presentationml/2006/main">
  <p:tag name="ADJUSTMENTS" val="25.83803"/>
  <p:tag name="SHADOWSIZE" val="100"/>
</p:tagLst>
</file>

<file path=ppt/theme/theme1.xml><?xml version="1.0" encoding="utf-8"?>
<a:theme xmlns:a="http://schemas.openxmlformats.org/drawingml/2006/main" name="www.2ppt.com提供免费下载">
  <a:themeElements>
    <a:clrScheme name="自定义 41">
      <a:dk1>
        <a:srgbClr val="000000"/>
      </a:dk1>
      <a:lt1>
        <a:srgbClr val="FFFFFF"/>
      </a:lt1>
      <a:dk2>
        <a:srgbClr val="0F1423"/>
      </a:dk2>
      <a:lt2>
        <a:srgbClr val="FFFFFF"/>
      </a:lt2>
      <a:accent1>
        <a:srgbClr val="0606B6"/>
      </a:accent1>
      <a:accent2>
        <a:srgbClr val="25CBFF"/>
      </a:accent2>
      <a:accent3>
        <a:srgbClr val="0606B6"/>
      </a:accent3>
      <a:accent4>
        <a:srgbClr val="25CBFF"/>
      </a:accent4>
      <a:accent5>
        <a:srgbClr val="0606B6"/>
      </a:accent5>
      <a:accent6>
        <a:srgbClr val="25CBFF"/>
      </a:accent6>
      <a:hlink>
        <a:srgbClr val="0606B6"/>
      </a:hlink>
      <a:folHlink>
        <a:srgbClr val="25CBFF"/>
      </a:folHlink>
    </a:clrScheme>
    <a:fontScheme name="rdkgeoap">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字魂58号-创中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字魂58号-创中黑"/>
        <a:ea typeface=""/>
        <a:cs typeface=""/>
        <a:font script="Jpan" typeface="ＭＳ Ｐゴシック"/>
        <a:font script="Hang" typeface="맑은 고딕"/>
        <a:font script="Hans" typeface="字魂58号-创中黑"/>
        <a:font script="Hant" typeface="新細明體"/>
        <a:font script="Arab" typeface="字魂58号-创中黑"/>
        <a:font script="Hebr" typeface="字魂58号-创中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字魂58号-创中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字魂58号-创中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字魂58号-创中黑"/>
        <a:ea typeface=""/>
        <a:cs typeface=""/>
        <a:font script="Jpan" typeface="ＭＳ Ｐゴシック"/>
        <a:font script="Hang" typeface="맑은 고딕"/>
        <a:font script="Hans" typeface="字魂58号-创中黑"/>
        <a:font script="Hant" typeface="新細明體"/>
        <a:font script="Arab" typeface="字魂58号-创中黑"/>
        <a:font script="Hebr" typeface="字魂58号-创中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字魂58号-创中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118</TotalTime>
  <Words>1081</Words>
  <Application>Microsoft Office PowerPoint</Application>
  <PresentationFormat>宽屏</PresentationFormat>
  <Paragraphs>205</Paragraphs>
  <Slides>25</Slides>
  <Notes>15</Notes>
  <HiddenSlides>0</HiddenSlides>
  <MMClips>0</MMClips>
  <ScaleCrop>false</ScaleCrop>
  <HeadingPairs>
    <vt:vector size="6" baseType="variant">
      <vt:variant>
        <vt:lpstr>已用的字体</vt:lpstr>
      </vt:variant>
      <vt:variant>
        <vt:i4>9</vt:i4>
      </vt:variant>
      <vt:variant>
        <vt:lpstr>主题</vt:lpstr>
      </vt:variant>
      <vt:variant>
        <vt:i4>3</vt:i4>
      </vt:variant>
      <vt:variant>
        <vt:lpstr>幻灯片标题</vt:lpstr>
      </vt:variant>
      <vt:variant>
        <vt:i4>25</vt:i4>
      </vt:variant>
    </vt:vector>
  </HeadingPairs>
  <TitlesOfParts>
    <vt:vector size="37" baseType="lpstr">
      <vt:lpstr>Liter</vt:lpstr>
      <vt:lpstr>MiSans</vt:lpstr>
      <vt:lpstr>等线</vt:lpstr>
      <vt:lpstr>黑体</vt:lpstr>
      <vt:lpstr>微软雅黑</vt:lpstr>
      <vt:lpstr>字魂58号-创中黑</vt:lpstr>
      <vt:lpstr>Arial</vt:lpstr>
      <vt:lpstr>Calibri</vt:lpstr>
      <vt:lpstr>Wingdings</vt:lpstr>
      <vt:lpstr>www.2ppt.com提供免费下载</vt:lpstr>
      <vt:lpstr>自定义设计方案</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www.2ppt.com-爱PPT提供资源下载</dc:title>
  <dc:subject>www.2ppt.com-爱PPT提供资源下载</dc:subject>
  <dc:creator>www.2ppt.com-爱PPT提供资源下载</dc:creator>
  <dc:description>www.2ppt.com-爱PPT提供资源下载</dc:description>
  <cp:lastModifiedBy>djfjcen</cp:lastModifiedBy>
  <cp:revision>12</cp:revision>
  <dcterms:created xsi:type="dcterms:W3CDTF">2022-04-25T00:59:09Z</dcterms:created>
  <dcterms:modified xsi:type="dcterms:W3CDTF">2026-06-12T03:42:26Z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2052-11.1.0.11636</vt:lpwstr>
  </property>
  <property fmtid="{D5CDD505-2E9C-101B-9397-08002B2CF9AE}" pid="3" name="KSOSaveFontToCloudKey">
    <vt:lpwstr>212913176_cloud</vt:lpwstr>
  </property>
  <property fmtid="{D5CDD505-2E9C-101B-9397-08002B2CF9AE}" pid="4" name="ICV">
    <vt:lpwstr>34A87A8623BA4D7C8FEEAA3B5DA9FDE1</vt:lpwstr>
  </property>
  <property fmtid="{D5CDD505-2E9C-101B-9397-08002B2CF9AE}" pid="5" name="commondata">
    <vt:lpwstr>eyJoZGlkIjoiZjA2NmIwMjRhMWY4Y2Q4MDk2NjAwMmUwMTA1ZDFlNjYifQ==</vt:lpwstr>
  </property>
  <property fmtid="{A09F084E-AD41-489F-8076-AA5BE3082BCA}" pid="100">
    <vt:ui4>5</vt:ui4>
  </property>
  <property fmtid="{64440492-4C8B-11D1-8B70-080036B11A03}" pid="11">
    <vt:lpwstr>www.2ppt.com-爱PPT提供资源下载</vt:lpwstr>
  </property>
</Properties>
</file>